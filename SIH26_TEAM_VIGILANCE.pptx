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300" r:id="rId2"/>
    <p:sldId id="301" r:id="rId3"/>
    <p:sldId id="257" r:id="rId4"/>
    <p:sldId id="258" r:id="rId5"/>
    <p:sldId id="259" r:id="rId6"/>
    <p:sldId id="256" r:id="rId7"/>
    <p:sldId id="299" r:id="rId8"/>
    <p:sldId id="302" r:id="rId15"/>
    <p:sldId id="303" r:id="rId16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6" d="100"/>
          <a:sy n="46" d="100"/>
        </p:scale>
        <p:origin x="43" y="66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microsoft.com/office/2016/11/relationships/changesInfo" Target="changesInfos/changesInfo1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ish Jain" userId="830b26ebf093da50" providerId="LiveId" clId="{8DC1E187-E42A-4D57-BC2F-E1F33D2FFACD}"/>
    <pc:docChg chg="custSel modSld">
      <pc:chgData name="Harish Jain" userId="830b26ebf093da50" providerId="LiveId" clId="{8DC1E187-E42A-4D57-BC2F-E1F33D2FFACD}" dt="2026-09-21T13:02:30.452" v="2" actId="14100"/>
      <pc:docMkLst>
        <pc:docMk/>
      </pc:docMkLst>
      <pc:sldChg chg="modSp mod">
        <pc:chgData name="Harish Jain" userId="830b26ebf093da50" providerId="LiveId" clId="{8DC1E187-E42A-4D57-BC2F-E1F33D2FFACD}" dt="2026-09-21T13:02:30.452" v="2" actId="14100"/>
        <pc:sldMkLst>
          <pc:docMk/>
          <pc:sldMk cId="0" sldId="300"/>
        </pc:sldMkLst>
        <pc:spChg chg="mod">
          <ac:chgData name="Harish Jain" userId="830b26ebf093da50" providerId="LiveId" clId="{8DC1E187-E42A-4D57-BC2F-E1F33D2FFACD}" dt="2026-09-21T13:02:30.452" v="2" actId="14100"/>
          <ac:spMkLst>
            <pc:docMk/>
            <pc:sldMk cId="0" sldId="300"/>
            <ac:spMk id="7" creationId="{B362492D-1B0E-2756-EED0-715870AAAEB8}"/>
          </ac:spMkLst>
        </pc:spChg>
      </pc:sldChg>
      <pc:sldChg chg="addSp delSp mod">
        <pc:chgData name="Harish Jain" userId="830b26ebf093da50" providerId="LiveId" clId="{8DC1E187-E42A-4D57-BC2F-E1F33D2FFACD}" dt="2026-09-21T12:56:08.497" v="1" actId="478"/>
        <pc:sldMkLst>
          <pc:docMk/>
          <pc:sldMk cId="0" sldId="301"/>
        </pc:sldMkLst>
        <pc:picChg chg="add del">
          <ac:chgData name="Harish Jain" userId="830b26ebf093da50" providerId="LiveId" clId="{8DC1E187-E42A-4D57-BC2F-E1F33D2FFACD}" dt="2026-09-21T12:56:08.497" v="1" actId="478"/>
          <ac:picMkLst>
            <pc:docMk/>
            <pc:sldMk cId="0" sldId="301"/>
            <ac:picMk id="111" creationId="{31CF0E7A-544D-45D5-4472-94256E74F739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Editable recreation of the Vigilance Research &amp; References slide. All visible text, row boxes, title, footer, and design-basis elements are editable PowerPoint objects. The SIH 2026 logo is retained as an image element.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876371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Relationship Id="rId11" Type="http://schemas.openxmlformats.org/officeDocument/2006/relationships/image" Target="../media/image12.png"/><Relationship Id="rId12" Type="http://schemas.openxmlformats.org/officeDocument/2006/relationships/image" Target="../media/image13.png"/><Relationship Id="rId13" Type="http://schemas.openxmlformats.org/officeDocument/2006/relationships/image" Target="../media/image14.png"/><Relationship Id="rId14" Type="http://schemas.openxmlformats.org/officeDocument/2006/relationships/image" Target="../media/image15.png"/><Relationship Id="rId15" Type="http://schemas.openxmlformats.org/officeDocument/2006/relationships/image" Target="../media/image16.png"/><Relationship Id="rId16" Type="http://schemas.openxmlformats.org/officeDocument/2006/relationships/image" Target="../media/image17.png"/><Relationship Id="rId17" Type="http://schemas.openxmlformats.org/officeDocument/2006/relationships/image" Target="../media/image18.png"/><Relationship Id="rId18" Type="http://schemas.openxmlformats.org/officeDocument/2006/relationships/image" Target="../media/image19.png"/><Relationship Id="rId19" Type="http://schemas.openxmlformats.org/officeDocument/2006/relationships/image" Target="../media/image20.png"/><Relationship Id="rId20" Type="http://schemas.openxmlformats.org/officeDocument/2006/relationships/image" Target="../media/image21.png"/><Relationship Id="rId21" Type="http://schemas.openxmlformats.org/officeDocument/2006/relationships/image" Target="../media/image22.png"/><Relationship Id="rId22" Type="http://schemas.openxmlformats.org/officeDocument/2006/relationships/image" Target="../media/image23.png"/><Relationship Id="rId23" Type="http://schemas.openxmlformats.org/officeDocument/2006/relationships/image" Target="../media/image24.png"/><Relationship Id="rId24" Type="http://schemas.openxmlformats.org/officeDocument/2006/relationships/image" Target="../media/image2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6.png"/><Relationship Id="rId4" Type="http://schemas.openxmlformats.org/officeDocument/2006/relationships/image" Target="../media/image5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Relationship Id="rId8" Type="http://schemas.openxmlformats.org/officeDocument/2006/relationships/image" Target="../media/image30.png"/><Relationship Id="rId9" Type="http://schemas.openxmlformats.org/officeDocument/2006/relationships/image" Target="../media/image31.png"/><Relationship Id="rId10" Type="http://schemas.openxmlformats.org/officeDocument/2006/relationships/image" Target="../media/image32.png"/><Relationship Id="rId11" Type="http://schemas.openxmlformats.org/officeDocument/2006/relationships/image" Target="../media/image33.png"/><Relationship Id="rId12" Type="http://schemas.openxmlformats.org/officeDocument/2006/relationships/image" Target="../media/image34.png"/><Relationship Id="rId13" Type="http://schemas.openxmlformats.org/officeDocument/2006/relationships/image" Target="../media/image35.png"/><Relationship Id="rId14" Type="http://schemas.openxmlformats.org/officeDocument/2006/relationships/image" Target="../media/image36.png"/><Relationship Id="rId15" Type="http://schemas.openxmlformats.org/officeDocument/2006/relationships/image" Target="../media/image37.png"/><Relationship Id="rId16" Type="http://schemas.openxmlformats.org/officeDocument/2006/relationships/image" Target="../media/image38.png"/><Relationship Id="rId17" Type="http://schemas.openxmlformats.org/officeDocument/2006/relationships/image" Target="../media/image39.png"/><Relationship Id="rId18" Type="http://schemas.openxmlformats.org/officeDocument/2006/relationships/image" Target="../media/image40.png"/><Relationship Id="rId19" Type="http://schemas.openxmlformats.org/officeDocument/2006/relationships/image" Target="../media/image4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45.png"/><Relationship Id="rId7" Type="http://schemas.openxmlformats.org/officeDocument/2006/relationships/image" Target="../media/image46.png"/><Relationship Id="rId8" Type="http://schemas.openxmlformats.org/officeDocument/2006/relationships/image" Target="../media/image47.png"/><Relationship Id="rId9" Type="http://schemas.openxmlformats.org/officeDocument/2006/relationships/image" Target="../media/image48.png"/><Relationship Id="rId10" Type="http://schemas.openxmlformats.org/officeDocument/2006/relationships/image" Target="../media/image49.png"/><Relationship Id="rId11" Type="http://schemas.openxmlformats.org/officeDocument/2006/relationships/image" Target="../media/image50.png"/><Relationship Id="rId12" Type="http://schemas.openxmlformats.org/officeDocument/2006/relationships/image" Target="../media/image51.png"/><Relationship Id="rId13" Type="http://schemas.openxmlformats.org/officeDocument/2006/relationships/image" Target="../media/image52.png"/><Relationship Id="rId14" Type="http://schemas.openxmlformats.org/officeDocument/2006/relationships/image" Target="../media/image53.png"/><Relationship Id="rId15" Type="http://schemas.openxmlformats.org/officeDocument/2006/relationships/image" Target="../media/image54.png"/><Relationship Id="rId16" Type="http://schemas.openxmlformats.org/officeDocument/2006/relationships/image" Target="../media/image55.png"/><Relationship Id="rId17" Type="http://schemas.openxmlformats.org/officeDocument/2006/relationships/image" Target="../media/image56.png"/><Relationship Id="rId18" Type="http://schemas.openxmlformats.org/officeDocument/2006/relationships/image" Target="../media/image57.png"/><Relationship Id="rId19" Type="http://schemas.openxmlformats.org/officeDocument/2006/relationships/image" Target="../media/image58.png"/><Relationship Id="rId20" Type="http://schemas.openxmlformats.org/officeDocument/2006/relationships/image" Target="../media/image59.png"/><Relationship Id="rId21" Type="http://schemas.openxmlformats.org/officeDocument/2006/relationships/image" Target="../media/image60.png"/><Relationship Id="rId22" Type="http://schemas.openxmlformats.org/officeDocument/2006/relationships/image" Target="../media/image61.png"/><Relationship Id="rId23" Type="http://schemas.openxmlformats.org/officeDocument/2006/relationships/image" Target="../media/image62.png"/><Relationship Id="rId24" Type="http://schemas.openxmlformats.org/officeDocument/2006/relationships/image" Target="../media/image63.png"/><Relationship Id="rId25" Type="http://schemas.openxmlformats.org/officeDocument/2006/relationships/image" Target="../media/image64.png"/><Relationship Id="rId26" Type="http://schemas.openxmlformats.org/officeDocument/2006/relationships/image" Target="../media/image65.png"/><Relationship Id="rId27" Type="http://schemas.openxmlformats.org/officeDocument/2006/relationships/image" Target="../media/image6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7.png"/><Relationship Id="rId4" Type="http://schemas.openxmlformats.org/officeDocument/2006/relationships/image" Target="../media/image68.png"/><Relationship Id="rId5" Type="http://schemas.openxmlformats.org/officeDocument/2006/relationships/image" Target="../media/image69.png"/><Relationship Id="rId6" Type="http://schemas.openxmlformats.org/officeDocument/2006/relationships/image" Target="../media/image70.png"/><Relationship Id="rId7" Type="http://schemas.openxmlformats.org/officeDocument/2006/relationships/image" Target="../media/image71.png"/><Relationship Id="rId8" Type="http://schemas.openxmlformats.org/officeDocument/2006/relationships/image" Target="../media/image72.png"/><Relationship Id="rId9" Type="http://schemas.openxmlformats.org/officeDocument/2006/relationships/image" Target="../media/image62.png"/><Relationship Id="rId10" Type="http://schemas.openxmlformats.org/officeDocument/2006/relationships/image" Target="../media/image63.png"/><Relationship Id="rId11" Type="http://schemas.openxmlformats.org/officeDocument/2006/relationships/image" Target="../media/image73.png"/><Relationship Id="rId12" Type="http://schemas.openxmlformats.org/officeDocument/2006/relationships/image" Target="../media/image74.png"/><Relationship Id="rId13" Type="http://schemas.openxmlformats.org/officeDocument/2006/relationships/image" Target="../media/image75.png"/><Relationship Id="rId14" Type="http://schemas.openxmlformats.org/officeDocument/2006/relationships/image" Target="../media/image76.png"/><Relationship Id="rId15" Type="http://schemas.openxmlformats.org/officeDocument/2006/relationships/image" Target="../media/image77.png"/><Relationship Id="rId16" Type="http://schemas.openxmlformats.org/officeDocument/2006/relationships/image" Target="../media/image78.png"/><Relationship Id="rId17" Type="http://schemas.openxmlformats.org/officeDocument/2006/relationships/image" Target="../media/image79.png"/><Relationship Id="rId18" Type="http://schemas.openxmlformats.org/officeDocument/2006/relationships/image" Target="../media/image80.png"/><Relationship Id="rId19" Type="http://schemas.openxmlformats.org/officeDocument/2006/relationships/image" Target="../media/image81.png"/><Relationship Id="rId20" Type="http://schemas.openxmlformats.org/officeDocument/2006/relationships/image" Target="../media/image82.png"/><Relationship Id="rId21" Type="http://schemas.openxmlformats.org/officeDocument/2006/relationships/image" Target="../media/image83.png"/><Relationship Id="rId22" Type="http://schemas.openxmlformats.org/officeDocument/2006/relationships/image" Target="../media/image84.png"/><Relationship Id="rId23" Type="http://schemas.openxmlformats.org/officeDocument/2006/relationships/image" Target="../media/image85.png"/><Relationship Id="rId24" Type="http://schemas.openxmlformats.org/officeDocument/2006/relationships/image" Target="../media/image8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hyperlink" Target="https://sih.gov.in/sih2026PS" TargetMode="External"/><Relationship Id="rId5" Type="http://schemas.openxmlformats.org/officeDocument/2006/relationships/hyperlink" Target="https://doi.org/10.1002/gdj3.260" TargetMode="External"/><Relationship Id="rId6" Type="http://schemas.openxmlformats.org/officeDocument/2006/relationships/hyperlink" Target="https://docs.ultralytics.com/" TargetMode="External"/><Relationship Id="rId7" Type="http://schemas.openxmlformats.org/officeDocument/2006/relationships/hyperlink" Target="https://postgis.net/documentation/" TargetMode="External"/><Relationship Id="rId8" Type="http://schemas.openxmlformats.org/officeDocument/2006/relationships/hyperlink" Target="https://www.ogc.org/standards/ogcapi-features/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8988491" y="1335209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349631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VIGILANCE 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12287" y="1376142"/>
            <a:ext cx="6096000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SIH26124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IN" b="1" dirty="0"/>
              <a:t>AI-Powered Mobile Urban Intelligence Platform Using Public Transport Fleet</a:t>
            </a:r>
            <a:br>
              <a:rPr lang="en-IN" b="1" dirty="0"/>
            </a:b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Theme - </a:t>
            </a:r>
            <a:r>
              <a:rPr lang="en-IN" b="1" dirty="0"/>
              <a:t>Smart Automation</a:t>
            </a:r>
            <a:br>
              <a:rPr lang="en-IN" dirty="0"/>
            </a:b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PS Category - Software</a:t>
            </a:r>
            <a:b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CCE8BB3-0557-5712-999E-4D88A097A4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7514" y="3962400"/>
            <a:ext cx="8042726" cy="287583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E60DE77-667D-0E78-B5A4-ABD7E814357F}"/>
              </a:ext>
            </a:extLst>
          </p:cNvPr>
          <p:cNvSpPr txBox="1"/>
          <p:nvPr/>
        </p:nvSpPr>
        <p:spPr>
          <a:xfrm>
            <a:off x="4598486" y="369087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TEAM MEMBERS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62492D-1B0E-2756-EED0-715870AAAEB8}"/>
              </a:ext>
            </a:extLst>
          </p:cNvPr>
          <p:cNvSpPr txBox="1"/>
          <p:nvPr/>
        </p:nvSpPr>
        <p:spPr>
          <a:xfrm>
            <a:off x="11608886" y="881108"/>
            <a:ext cx="529099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IN" sz="100" b="1" dirty="0">
                <a:solidFill>
                  <a:schemeClr val="bg1"/>
                </a:solidFill>
              </a:rPr>
              <a:t>Project and problem statement</a:t>
            </a:r>
            <a:br>
              <a:rPr lang="en-IN" sz="100" dirty="0">
                <a:solidFill>
                  <a:schemeClr val="bg1"/>
                </a:solidFill>
              </a:rPr>
            </a:br>
            <a:r>
              <a:rPr lang="en-IN" sz="100" dirty="0">
                <a:solidFill>
                  <a:schemeClr val="bg1"/>
                </a:solidFill>
              </a:rPr>
              <a:t>Smart India Hackathon 2026 (SIH), Team Vigilance, SIH26124, AI-Powered Mobile Urban Intelligence Platform, Public Transport Fleet, Smart Automation, Software category, Urban Intelligence, Smart City</a:t>
            </a:r>
          </a:p>
          <a:p>
            <a:pPr rtl="0">
              <a:buNone/>
            </a:pPr>
            <a:r>
              <a:rPr lang="en-IN" sz="100" b="1" dirty="0">
                <a:solidFill>
                  <a:schemeClr val="bg1"/>
                </a:solidFill>
              </a:rPr>
              <a:t>Core concepts</a:t>
            </a:r>
            <a:br>
              <a:rPr lang="en-IN" sz="100" dirty="0">
                <a:solidFill>
                  <a:schemeClr val="bg1"/>
                </a:solidFill>
              </a:rPr>
            </a:br>
            <a:r>
              <a:rPr lang="en-IN" sz="100" dirty="0">
                <a:solidFill>
                  <a:schemeClr val="bg1"/>
                </a:solidFill>
              </a:rPr>
              <a:t>Edge-AI, Real-Time Detection, Road Anomaly Detection, Spatial Repair Prioritization, Proactive Maintenance, Predictive/Preventive Maintenance, Mobile Road Inspection, Road-Condition Map, Repair Priority Index (RPI)</a:t>
            </a:r>
          </a:p>
          <a:p>
            <a:pPr rtl="0">
              <a:buNone/>
            </a:pPr>
            <a:r>
              <a:rPr lang="en-IN" sz="100" b="1" dirty="0">
                <a:solidFill>
                  <a:schemeClr val="bg1"/>
                </a:solidFill>
              </a:rPr>
              <a:t>Detection targets</a:t>
            </a:r>
            <a:br>
              <a:rPr lang="en-IN" sz="100" dirty="0">
                <a:solidFill>
                  <a:schemeClr val="bg1"/>
                </a:solidFill>
              </a:rPr>
            </a:br>
            <a:r>
              <a:rPr lang="en-IN" sz="100" dirty="0">
                <a:solidFill>
                  <a:schemeClr val="bg1"/>
                </a:solidFill>
              </a:rPr>
              <a:t>Potholes, cracks, ravelling, damaged manholes, garbage overflow, missing dividers, zebra crossings, damaged signs, waterlogging, traffic conditions, pedestrian detection (school children crossing), vehicle detection/counting, vehicle density estimation, traffic bottlenecks, hit-and-run, rash driving</a:t>
            </a:r>
          </a:p>
          <a:p>
            <a:pPr rtl="0">
              <a:buNone/>
            </a:pPr>
            <a:r>
              <a:rPr lang="en-IN" sz="100" b="1" dirty="0">
                <a:solidFill>
                  <a:schemeClr val="bg1"/>
                </a:solidFill>
              </a:rPr>
              <a:t>AI and computer vision</a:t>
            </a:r>
            <a:br>
              <a:rPr lang="en-IN" sz="100" dirty="0">
                <a:solidFill>
                  <a:schemeClr val="bg1"/>
                </a:solidFill>
              </a:rPr>
            </a:br>
            <a:r>
              <a:rPr lang="en-IN" sz="100" dirty="0">
                <a:solidFill>
                  <a:schemeClr val="bg1"/>
                </a:solidFill>
              </a:rPr>
              <a:t>Computer Vision, YOLOv8-Nano, YOLOv11-Nano, </a:t>
            </a:r>
            <a:r>
              <a:rPr lang="en-IN" sz="100" dirty="0" err="1">
                <a:solidFill>
                  <a:schemeClr val="bg1"/>
                </a:solidFill>
              </a:rPr>
              <a:t>Ultralytics</a:t>
            </a:r>
            <a:r>
              <a:rPr lang="en-IN" sz="100" dirty="0">
                <a:solidFill>
                  <a:schemeClr val="bg1"/>
                </a:solidFill>
              </a:rPr>
              <a:t> YOLO, ONNX Runtime, </a:t>
            </a:r>
            <a:r>
              <a:rPr lang="en-IN" sz="100" dirty="0" err="1">
                <a:solidFill>
                  <a:schemeClr val="bg1"/>
                </a:solidFill>
              </a:rPr>
              <a:t>PyTorch</a:t>
            </a:r>
            <a:r>
              <a:rPr lang="en-IN" sz="100" dirty="0">
                <a:solidFill>
                  <a:schemeClr val="bg1"/>
                </a:solidFill>
              </a:rPr>
              <a:t>, OpenCV, Python, ANPR (Automatic Number Plate Recognition), confidence score, model validation, periodic retraining, data augmentation, night/wet-road augmentation, image enhancement</a:t>
            </a:r>
          </a:p>
          <a:p>
            <a:pPr rtl="0">
              <a:buNone/>
            </a:pPr>
            <a:r>
              <a:rPr lang="en-IN" sz="100" b="1" dirty="0">
                <a:solidFill>
                  <a:schemeClr val="bg1"/>
                </a:solidFill>
              </a:rPr>
              <a:t>Data and geospatial</a:t>
            </a:r>
            <a:br>
              <a:rPr lang="en-IN" sz="100" dirty="0">
                <a:solidFill>
                  <a:schemeClr val="bg1"/>
                </a:solidFill>
              </a:rPr>
            </a:br>
            <a:r>
              <a:rPr lang="en-IN" sz="100" dirty="0">
                <a:solidFill>
                  <a:schemeClr val="bg1"/>
                </a:solidFill>
              </a:rPr>
              <a:t>GPS, geotagging, timestamp, severity, DBSCAN, spatial clustering, spatial deduplication (15 m), PostgreSQL, </a:t>
            </a:r>
            <a:r>
              <a:rPr lang="en-IN" sz="100" dirty="0" err="1">
                <a:solidFill>
                  <a:schemeClr val="bg1"/>
                </a:solidFill>
              </a:rPr>
              <a:t>PostGIS</a:t>
            </a:r>
            <a:r>
              <a:rPr lang="en-IN" sz="100" dirty="0">
                <a:solidFill>
                  <a:schemeClr val="bg1"/>
                </a:solidFill>
              </a:rPr>
              <a:t>, GIS Dashboard, OGC API – Features, telemetry, data aggregation</a:t>
            </a:r>
          </a:p>
          <a:p>
            <a:pPr rtl="0">
              <a:buNone/>
            </a:pPr>
            <a:r>
              <a:rPr lang="en-IN" sz="100" b="1" dirty="0">
                <a:solidFill>
                  <a:schemeClr val="bg1"/>
                </a:solidFill>
              </a:rPr>
              <a:t>Backend, frontend and connectivity</a:t>
            </a:r>
            <a:br>
              <a:rPr lang="en-IN" sz="100" dirty="0">
                <a:solidFill>
                  <a:schemeClr val="bg1"/>
                </a:solidFill>
              </a:rPr>
            </a:br>
            <a:r>
              <a:rPr lang="en-IN" sz="100" dirty="0" err="1">
                <a:solidFill>
                  <a:schemeClr val="bg1"/>
                </a:solidFill>
              </a:rPr>
              <a:t>FastAPI</a:t>
            </a:r>
            <a:r>
              <a:rPr lang="en-IN" sz="100" dirty="0">
                <a:solidFill>
                  <a:schemeClr val="bg1"/>
                </a:solidFill>
              </a:rPr>
              <a:t>, </a:t>
            </a:r>
            <a:r>
              <a:rPr lang="en-IN" sz="100" dirty="0" err="1">
                <a:solidFill>
                  <a:schemeClr val="bg1"/>
                </a:solidFill>
              </a:rPr>
              <a:t>WebSockets</a:t>
            </a:r>
            <a:r>
              <a:rPr lang="en-IN" sz="100" dirty="0">
                <a:solidFill>
                  <a:schemeClr val="bg1"/>
                </a:solidFill>
              </a:rPr>
              <a:t>, React, Next.js, Leaflet.js, </a:t>
            </a:r>
            <a:r>
              <a:rPr lang="en-IN" sz="100" dirty="0" err="1">
                <a:solidFill>
                  <a:schemeClr val="bg1"/>
                </a:solidFill>
              </a:rPr>
              <a:t>Mapbox</a:t>
            </a:r>
            <a:r>
              <a:rPr lang="en-IN" sz="100" dirty="0">
                <a:solidFill>
                  <a:schemeClr val="bg1"/>
                </a:solidFill>
              </a:rPr>
              <a:t>, Flutter, React Native, PWA, MQTT, SQLite (offline caching), lightweight sync, secure transmission, offline operation, low connectivity</a:t>
            </a:r>
          </a:p>
          <a:p>
            <a:pPr rtl="0">
              <a:buNone/>
            </a:pPr>
            <a:r>
              <a:rPr lang="en-IN" sz="100" b="1" dirty="0">
                <a:solidFill>
                  <a:schemeClr val="bg1"/>
                </a:solidFill>
              </a:rPr>
              <a:t>Analytics outputs</a:t>
            </a:r>
            <a:br>
              <a:rPr lang="en-IN" sz="100" dirty="0">
                <a:solidFill>
                  <a:schemeClr val="bg1"/>
                </a:solidFill>
              </a:rPr>
            </a:br>
            <a:r>
              <a:rPr lang="en-IN" sz="100" dirty="0">
                <a:solidFill>
                  <a:schemeClr val="bg1"/>
                </a:solidFill>
              </a:rPr>
              <a:t>Congestion Heat Maps, OD (Origin–Destination) Analysis, Route Delay Estimation, mobility insights, traffic hotspots</a:t>
            </a:r>
          </a:p>
          <a:p>
            <a:pPr rtl="0">
              <a:buNone/>
            </a:pPr>
            <a:r>
              <a:rPr lang="en-IN" sz="100" b="1" dirty="0">
                <a:solidFill>
                  <a:schemeClr val="bg1"/>
                </a:solidFill>
              </a:rPr>
              <a:t>Architecture</a:t>
            </a:r>
            <a:br>
              <a:rPr lang="en-IN" sz="100" dirty="0">
                <a:solidFill>
                  <a:schemeClr val="bg1"/>
                </a:solidFill>
              </a:rPr>
            </a:br>
            <a:r>
              <a:rPr lang="en-IN" sz="100" dirty="0">
                <a:solidFill>
                  <a:schemeClr val="bg1"/>
                </a:solidFill>
              </a:rPr>
              <a:t>Onboard Layer (Edge), Centralized Layer (Cloud), multi-camera capture (front, rear, left, right, cabin), event classification, incident extraction, central command system</a:t>
            </a:r>
          </a:p>
          <a:p>
            <a:pPr rtl="0">
              <a:buNone/>
            </a:pPr>
            <a:r>
              <a:rPr lang="en-IN" sz="100" b="1" dirty="0">
                <a:solidFill>
                  <a:schemeClr val="bg1"/>
                </a:solidFill>
              </a:rPr>
              <a:t>Challenges and mitigation</a:t>
            </a:r>
            <a:br>
              <a:rPr lang="en-IN" sz="100" dirty="0">
                <a:solidFill>
                  <a:schemeClr val="bg1"/>
                </a:solidFill>
              </a:rPr>
            </a:br>
            <a:r>
              <a:rPr lang="en-IN" sz="100" dirty="0">
                <a:solidFill>
                  <a:schemeClr val="bg1"/>
                </a:solidFill>
              </a:rPr>
              <a:t>Data limitations, lighting/weather variation, environmental factors, connectivity issues, duplicate detections, false positives, vibration-based frame gating (accelerometer), robust preprocessing, efficient data sync, continuous model validation</a:t>
            </a:r>
          </a:p>
          <a:p>
            <a:pPr rtl="0">
              <a:buNone/>
            </a:pPr>
            <a:r>
              <a:rPr lang="en-IN" sz="100" b="1" dirty="0">
                <a:solidFill>
                  <a:schemeClr val="bg1"/>
                </a:solidFill>
              </a:rPr>
              <a:t>Datasets and references</a:t>
            </a:r>
            <a:br>
              <a:rPr lang="en-IN" sz="100" dirty="0">
                <a:solidFill>
                  <a:schemeClr val="bg1"/>
                </a:solidFill>
              </a:rPr>
            </a:br>
            <a:r>
              <a:rPr lang="en-IN" sz="100" dirty="0">
                <a:solidFill>
                  <a:schemeClr val="bg1"/>
                </a:solidFill>
              </a:rPr>
              <a:t>RDD2022 (Arya et al.), CRDDC2022, </a:t>
            </a:r>
            <a:r>
              <a:rPr lang="en-IN" sz="100" dirty="0" err="1">
                <a:solidFill>
                  <a:schemeClr val="bg1"/>
                </a:solidFill>
              </a:rPr>
              <a:t>PostGIS</a:t>
            </a:r>
            <a:r>
              <a:rPr lang="en-IN" sz="100" dirty="0">
                <a:solidFill>
                  <a:schemeClr val="bg1"/>
                </a:solidFill>
              </a:rPr>
              <a:t> documentation, OGC standards</a:t>
            </a:r>
          </a:p>
          <a:p>
            <a:pPr rtl="0">
              <a:buNone/>
            </a:pPr>
            <a:r>
              <a:rPr lang="en-IN" sz="100" b="1" dirty="0">
                <a:solidFill>
                  <a:schemeClr val="bg1"/>
                </a:solidFill>
              </a:rPr>
              <a:t>Impact</a:t>
            </a:r>
            <a:br>
              <a:rPr lang="en-IN" sz="100" dirty="0">
                <a:solidFill>
                  <a:schemeClr val="bg1"/>
                </a:solidFill>
              </a:rPr>
            </a:br>
            <a:r>
              <a:rPr lang="en-IN" sz="100" dirty="0">
                <a:solidFill>
                  <a:schemeClr val="bg1"/>
                </a:solidFill>
              </a:rPr>
              <a:t>Safer roads/cities, two-wheeler safety, faster response, lower inspection costs, cost efficiency, data-driven planning, prioritized repairs, inclusive mobility, sustainable maintenance, reduced carbon emissions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3294" y="122464"/>
            <a:ext cx="1563597" cy="64293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7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Vigilance</a:t>
            </a:r>
            <a:endParaRPr lang="en-US" sz="1770" dirty="0"/>
          </a:p>
        </p:txBody>
      </p:sp>
      <p:sp>
        <p:nvSpPr>
          <p:cNvPr id="3" name="Text 1"/>
          <p:cNvSpPr txBox="1"/>
          <p:nvPr/>
        </p:nvSpPr>
        <p:spPr>
          <a:xfrm>
            <a:off x="1553378" y="204107"/>
            <a:ext cx="8175671" cy="408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58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IDEA TITLE</a:t>
            </a:r>
            <a:endParaRPr lang="en-US" sz="3058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5636" y="30616"/>
            <a:ext cx="2125674" cy="96950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554897" y="673554"/>
            <a:ext cx="7766888" cy="653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1" b="1" dirty="0">
                <a:solidFill>
                  <a:srgbClr val="1B3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Mobile Urban Intelligence Platform</a:t>
            </a:r>
            <a:endParaRPr lang="en-US" sz="1851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851" b="1" dirty="0">
                <a:solidFill>
                  <a:srgbClr val="1B3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Public Transport Fleet</a:t>
            </a:r>
            <a:endParaRPr lang="en-US" sz="1851" dirty="0"/>
          </a:p>
        </p:txBody>
      </p:sp>
      <p:sp>
        <p:nvSpPr>
          <p:cNvPr id="6" name="Text 3"/>
          <p:cNvSpPr txBox="1"/>
          <p:nvPr/>
        </p:nvSpPr>
        <p:spPr>
          <a:xfrm>
            <a:off x="224831" y="1296080"/>
            <a:ext cx="4496619" cy="265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90" b="1" dirty="0">
                <a:solidFill>
                  <a:srgbClr val="1B3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❖  Proposed Solution — Core Idea &amp; Workflow</a:t>
            </a:r>
            <a:endParaRPr lang="en-US" sz="1690" dirty="0"/>
          </a:p>
        </p:txBody>
      </p:sp>
      <p:sp>
        <p:nvSpPr>
          <p:cNvPr id="7" name="Shape 4"/>
          <p:cNvSpPr/>
          <p:nvPr/>
        </p:nvSpPr>
        <p:spPr>
          <a:xfrm>
            <a:off x="153294" y="1561420"/>
            <a:ext cx="4292227" cy="0"/>
          </a:xfrm>
          <a:prstGeom prst="line">
            <a:avLst/>
          </a:prstGeom>
          <a:noFill/>
          <a:ln w="19050">
            <a:solidFill>
              <a:srgbClr val="1B3A9E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224831" y="1673679"/>
            <a:ext cx="531419" cy="530679"/>
          </a:xfrm>
          <a:prstGeom prst="ellipse">
            <a:avLst/>
          </a:prstGeom>
          <a:solidFill>
            <a:srgbClr val="DCEBFB"/>
          </a:solidFill>
          <a:ln w="19050">
            <a:solidFill>
              <a:srgbClr val="1E6FD9"/>
            </a:solidFill>
            <a:prstDash val="solid"/>
          </a:ln>
        </p:spPr>
        <p:txBody>
          <a:bodyPr/>
          <a:p/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686" y="1806348"/>
            <a:ext cx="265709" cy="265339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89104" y="1683884"/>
            <a:ext cx="3576856" cy="816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46" b="1" dirty="0">
                <a:solidFill>
                  <a:srgbClr val="1B3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Multi-Camera Detection:</a:t>
            </a:r>
            <a:endParaRPr lang="en-US" sz="1046" dirty="0"/>
          </a:p>
          <a:p>
            <a:pPr marL="0" indent="0" algn="l">
              <a:buNone/>
            </a:pPr>
            <a:r>
              <a:rPr lang="en-US" sz="1046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Multi-camera streams (front, rear, sides, cabin) with AI detecting potholes, cracks, garbage, overflow, missing dividers, zebra crossings, damaged signs, waterlogging, and traffic conditions.</a:t>
            </a:r>
            <a:endParaRPr lang="en-US" sz="1046" dirty="0"/>
          </a:p>
        </p:txBody>
      </p:sp>
      <p:sp>
        <p:nvSpPr>
          <p:cNvPr id="11" name="Shape 7"/>
          <p:cNvSpPr/>
          <p:nvPr/>
        </p:nvSpPr>
        <p:spPr>
          <a:xfrm>
            <a:off x="224831" y="2561545"/>
            <a:ext cx="531419" cy="530679"/>
          </a:xfrm>
          <a:prstGeom prst="ellipse">
            <a:avLst/>
          </a:prstGeom>
          <a:solidFill>
            <a:srgbClr val="E3F4E5"/>
          </a:solidFill>
          <a:ln w="19050">
            <a:solidFill>
              <a:srgbClr val="2E9E3B"/>
            </a:solidFill>
            <a:prstDash val="solid"/>
          </a:ln>
        </p:spPr>
        <p:txBody>
          <a:bodyPr/>
          <a:p/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686" y="2694214"/>
            <a:ext cx="265709" cy="265339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89104" y="2673804"/>
            <a:ext cx="3576856" cy="408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46" b="1" dirty="0">
                <a:solidFill>
                  <a:srgbClr val="1B3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Geotagging:</a:t>
            </a:r>
            <a:r>
              <a:rPr lang="en-US" sz="1046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Each event tagged with GPS location, timestamp, severity, confidence score and vehicle details.</a:t>
            </a:r>
            <a:endParaRPr lang="en-US" sz="1046" dirty="0"/>
          </a:p>
        </p:txBody>
      </p:sp>
      <p:sp>
        <p:nvSpPr>
          <p:cNvPr id="14" name="Shape 9"/>
          <p:cNvSpPr/>
          <p:nvPr/>
        </p:nvSpPr>
        <p:spPr>
          <a:xfrm>
            <a:off x="224831" y="3204482"/>
            <a:ext cx="531419" cy="530679"/>
          </a:xfrm>
          <a:prstGeom prst="ellipse">
            <a:avLst/>
          </a:prstGeom>
          <a:solidFill>
            <a:srgbClr val="EADFF5"/>
          </a:solidFill>
          <a:ln w="19050">
            <a:solidFill>
              <a:srgbClr val="6B3FA0"/>
            </a:solidFill>
            <a:prstDash val="solid"/>
          </a:ln>
        </p:spPr>
        <p:txBody>
          <a:bodyPr/>
          <a:p/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7686" y="3337152"/>
            <a:ext cx="265709" cy="265339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889104" y="3337152"/>
            <a:ext cx="3576856" cy="408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46" b="1" dirty="0">
                <a:solidFill>
                  <a:srgbClr val="1B3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Duplicate-Free Mapping:</a:t>
            </a:r>
            <a:r>
              <a:rPr lang="en-US" sz="1046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Spatial clustering merges repeated detections into one verified urban issue (DBSCAN).</a:t>
            </a:r>
            <a:endParaRPr lang="en-US" sz="1046" dirty="0"/>
          </a:p>
        </p:txBody>
      </p:sp>
      <p:sp>
        <p:nvSpPr>
          <p:cNvPr id="17" name="Shape 11"/>
          <p:cNvSpPr/>
          <p:nvPr/>
        </p:nvSpPr>
        <p:spPr>
          <a:xfrm>
            <a:off x="224831" y="3796393"/>
            <a:ext cx="531419" cy="530679"/>
          </a:xfrm>
          <a:prstGeom prst="ellipse">
            <a:avLst/>
          </a:prstGeom>
          <a:solidFill>
            <a:srgbClr val="FDE9D5"/>
          </a:solidFill>
          <a:ln w="19050">
            <a:solidFill>
              <a:srgbClr val="F07A1A"/>
            </a:solidFill>
            <a:prstDash val="solid"/>
          </a:ln>
        </p:spPr>
        <p:txBody>
          <a:bodyPr/>
          <a:p/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7686" y="3929063"/>
            <a:ext cx="265709" cy="265339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889104" y="3929063"/>
            <a:ext cx="3576856" cy="408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46" b="1" dirty="0">
                <a:solidFill>
                  <a:srgbClr val="1B3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Priority-Based Repair:</a:t>
            </a:r>
            <a:r>
              <a:rPr lang="en-US" sz="1046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Priority Index (RPI) for road defects, infrastructure issues, and safety incidents.</a:t>
            </a:r>
            <a:endParaRPr lang="en-US" sz="1046" dirty="0"/>
          </a:p>
        </p:txBody>
      </p:sp>
      <p:sp>
        <p:nvSpPr>
          <p:cNvPr id="20" name="Shape 13"/>
          <p:cNvSpPr/>
          <p:nvPr/>
        </p:nvSpPr>
        <p:spPr>
          <a:xfrm>
            <a:off x="224831" y="4510768"/>
            <a:ext cx="531419" cy="530679"/>
          </a:xfrm>
          <a:prstGeom prst="ellipse">
            <a:avLst/>
          </a:prstGeom>
          <a:solidFill>
            <a:srgbClr val="D9F3EF"/>
          </a:solidFill>
          <a:ln w="19050">
            <a:solidFill>
              <a:srgbClr val="1AA79A"/>
            </a:solidFill>
            <a:prstDash val="solid"/>
          </a:ln>
        </p:spPr>
        <p:txBody>
          <a:bodyPr/>
          <a:p/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7686" y="4643438"/>
            <a:ext cx="265709" cy="265339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889104" y="4541384"/>
            <a:ext cx="3576856" cy="510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46" b="1" dirty="0">
                <a:solidFill>
                  <a:srgbClr val="1B3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&amp; Connected:</a:t>
            </a:r>
            <a:r>
              <a:rPr lang="en-US" sz="1046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Offline &amp; low-cost operation with secure alert sharing to central command system via lightweight sync (MQTT).</a:t>
            </a:r>
            <a:endParaRPr lang="en-US" sz="1046" dirty="0"/>
          </a:p>
        </p:txBody>
      </p:sp>
      <p:sp>
        <p:nvSpPr>
          <p:cNvPr id="23" name="Shape 15"/>
          <p:cNvSpPr/>
          <p:nvPr/>
        </p:nvSpPr>
        <p:spPr>
          <a:xfrm>
            <a:off x="132855" y="5184321"/>
            <a:ext cx="4169592" cy="653143"/>
          </a:xfrm>
          <a:prstGeom prst="roundRect">
            <a:avLst>
              <a:gd name="adj" fmla="val 12517"/>
            </a:avLst>
          </a:prstGeom>
          <a:solidFill>
            <a:srgbClr val="F4F8FF"/>
          </a:solidFill>
          <a:ln w="15875">
            <a:solidFill>
              <a:srgbClr val="3B6FD6"/>
            </a:solidFill>
            <a:prstDash val="solid"/>
          </a:ln>
        </p:spPr>
        <p:txBody>
          <a:bodyPr/>
          <a:p/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6807" y="5357813"/>
            <a:ext cx="306588" cy="306161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838006" y="5255759"/>
            <a:ext cx="3423562" cy="530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6" b="1" dirty="0">
                <a:solidFill>
                  <a:srgbClr val="1B3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Innovation:</a:t>
            </a:r>
            <a:r>
              <a:rPr lang="en-US" sz="1006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Combines computer vision, vehicle analytics, geospatial intelligence and real-time communication for a safer, smarter and more efficient urban transport ecosystem.</a:t>
            </a:r>
            <a:endParaRPr lang="en-US" sz="1006" dirty="0"/>
          </a:p>
        </p:txBody>
      </p:sp>
      <p:sp>
        <p:nvSpPr>
          <p:cNvPr id="26" name="Shape 17"/>
          <p:cNvSpPr/>
          <p:nvPr/>
        </p:nvSpPr>
        <p:spPr>
          <a:xfrm>
            <a:off x="4476180" y="1530804"/>
            <a:ext cx="7634033" cy="2510518"/>
          </a:xfrm>
          <a:prstGeom prst="roundRect">
            <a:avLst>
              <a:gd name="adj" fmla="val 3257"/>
            </a:avLst>
          </a:prstGeom>
          <a:solidFill>
            <a:srgbClr val="EAF3FD"/>
          </a:solidFill>
          <a:ln w="15875">
            <a:solidFill>
              <a:srgbClr val="4A90E2"/>
            </a:solidFill>
            <a:prstDash val="solid"/>
          </a:ln>
        </p:spPr>
        <p:txBody>
          <a:bodyPr/>
          <a:p/>
        </p:txBody>
      </p:sp>
      <p:sp>
        <p:nvSpPr>
          <p:cNvPr id="27" name="Shape 18"/>
          <p:cNvSpPr/>
          <p:nvPr/>
        </p:nvSpPr>
        <p:spPr>
          <a:xfrm>
            <a:off x="4476180" y="1530804"/>
            <a:ext cx="3934542" cy="255134"/>
          </a:xfrm>
          <a:prstGeom prst="roundRect">
            <a:avLst>
              <a:gd name="adj" fmla="val 32045"/>
            </a:avLst>
          </a:prstGeom>
          <a:solidFill>
            <a:srgbClr val="2F6FDB"/>
          </a:solidFill>
          <a:ln/>
        </p:spPr>
        <p:txBody>
          <a:bodyPr/>
          <a:p/>
        </p:txBody>
      </p:sp>
      <p:sp>
        <p:nvSpPr>
          <p:cNvPr id="28" name="Text 19"/>
          <p:cNvSpPr txBox="1"/>
          <p:nvPr/>
        </p:nvSpPr>
        <p:spPr>
          <a:xfrm>
            <a:off x="4557937" y="1530804"/>
            <a:ext cx="3832346" cy="255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LAYER (EDGE) — REAL-TIME PROCESSING ON BUS</a:t>
            </a:r>
            <a:endParaRPr lang="en-US" sz="1006" dirty="0"/>
          </a:p>
        </p:txBody>
      </p:sp>
      <p:sp>
        <p:nvSpPr>
          <p:cNvPr id="29" name="Shape 20"/>
          <p:cNvSpPr/>
          <p:nvPr/>
        </p:nvSpPr>
        <p:spPr>
          <a:xfrm>
            <a:off x="4527278" y="1836964"/>
            <a:ext cx="1635134" cy="2163536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B9D3F2"/>
            </a:solidFill>
            <a:prstDash val="solid"/>
          </a:ln>
        </p:spPr>
        <p:txBody>
          <a:bodyPr/>
          <a:p/>
        </p:txBody>
      </p:sp>
      <p:sp>
        <p:nvSpPr>
          <p:cNvPr id="30" name="Shape 21"/>
          <p:cNvSpPr/>
          <p:nvPr/>
        </p:nvSpPr>
        <p:spPr>
          <a:xfrm>
            <a:off x="6233949" y="1836964"/>
            <a:ext cx="1553378" cy="2163536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B9D3F2"/>
            </a:solidFill>
            <a:prstDash val="solid"/>
          </a:ln>
        </p:spPr>
        <p:txBody>
          <a:bodyPr/>
          <a:p/>
        </p:txBody>
      </p:sp>
      <p:sp>
        <p:nvSpPr>
          <p:cNvPr id="31" name="Shape 22"/>
          <p:cNvSpPr/>
          <p:nvPr/>
        </p:nvSpPr>
        <p:spPr>
          <a:xfrm>
            <a:off x="7869083" y="1836964"/>
            <a:ext cx="1359205" cy="2163536"/>
          </a:xfrm>
          <a:prstGeom prst="roundRect">
            <a:avLst>
              <a:gd name="adj" fmla="val 4511"/>
            </a:avLst>
          </a:prstGeom>
          <a:solidFill>
            <a:srgbClr val="FFFFFF"/>
          </a:solidFill>
          <a:ln w="12700">
            <a:solidFill>
              <a:srgbClr val="B9D3F2"/>
            </a:solidFill>
            <a:prstDash val="solid"/>
          </a:ln>
        </p:spPr>
        <p:txBody>
          <a:bodyPr/>
          <a:p/>
        </p:txBody>
      </p:sp>
      <p:sp>
        <p:nvSpPr>
          <p:cNvPr id="32" name="Shape 23"/>
          <p:cNvSpPr/>
          <p:nvPr/>
        </p:nvSpPr>
        <p:spPr>
          <a:xfrm>
            <a:off x="9299826" y="1836964"/>
            <a:ext cx="1328547" cy="2163536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B9D3F2"/>
            </a:solidFill>
            <a:prstDash val="solid"/>
          </a:ln>
        </p:spPr>
        <p:txBody>
          <a:bodyPr/>
          <a:p/>
        </p:txBody>
      </p:sp>
      <p:sp>
        <p:nvSpPr>
          <p:cNvPr id="33" name="Shape 24"/>
          <p:cNvSpPr/>
          <p:nvPr/>
        </p:nvSpPr>
        <p:spPr>
          <a:xfrm>
            <a:off x="10679470" y="1836964"/>
            <a:ext cx="1410303" cy="2163536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B9D3F2"/>
            </a:solidFill>
            <a:prstDash val="solid"/>
          </a:ln>
        </p:spPr>
        <p:txBody>
          <a:bodyPr/>
          <a:p/>
        </p:txBody>
      </p:sp>
      <p:sp>
        <p:nvSpPr>
          <p:cNvPr id="34" name="Text 25"/>
          <p:cNvSpPr/>
          <p:nvPr/>
        </p:nvSpPr>
        <p:spPr>
          <a:xfrm>
            <a:off x="4598815" y="1857375"/>
            <a:ext cx="224831" cy="224518"/>
          </a:xfrm>
          <a:prstGeom prst="ellipse">
            <a:avLst/>
          </a:prstGeom>
          <a:solidFill>
            <a:srgbClr val="1F4FB0"/>
          </a:solidFill>
          <a:ln>
            <a:solidFill>
              <a:srgbClr val="1F4FB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1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18" dirty="0"/>
          </a:p>
        </p:txBody>
      </p:sp>
      <p:sp>
        <p:nvSpPr>
          <p:cNvPr id="35" name="Text 26"/>
          <p:cNvSpPr/>
          <p:nvPr/>
        </p:nvSpPr>
        <p:spPr>
          <a:xfrm>
            <a:off x="6285047" y="1857375"/>
            <a:ext cx="224831" cy="224518"/>
          </a:xfrm>
          <a:prstGeom prst="ellipse">
            <a:avLst/>
          </a:prstGeom>
          <a:solidFill>
            <a:srgbClr val="1F4FB0"/>
          </a:solidFill>
          <a:ln>
            <a:solidFill>
              <a:srgbClr val="1F4FB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1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18" dirty="0"/>
          </a:p>
        </p:txBody>
      </p:sp>
      <p:sp>
        <p:nvSpPr>
          <p:cNvPr id="36" name="Text 27"/>
          <p:cNvSpPr/>
          <p:nvPr/>
        </p:nvSpPr>
        <p:spPr>
          <a:xfrm>
            <a:off x="7807766" y="1857375"/>
            <a:ext cx="224831" cy="224518"/>
          </a:xfrm>
          <a:prstGeom prst="ellipse">
            <a:avLst/>
          </a:prstGeom>
          <a:solidFill>
            <a:srgbClr val="1F4FB0"/>
          </a:solidFill>
          <a:ln>
            <a:solidFill>
              <a:srgbClr val="1F4FB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1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18" dirty="0"/>
          </a:p>
        </p:txBody>
      </p:sp>
      <p:sp>
        <p:nvSpPr>
          <p:cNvPr id="37" name="Text 28"/>
          <p:cNvSpPr/>
          <p:nvPr/>
        </p:nvSpPr>
        <p:spPr>
          <a:xfrm>
            <a:off x="9258948" y="1857375"/>
            <a:ext cx="224831" cy="224518"/>
          </a:xfrm>
          <a:prstGeom prst="ellipse">
            <a:avLst/>
          </a:prstGeom>
          <a:solidFill>
            <a:srgbClr val="1F4FB0"/>
          </a:solidFill>
          <a:ln>
            <a:solidFill>
              <a:srgbClr val="1F4FB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1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18" dirty="0"/>
          </a:p>
        </p:txBody>
      </p:sp>
      <p:sp>
        <p:nvSpPr>
          <p:cNvPr id="38" name="Text 29"/>
          <p:cNvSpPr/>
          <p:nvPr/>
        </p:nvSpPr>
        <p:spPr>
          <a:xfrm>
            <a:off x="10720349" y="1857375"/>
            <a:ext cx="224831" cy="224518"/>
          </a:xfrm>
          <a:prstGeom prst="ellipse">
            <a:avLst/>
          </a:prstGeom>
          <a:solidFill>
            <a:srgbClr val="1F4FB0"/>
          </a:solidFill>
          <a:ln>
            <a:solidFill>
              <a:srgbClr val="1F4FB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1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18" dirty="0"/>
          </a:p>
        </p:txBody>
      </p:sp>
      <p:sp>
        <p:nvSpPr>
          <p:cNvPr id="39" name="Text 30"/>
          <p:cNvSpPr txBox="1"/>
          <p:nvPr/>
        </p:nvSpPr>
        <p:spPr>
          <a:xfrm>
            <a:off x="4946281" y="1847170"/>
            <a:ext cx="1124155" cy="244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45" b="1" dirty="0">
                <a:solidFill>
                  <a:srgbClr val="1F3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MULTI-CAMERA</a:t>
            </a:r>
            <a:endParaRPr lang="en-US" sz="845" dirty="0"/>
          </a:p>
          <a:p>
            <a:pPr marL="0" indent="0" algn="l">
              <a:buNone/>
            </a:pPr>
            <a:r>
              <a:rPr lang="en-US" sz="845" b="1" dirty="0">
                <a:solidFill>
                  <a:srgbClr val="1F3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CAPTURE</a:t>
            </a:r>
            <a:endParaRPr lang="en-US" sz="845" dirty="0"/>
          </a:p>
        </p:txBody>
      </p:sp>
      <p:sp>
        <p:nvSpPr>
          <p:cNvPr id="40" name="Text 31"/>
          <p:cNvSpPr txBox="1"/>
          <p:nvPr/>
        </p:nvSpPr>
        <p:spPr>
          <a:xfrm>
            <a:off x="6560976" y="1887991"/>
            <a:ext cx="1175253" cy="163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45" b="1" dirty="0">
                <a:solidFill>
                  <a:srgbClr val="1F3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EDGE-AI INFERENCE</a:t>
            </a:r>
            <a:endParaRPr lang="en-US" sz="845" dirty="0"/>
          </a:p>
        </p:txBody>
      </p:sp>
      <p:sp>
        <p:nvSpPr>
          <p:cNvPr id="41" name="Text 32"/>
          <p:cNvSpPr txBox="1"/>
          <p:nvPr/>
        </p:nvSpPr>
        <p:spPr>
          <a:xfrm>
            <a:off x="8083695" y="1867580"/>
            <a:ext cx="1144594" cy="244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45" b="1" dirty="0">
                <a:solidFill>
                  <a:srgbClr val="1F3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CLASSIFICATION</a:t>
            </a:r>
            <a:endParaRPr lang="en-US" sz="845" dirty="0"/>
          </a:p>
          <a:p>
            <a:pPr marL="0" indent="0" algn="l">
              <a:buNone/>
            </a:pPr>
            <a:r>
              <a:rPr lang="en-US" sz="845" b="1" dirty="0">
                <a:solidFill>
                  <a:srgbClr val="1F3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GEO-TAGGING</a:t>
            </a:r>
            <a:endParaRPr lang="en-US" sz="845" dirty="0"/>
          </a:p>
        </p:txBody>
      </p:sp>
      <p:sp>
        <p:nvSpPr>
          <p:cNvPr id="42" name="Text 33"/>
          <p:cNvSpPr txBox="1"/>
          <p:nvPr/>
        </p:nvSpPr>
        <p:spPr>
          <a:xfrm>
            <a:off x="9565535" y="1867580"/>
            <a:ext cx="1021959" cy="244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45" b="1" dirty="0">
                <a:solidFill>
                  <a:srgbClr val="1F3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ANPR &amp; INCIDENT</a:t>
            </a:r>
            <a:endParaRPr lang="en-US" sz="845" dirty="0"/>
          </a:p>
          <a:p>
            <a:pPr marL="0" indent="0" algn="l">
              <a:buNone/>
            </a:pPr>
            <a:r>
              <a:rPr lang="en-US" sz="845" b="1" dirty="0">
                <a:solidFill>
                  <a:srgbClr val="1F3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845" dirty="0"/>
          </a:p>
        </p:txBody>
      </p:sp>
      <p:sp>
        <p:nvSpPr>
          <p:cNvPr id="43" name="Text 34"/>
          <p:cNvSpPr txBox="1"/>
          <p:nvPr/>
        </p:nvSpPr>
        <p:spPr>
          <a:xfrm>
            <a:off x="10996278" y="1887991"/>
            <a:ext cx="1083276" cy="163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45" b="1" dirty="0">
                <a:solidFill>
                  <a:srgbClr val="1F3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TRANSMISSION</a:t>
            </a:r>
            <a:endParaRPr lang="en-US" sz="845" dirty="0"/>
          </a:p>
        </p:txBody>
      </p:sp>
      <p:pic>
        <p:nvPicPr>
          <p:cNvPr id="44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68156" y="2143125"/>
            <a:ext cx="1481840" cy="1306286"/>
          </a:xfrm>
          <a:prstGeom prst="rect">
            <a:avLst/>
          </a:prstGeom>
        </p:spPr>
      </p:pic>
      <p:pic>
        <p:nvPicPr>
          <p:cNvPr id="45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69000" y="2071688"/>
            <a:ext cx="909543" cy="918482"/>
          </a:xfrm>
          <a:prstGeom prst="rect">
            <a:avLst/>
          </a:prstGeom>
        </p:spPr>
      </p:pic>
      <p:pic>
        <p:nvPicPr>
          <p:cNvPr id="46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01938" y="2224768"/>
            <a:ext cx="1052618" cy="836839"/>
          </a:xfrm>
          <a:prstGeom prst="rect">
            <a:avLst/>
          </a:prstGeom>
        </p:spPr>
      </p:pic>
      <p:pic>
        <p:nvPicPr>
          <p:cNvPr id="47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381583" y="2265589"/>
            <a:ext cx="1165033" cy="816429"/>
          </a:xfrm>
          <a:prstGeom prst="rect">
            <a:avLst/>
          </a:prstGeom>
        </p:spPr>
      </p:pic>
      <p:pic>
        <p:nvPicPr>
          <p:cNvPr id="48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986058" y="2163536"/>
            <a:ext cx="786908" cy="979714"/>
          </a:xfrm>
          <a:prstGeom prst="rect">
            <a:avLst/>
          </a:prstGeom>
        </p:spPr>
      </p:pic>
      <p:sp>
        <p:nvSpPr>
          <p:cNvPr id="49" name="Text 35"/>
          <p:cNvSpPr txBox="1"/>
          <p:nvPr/>
        </p:nvSpPr>
        <p:spPr>
          <a:xfrm>
            <a:off x="4568156" y="3531054"/>
            <a:ext cx="1512499" cy="469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25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Bus-mounted cameras (front, rear, sides, cabin) capture continuous video streams.</a:t>
            </a:r>
            <a:endParaRPr lang="en-US" sz="925" dirty="0"/>
          </a:p>
        </p:txBody>
      </p:sp>
      <p:sp>
        <p:nvSpPr>
          <p:cNvPr id="50" name="Text 36"/>
          <p:cNvSpPr txBox="1"/>
          <p:nvPr/>
        </p:nvSpPr>
        <p:spPr>
          <a:xfrm>
            <a:off x="6305486" y="3122839"/>
            <a:ext cx="1430742" cy="306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25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AI processes streams in real time:</a:t>
            </a:r>
            <a:endParaRPr lang="en-US" sz="925" dirty="0"/>
          </a:p>
        </p:txBody>
      </p:sp>
      <p:sp>
        <p:nvSpPr>
          <p:cNvPr id="51" name="Text 37"/>
          <p:cNvSpPr txBox="1"/>
          <p:nvPr/>
        </p:nvSpPr>
        <p:spPr>
          <a:xfrm>
            <a:off x="6305486" y="3418795"/>
            <a:ext cx="1451182" cy="61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 algn="l">
              <a:buSzPct val="100000"/>
              <a:buChar char="•"/>
            </a:pPr>
            <a:r>
              <a:rPr lang="en-US" sz="925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defect detection</a:t>
            </a:r>
            <a:endParaRPr lang="en-US" sz="925" dirty="0"/>
          </a:p>
          <a:p>
            <a:pPr marL="114300" indent="-114300" algn="l">
              <a:buSzPct val="100000"/>
              <a:buChar char="•"/>
            </a:pPr>
            <a:r>
              <a:rPr lang="en-US" sz="925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detection/counting</a:t>
            </a:r>
            <a:endParaRPr lang="en-US" sz="925" dirty="0"/>
          </a:p>
          <a:p>
            <a:pPr marL="114300" indent="-114300" algn="l">
              <a:buSzPct val="100000"/>
              <a:buChar char="•"/>
            </a:pPr>
            <a:r>
              <a:rPr lang="en-US" sz="925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Pedestrian detection</a:t>
            </a:r>
            <a:endParaRPr lang="en-US" sz="925" dirty="0"/>
          </a:p>
          <a:p>
            <a:pPr marL="114300" indent="-114300" algn="l">
              <a:buSzPct val="100000"/>
              <a:buChar char="•"/>
            </a:pPr>
            <a:r>
              <a:rPr lang="en-US" sz="925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detection</a:t>
            </a:r>
            <a:endParaRPr lang="en-US" sz="925" dirty="0"/>
          </a:p>
        </p:txBody>
      </p:sp>
      <p:sp>
        <p:nvSpPr>
          <p:cNvPr id="52" name="Text 38"/>
          <p:cNvSpPr txBox="1"/>
          <p:nvPr/>
        </p:nvSpPr>
        <p:spPr>
          <a:xfrm>
            <a:off x="7909962" y="3184071"/>
            <a:ext cx="1287668" cy="632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25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event tagged with GPS location, timestamp, severity, confidence score and vehicle details.</a:t>
            </a:r>
            <a:endParaRPr lang="en-US" sz="925" dirty="0"/>
          </a:p>
        </p:txBody>
      </p:sp>
      <p:sp>
        <p:nvSpPr>
          <p:cNvPr id="53" name="Text 39"/>
          <p:cNvSpPr txBox="1"/>
          <p:nvPr/>
        </p:nvSpPr>
        <p:spPr>
          <a:xfrm>
            <a:off x="9330485" y="3204482"/>
            <a:ext cx="1308107" cy="163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45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hit-and-run / rash driving:</a:t>
            </a:r>
            <a:endParaRPr lang="en-US" sz="845" dirty="0"/>
          </a:p>
        </p:txBody>
      </p:sp>
      <p:sp>
        <p:nvSpPr>
          <p:cNvPr id="54" name="Text 40"/>
          <p:cNvSpPr txBox="1"/>
          <p:nvPr/>
        </p:nvSpPr>
        <p:spPr>
          <a:xfrm>
            <a:off x="9330485" y="3377973"/>
            <a:ext cx="1308107" cy="632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 algn="l">
              <a:buSzPct val="100000"/>
              <a:buChar char="•"/>
            </a:pPr>
            <a:r>
              <a:rPr lang="en-US" sz="845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offending vehicle</a:t>
            </a:r>
            <a:endParaRPr lang="en-US" sz="845" dirty="0"/>
          </a:p>
          <a:p>
            <a:pPr marL="114300" indent="-114300" algn="l">
              <a:buSzPct val="100000"/>
              <a:buChar char="•"/>
            </a:pPr>
            <a:r>
              <a:rPr lang="en-US" sz="845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registration number</a:t>
            </a:r>
            <a:endParaRPr lang="en-US" sz="845" dirty="0"/>
          </a:p>
          <a:p>
            <a:pPr marL="114300" indent="-114300" algn="l">
              <a:buSzPct val="100000"/>
              <a:buChar char="•"/>
            </a:pPr>
            <a:r>
              <a:rPr lang="en-US" sz="845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</a:t>
            </a:r>
            <a:endParaRPr lang="en-US" sz="845" dirty="0"/>
          </a:p>
          <a:p>
            <a:pPr marL="114300" indent="-114300" algn="l">
              <a:buSzPct val="100000"/>
              <a:buChar char="•"/>
            </a:pPr>
            <a:r>
              <a:rPr lang="en-US" sz="845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 &amp; GPS</a:t>
            </a:r>
            <a:endParaRPr lang="en-US" sz="845" dirty="0"/>
          </a:p>
        </p:txBody>
      </p:sp>
      <p:sp>
        <p:nvSpPr>
          <p:cNvPr id="55" name="Text 41"/>
          <p:cNvSpPr txBox="1"/>
          <p:nvPr/>
        </p:nvSpPr>
        <p:spPr>
          <a:xfrm>
            <a:off x="10730568" y="3184071"/>
            <a:ext cx="1328547" cy="632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25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/ lightweight sync transmits alerts and aggregated data to central command.</a:t>
            </a:r>
            <a:endParaRPr lang="en-US" sz="925" dirty="0"/>
          </a:p>
        </p:txBody>
      </p:sp>
      <p:sp>
        <p:nvSpPr>
          <p:cNvPr id="56" name="Shape 42"/>
          <p:cNvSpPr/>
          <p:nvPr/>
        </p:nvSpPr>
        <p:spPr>
          <a:xfrm>
            <a:off x="6029557" y="2673804"/>
            <a:ext cx="163513" cy="122464"/>
          </a:xfrm>
          <a:prstGeom prst="rightArrow">
            <a:avLst/>
          </a:prstGeom>
          <a:solidFill>
            <a:srgbClr val="1F4FB0"/>
          </a:solidFill>
          <a:ln/>
        </p:spPr>
        <p:txBody>
          <a:bodyPr/>
          <a:p/>
        </p:txBody>
      </p:sp>
      <p:sp>
        <p:nvSpPr>
          <p:cNvPr id="57" name="Shape 43"/>
          <p:cNvSpPr/>
          <p:nvPr/>
        </p:nvSpPr>
        <p:spPr>
          <a:xfrm>
            <a:off x="7746448" y="2673804"/>
            <a:ext cx="163513" cy="122464"/>
          </a:xfrm>
          <a:prstGeom prst="rightArrow">
            <a:avLst/>
          </a:prstGeom>
          <a:solidFill>
            <a:srgbClr val="1F4FB0"/>
          </a:solidFill>
          <a:ln/>
        </p:spPr>
        <p:txBody>
          <a:bodyPr/>
          <a:p/>
        </p:txBody>
      </p:sp>
      <p:sp>
        <p:nvSpPr>
          <p:cNvPr id="58" name="Shape 44"/>
          <p:cNvSpPr/>
          <p:nvPr/>
        </p:nvSpPr>
        <p:spPr>
          <a:xfrm>
            <a:off x="9177191" y="2673804"/>
            <a:ext cx="163513" cy="122464"/>
          </a:xfrm>
          <a:prstGeom prst="rightArrow">
            <a:avLst/>
          </a:prstGeom>
          <a:solidFill>
            <a:srgbClr val="1F4FB0"/>
          </a:solidFill>
          <a:ln/>
        </p:spPr>
        <p:txBody>
          <a:bodyPr/>
          <a:p/>
        </p:txBody>
      </p:sp>
      <p:sp>
        <p:nvSpPr>
          <p:cNvPr id="59" name="Shape 45"/>
          <p:cNvSpPr/>
          <p:nvPr/>
        </p:nvSpPr>
        <p:spPr>
          <a:xfrm>
            <a:off x="10567055" y="2673804"/>
            <a:ext cx="163513" cy="122464"/>
          </a:xfrm>
          <a:prstGeom prst="rightArrow">
            <a:avLst/>
          </a:prstGeom>
          <a:solidFill>
            <a:srgbClr val="1F4FB0"/>
          </a:solidFill>
          <a:ln/>
        </p:spPr>
        <p:txBody>
          <a:bodyPr/>
          <a:p/>
        </p:txBody>
      </p:sp>
      <p:sp>
        <p:nvSpPr>
          <p:cNvPr id="60" name="Shape 46"/>
          <p:cNvSpPr/>
          <p:nvPr/>
        </p:nvSpPr>
        <p:spPr>
          <a:xfrm>
            <a:off x="4476180" y="4082143"/>
            <a:ext cx="7634033" cy="1683884"/>
          </a:xfrm>
          <a:prstGeom prst="roundRect">
            <a:avLst>
              <a:gd name="adj" fmla="val 4855"/>
            </a:avLst>
          </a:prstGeom>
          <a:solidFill>
            <a:srgbClr val="EFEBFA"/>
          </a:solidFill>
          <a:ln w="15875">
            <a:solidFill>
              <a:srgbClr val="7B5EA7"/>
            </a:solidFill>
            <a:prstDash val="solid"/>
          </a:ln>
        </p:spPr>
        <p:txBody>
          <a:bodyPr/>
          <a:p/>
        </p:txBody>
      </p:sp>
      <p:sp>
        <p:nvSpPr>
          <p:cNvPr id="61" name="Shape 47"/>
          <p:cNvSpPr/>
          <p:nvPr/>
        </p:nvSpPr>
        <p:spPr>
          <a:xfrm>
            <a:off x="4476180" y="4082143"/>
            <a:ext cx="4108275" cy="244929"/>
          </a:xfrm>
          <a:prstGeom prst="roundRect">
            <a:avLst>
              <a:gd name="adj" fmla="val 33380"/>
            </a:avLst>
          </a:prstGeom>
          <a:solidFill>
            <a:srgbClr val="6D48C8"/>
          </a:solidFill>
          <a:ln/>
        </p:spPr>
        <p:txBody>
          <a:bodyPr/>
          <a:p/>
        </p:txBody>
      </p:sp>
      <p:sp>
        <p:nvSpPr>
          <p:cNvPr id="62" name="Text 48"/>
          <p:cNvSpPr txBox="1"/>
          <p:nvPr/>
        </p:nvSpPr>
        <p:spPr>
          <a:xfrm>
            <a:off x="4557937" y="4082143"/>
            <a:ext cx="4006079" cy="244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LAYER (CLOUD) — URBAN INTELLIGENCE &amp; ANALYTICS</a:t>
            </a:r>
            <a:endParaRPr lang="en-US" sz="1006" dirty="0"/>
          </a:p>
        </p:txBody>
      </p:sp>
      <p:sp>
        <p:nvSpPr>
          <p:cNvPr id="63" name="Shape 49"/>
          <p:cNvSpPr/>
          <p:nvPr/>
        </p:nvSpPr>
        <p:spPr>
          <a:xfrm>
            <a:off x="4527278" y="4357688"/>
            <a:ext cx="1635134" cy="1255259"/>
          </a:xfrm>
          <a:prstGeom prst="roundRect">
            <a:avLst>
              <a:gd name="adj" fmla="val 4885"/>
            </a:avLst>
          </a:prstGeom>
          <a:solidFill>
            <a:srgbClr val="FFFFFF"/>
          </a:solidFill>
          <a:ln w="12700">
            <a:solidFill>
              <a:srgbClr val="C9BDEB"/>
            </a:solidFill>
            <a:prstDash val="solid"/>
          </a:ln>
        </p:spPr>
        <p:txBody>
          <a:bodyPr/>
          <a:p/>
        </p:txBody>
      </p:sp>
      <p:sp>
        <p:nvSpPr>
          <p:cNvPr id="64" name="Shape 50"/>
          <p:cNvSpPr/>
          <p:nvPr/>
        </p:nvSpPr>
        <p:spPr>
          <a:xfrm>
            <a:off x="6233949" y="4357688"/>
            <a:ext cx="1379644" cy="1255259"/>
          </a:xfrm>
          <a:prstGeom prst="roundRect">
            <a:avLst>
              <a:gd name="adj" fmla="val 4885"/>
            </a:avLst>
          </a:prstGeom>
          <a:solidFill>
            <a:srgbClr val="FFFFFF"/>
          </a:solidFill>
          <a:ln w="12700">
            <a:solidFill>
              <a:srgbClr val="C9BDEB"/>
            </a:solidFill>
            <a:prstDash val="solid"/>
          </a:ln>
        </p:spPr>
        <p:txBody>
          <a:bodyPr/>
          <a:p/>
        </p:txBody>
      </p:sp>
      <p:sp>
        <p:nvSpPr>
          <p:cNvPr id="65" name="Shape 51"/>
          <p:cNvSpPr/>
          <p:nvPr/>
        </p:nvSpPr>
        <p:spPr>
          <a:xfrm>
            <a:off x="7644252" y="4357688"/>
            <a:ext cx="1379644" cy="1255259"/>
          </a:xfrm>
          <a:prstGeom prst="roundRect">
            <a:avLst>
              <a:gd name="adj" fmla="val 4885"/>
            </a:avLst>
          </a:prstGeom>
          <a:solidFill>
            <a:srgbClr val="FFFFFF"/>
          </a:solidFill>
          <a:ln w="12700">
            <a:solidFill>
              <a:srgbClr val="C9BDEB"/>
            </a:solidFill>
            <a:prstDash val="solid"/>
          </a:ln>
        </p:spPr>
        <p:txBody>
          <a:bodyPr/>
          <a:p/>
        </p:txBody>
      </p:sp>
      <p:sp>
        <p:nvSpPr>
          <p:cNvPr id="66" name="Shape 52"/>
          <p:cNvSpPr/>
          <p:nvPr/>
        </p:nvSpPr>
        <p:spPr>
          <a:xfrm>
            <a:off x="9074995" y="4357688"/>
            <a:ext cx="1348986" cy="1255259"/>
          </a:xfrm>
          <a:prstGeom prst="roundRect">
            <a:avLst>
              <a:gd name="adj" fmla="val 4885"/>
            </a:avLst>
          </a:prstGeom>
          <a:solidFill>
            <a:srgbClr val="FFFFFF"/>
          </a:solidFill>
          <a:ln w="12700">
            <a:solidFill>
              <a:srgbClr val="C9BDEB"/>
            </a:solidFill>
            <a:prstDash val="solid"/>
          </a:ln>
        </p:spPr>
        <p:txBody>
          <a:bodyPr/>
          <a:p/>
        </p:txBody>
      </p:sp>
      <p:sp>
        <p:nvSpPr>
          <p:cNvPr id="67" name="Shape 53"/>
          <p:cNvSpPr/>
          <p:nvPr/>
        </p:nvSpPr>
        <p:spPr>
          <a:xfrm>
            <a:off x="10475079" y="4357688"/>
            <a:ext cx="1614695" cy="1255259"/>
          </a:xfrm>
          <a:prstGeom prst="roundRect">
            <a:avLst>
              <a:gd name="adj" fmla="val 4885"/>
            </a:avLst>
          </a:prstGeom>
          <a:solidFill>
            <a:srgbClr val="FFFFFF"/>
          </a:solidFill>
          <a:ln w="12700">
            <a:solidFill>
              <a:srgbClr val="C9BDEB"/>
            </a:solidFill>
            <a:prstDash val="solid"/>
          </a:ln>
        </p:spPr>
        <p:txBody>
          <a:bodyPr/>
          <a:p/>
        </p:txBody>
      </p:sp>
      <p:sp>
        <p:nvSpPr>
          <p:cNvPr id="68" name="Text 54"/>
          <p:cNvSpPr/>
          <p:nvPr/>
        </p:nvSpPr>
        <p:spPr>
          <a:xfrm>
            <a:off x="4598815" y="4347482"/>
            <a:ext cx="224831" cy="224518"/>
          </a:xfrm>
          <a:prstGeom prst="ellipse">
            <a:avLst/>
          </a:prstGeom>
          <a:solidFill>
            <a:srgbClr val="5A32B4"/>
          </a:solidFill>
          <a:ln>
            <a:solidFill>
              <a:srgbClr val="5A32B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1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18" dirty="0"/>
          </a:p>
        </p:txBody>
      </p:sp>
      <p:sp>
        <p:nvSpPr>
          <p:cNvPr id="69" name="Text 55"/>
          <p:cNvSpPr/>
          <p:nvPr/>
        </p:nvSpPr>
        <p:spPr>
          <a:xfrm>
            <a:off x="6141973" y="4378098"/>
            <a:ext cx="224831" cy="224518"/>
          </a:xfrm>
          <a:prstGeom prst="ellipse">
            <a:avLst/>
          </a:prstGeom>
          <a:solidFill>
            <a:srgbClr val="5A32B4"/>
          </a:solidFill>
          <a:ln>
            <a:solidFill>
              <a:srgbClr val="5A32B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1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18" dirty="0"/>
          </a:p>
        </p:txBody>
      </p:sp>
      <p:sp>
        <p:nvSpPr>
          <p:cNvPr id="70" name="Text 56"/>
          <p:cNvSpPr/>
          <p:nvPr/>
        </p:nvSpPr>
        <p:spPr>
          <a:xfrm>
            <a:off x="7613594" y="4378098"/>
            <a:ext cx="224831" cy="224518"/>
          </a:xfrm>
          <a:prstGeom prst="ellipse">
            <a:avLst/>
          </a:prstGeom>
          <a:solidFill>
            <a:srgbClr val="5A32B4"/>
          </a:solidFill>
          <a:ln>
            <a:solidFill>
              <a:srgbClr val="5A32B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1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18" dirty="0"/>
          </a:p>
        </p:txBody>
      </p:sp>
      <p:sp>
        <p:nvSpPr>
          <p:cNvPr id="71" name="Text 57"/>
          <p:cNvSpPr/>
          <p:nvPr/>
        </p:nvSpPr>
        <p:spPr>
          <a:xfrm>
            <a:off x="9177191" y="4378098"/>
            <a:ext cx="224831" cy="224518"/>
          </a:xfrm>
          <a:prstGeom prst="ellipse">
            <a:avLst/>
          </a:prstGeom>
          <a:solidFill>
            <a:srgbClr val="5A32B4"/>
          </a:solidFill>
          <a:ln>
            <a:solidFill>
              <a:srgbClr val="5A32B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1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18" dirty="0"/>
          </a:p>
        </p:txBody>
      </p:sp>
      <p:sp>
        <p:nvSpPr>
          <p:cNvPr id="72" name="Text 58"/>
          <p:cNvSpPr/>
          <p:nvPr/>
        </p:nvSpPr>
        <p:spPr>
          <a:xfrm>
            <a:off x="10659031" y="4347482"/>
            <a:ext cx="224831" cy="224518"/>
          </a:xfrm>
          <a:prstGeom prst="ellipse">
            <a:avLst/>
          </a:prstGeom>
          <a:solidFill>
            <a:srgbClr val="5A32B4"/>
          </a:solidFill>
          <a:ln>
            <a:solidFill>
              <a:srgbClr val="5A32B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1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18" dirty="0"/>
          </a:p>
        </p:txBody>
      </p:sp>
      <p:sp>
        <p:nvSpPr>
          <p:cNvPr id="73" name="Text 59"/>
          <p:cNvSpPr txBox="1"/>
          <p:nvPr/>
        </p:nvSpPr>
        <p:spPr>
          <a:xfrm>
            <a:off x="4905403" y="4388304"/>
            <a:ext cx="1226351" cy="163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45" b="1" dirty="0">
                <a:solidFill>
                  <a:srgbClr val="1F3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AGGREGATION</a:t>
            </a:r>
            <a:endParaRPr lang="en-US" sz="845" dirty="0"/>
          </a:p>
        </p:txBody>
      </p:sp>
      <p:sp>
        <p:nvSpPr>
          <p:cNvPr id="74" name="Text 60"/>
          <p:cNvSpPr txBox="1"/>
          <p:nvPr/>
        </p:nvSpPr>
        <p:spPr>
          <a:xfrm>
            <a:off x="6438341" y="4418920"/>
            <a:ext cx="1124155" cy="163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45" b="1" dirty="0">
                <a:solidFill>
                  <a:srgbClr val="1F3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 DASHBOARD</a:t>
            </a:r>
            <a:endParaRPr lang="en-US" sz="845" dirty="0"/>
          </a:p>
        </p:txBody>
      </p:sp>
      <p:sp>
        <p:nvSpPr>
          <p:cNvPr id="75" name="Text 61"/>
          <p:cNvSpPr txBox="1"/>
          <p:nvPr/>
        </p:nvSpPr>
        <p:spPr>
          <a:xfrm>
            <a:off x="7889523" y="4418920"/>
            <a:ext cx="1175253" cy="163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45" b="1" dirty="0">
                <a:solidFill>
                  <a:srgbClr val="1F3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 HEAT MAPS</a:t>
            </a:r>
            <a:endParaRPr lang="en-US" sz="845" dirty="0"/>
          </a:p>
        </p:txBody>
      </p:sp>
      <p:sp>
        <p:nvSpPr>
          <p:cNvPr id="76" name="Text 62"/>
          <p:cNvSpPr txBox="1"/>
          <p:nvPr/>
        </p:nvSpPr>
        <p:spPr>
          <a:xfrm>
            <a:off x="9483778" y="4418920"/>
            <a:ext cx="919763" cy="163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45" b="1" dirty="0">
                <a:solidFill>
                  <a:srgbClr val="1F3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 ANALYSIS</a:t>
            </a:r>
            <a:endParaRPr lang="en-US" sz="845" dirty="0"/>
          </a:p>
        </p:txBody>
      </p:sp>
      <p:sp>
        <p:nvSpPr>
          <p:cNvPr id="77" name="Text 63"/>
          <p:cNvSpPr txBox="1"/>
          <p:nvPr/>
        </p:nvSpPr>
        <p:spPr>
          <a:xfrm>
            <a:off x="10914521" y="4388304"/>
            <a:ext cx="1185472" cy="163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4" b="1" dirty="0">
                <a:solidFill>
                  <a:srgbClr val="1F3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DELAY ESTIMATION</a:t>
            </a:r>
            <a:endParaRPr lang="en-US" sz="764" dirty="0"/>
          </a:p>
        </p:txBody>
      </p:sp>
      <p:pic>
        <p:nvPicPr>
          <p:cNvPr id="78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619254" y="4572000"/>
            <a:ext cx="950422" cy="602116"/>
          </a:xfrm>
          <a:prstGeom prst="rect">
            <a:avLst/>
          </a:prstGeom>
        </p:spPr>
      </p:pic>
      <p:pic>
        <p:nvPicPr>
          <p:cNvPr id="79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36145" y="4572000"/>
            <a:ext cx="1001520" cy="602116"/>
          </a:xfrm>
          <a:prstGeom prst="rect">
            <a:avLst/>
          </a:prstGeom>
        </p:spPr>
      </p:pic>
      <p:pic>
        <p:nvPicPr>
          <p:cNvPr id="80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787327" y="4572000"/>
            <a:ext cx="1083276" cy="612321"/>
          </a:xfrm>
          <a:prstGeom prst="rect">
            <a:avLst/>
          </a:prstGeom>
        </p:spPr>
      </p:pic>
      <p:pic>
        <p:nvPicPr>
          <p:cNvPr id="81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350924" y="4592411"/>
            <a:ext cx="1021959" cy="591911"/>
          </a:xfrm>
          <a:prstGeom prst="rect">
            <a:avLst/>
          </a:prstGeom>
        </p:spPr>
      </p:pic>
      <p:pic>
        <p:nvPicPr>
          <p:cNvPr id="82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853203" y="4572000"/>
            <a:ext cx="1052618" cy="612321"/>
          </a:xfrm>
          <a:prstGeom prst="rect">
            <a:avLst/>
          </a:prstGeom>
        </p:spPr>
      </p:pic>
      <p:sp>
        <p:nvSpPr>
          <p:cNvPr id="83" name="Text 64"/>
          <p:cNvSpPr txBox="1"/>
          <p:nvPr/>
        </p:nvSpPr>
        <p:spPr>
          <a:xfrm>
            <a:off x="4568156" y="5214938"/>
            <a:ext cx="1553378" cy="387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25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Fleet-wide aggregation of events, images and telemetry from all buses.</a:t>
            </a:r>
            <a:endParaRPr lang="en-US" sz="925" dirty="0"/>
          </a:p>
        </p:txBody>
      </p:sp>
      <p:sp>
        <p:nvSpPr>
          <p:cNvPr id="84" name="Text 65"/>
          <p:cNvSpPr txBox="1"/>
          <p:nvPr/>
        </p:nvSpPr>
        <p:spPr>
          <a:xfrm>
            <a:off x="6295267" y="5194527"/>
            <a:ext cx="1287668" cy="408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25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map with events, vehicle locations and incident details.</a:t>
            </a:r>
            <a:endParaRPr lang="en-US" sz="925" dirty="0"/>
          </a:p>
        </p:txBody>
      </p:sp>
      <p:sp>
        <p:nvSpPr>
          <p:cNvPr id="85" name="Text 66"/>
          <p:cNvSpPr txBox="1"/>
          <p:nvPr/>
        </p:nvSpPr>
        <p:spPr>
          <a:xfrm>
            <a:off x="7705570" y="5245554"/>
            <a:ext cx="1287668" cy="306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25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traffic hotspots and bottlenecks.</a:t>
            </a:r>
            <a:endParaRPr lang="en-US" sz="925" dirty="0"/>
          </a:p>
        </p:txBody>
      </p:sp>
      <p:sp>
        <p:nvSpPr>
          <p:cNvPr id="86" name="Text 67"/>
          <p:cNvSpPr txBox="1"/>
          <p:nvPr/>
        </p:nvSpPr>
        <p:spPr>
          <a:xfrm>
            <a:off x="9228289" y="5245554"/>
            <a:ext cx="1205911" cy="306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85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patterns, demand and mobility insights.</a:t>
            </a:r>
            <a:endParaRPr lang="en-US" sz="885" dirty="0"/>
          </a:p>
        </p:txBody>
      </p:sp>
      <p:sp>
        <p:nvSpPr>
          <p:cNvPr id="87" name="Text 68"/>
          <p:cNvSpPr txBox="1"/>
          <p:nvPr/>
        </p:nvSpPr>
        <p:spPr>
          <a:xfrm>
            <a:off x="10812325" y="5245554"/>
            <a:ext cx="1226351" cy="306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25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delays and suggest optimal routes.</a:t>
            </a:r>
            <a:endParaRPr lang="en-US" sz="925" dirty="0"/>
          </a:p>
        </p:txBody>
      </p:sp>
      <p:sp>
        <p:nvSpPr>
          <p:cNvPr id="88" name="Shape 69"/>
          <p:cNvSpPr/>
          <p:nvPr/>
        </p:nvSpPr>
        <p:spPr>
          <a:xfrm>
            <a:off x="5988679" y="4796518"/>
            <a:ext cx="163513" cy="122464"/>
          </a:xfrm>
          <a:prstGeom prst="rightArrow">
            <a:avLst/>
          </a:prstGeom>
          <a:solidFill>
            <a:srgbClr val="5A32B4"/>
          </a:solidFill>
          <a:ln/>
        </p:spPr>
        <p:txBody>
          <a:bodyPr/>
          <a:p/>
        </p:txBody>
      </p:sp>
      <p:sp>
        <p:nvSpPr>
          <p:cNvPr id="89" name="Shape 70"/>
          <p:cNvSpPr/>
          <p:nvPr/>
        </p:nvSpPr>
        <p:spPr>
          <a:xfrm>
            <a:off x="7480739" y="4816929"/>
            <a:ext cx="163513" cy="122464"/>
          </a:xfrm>
          <a:prstGeom prst="rightArrow">
            <a:avLst/>
          </a:prstGeom>
          <a:solidFill>
            <a:srgbClr val="5A32B4"/>
          </a:solidFill>
          <a:ln/>
        </p:spPr>
        <p:txBody>
          <a:bodyPr/>
          <a:p/>
        </p:txBody>
      </p:sp>
      <p:sp>
        <p:nvSpPr>
          <p:cNvPr id="90" name="Shape 71"/>
          <p:cNvSpPr/>
          <p:nvPr/>
        </p:nvSpPr>
        <p:spPr>
          <a:xfrm>
            <a:off x="8931921" y="4816929"/>
            <a:ext cx="163513" cy="122464"/>
          </a:xfrm>
          <a:prstGeom prst="rightArrow">
            <a:avLst/>
          </a:prstGeom>
          <a:solidFill>
            <a:srgbClr val="5A32B4"/>
          </a:solidFill>
          <a:ln/>
        </p:spPr>
        <p:txBody>
          <a:bodyPr/>
          <a:p/>
        </p:txBody>
      </p:sp>
      <p:sp>
        <p:nvSpPr>
          <p:cNvPr id="91" name="Shape 72"/>
          <p:cNvSpPr/>
          <p:nvPr/>
        </p:nvSpPr>
        <p:spPr>
          <a:xfrm>
            <a:off x="10321785" y="4816929"/>
            <a:ext cx="163513" cy="122464"/>
          </a:xfrm>
          <a:prstGeom prst="rightArrow">
            <a:avLst/>
          </a:prstGeom>
          <a:solidFill>
            <a:srgbClr val="5A32B4"/>
          </a:solidFill>
          <a:ln/>
        </p:spPr>
        <p:txBody>
          <a:bodyPr/>
          <a:p/>
        </p:txBody>
      </p:sp>
      <p:sp>
        <p:nvSpPr>
          <p:cNvPr id="92" name="Shape 73"/>
          <p:cNvSpPr/>
          <p:nvPr/>
        </p:nvSpPr>
        <p:spPr>
          <a:xfrm>
            <a:off x="4476180" y="5776232"/>
            <a:ext cx="7634033" cy="673554"/>
          </a:xfrm>
          <a:prstGeom prst="roundRect">
            <a:avLst>
              <a:gd name="adj" fmla="val 12138"/>
            </a:avLst>
          </a:prstGeom>
          <a:solidFill>
            <a:srgbClr val="EAF5FF"/>
          </a:solidFill>
          <a:ln w="12700">
            <a:solidFill>
              <a:srgbClr val="BBD6F2"/>
            </a:solidFill>
            <a:prstDash val="solid"/>
          </a:ln>
        </p:spPr>
        <p:txBody>
          <a:bodyPr/>
          <a:p/>
        </p:txBody>
      </p:sp>
      <p:pic>
        <p:nvPicPr>
          <p:cNvPr id="93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191551" y="5827259"/>
            <a:ext cx="286148" cy="285750"/>
          </a:xfrm>
          <a:prstGeom prst="rect">
            <a:avLst/>
          </a:prstGeom>
        </p:spPr>
      </p:pic>
      <p:sp>
        <p:nvSpPr>
          <p:cNvPr id="94" name="Text 74"/>
          <p:cNvSpPr txBox="1"/>
          <p:nvPr/>
        </p:nvSpPr>
        <p:spPr>
          <a:xfrm>
            <a:off x="4639693" y="6123214"/>
            <a:ext cx="1389864" cy="306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66" dirty="0">
                <a:solidFill>
                  <a:srgbClr val="1B3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966" dirty="0"/>
          </a:p>
          <a:p>
            <a:pPr marL="0" indent="0" algn="ctr">
              <a:buNone/>
            </a:pPr>
            <a:r>
              <a:rPr lang="en-US" sz="966" dirty="0">
                <a:solidFill>
                  <a:srgbClr val="1B3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966" dirty="0"/>
          </a:p>
        </p:txBody>
      </p:sp>
      <p:pic>
        <p:nvPicPr>
          <p:cNvPr id="95" name="Image 18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601854" y="5827259"/>
            <a:ext cx="286148" cy="285750"/>
          </a:xfrm>
          <a:prstGeom prst="rect">
            <a:avLst/>
          </a:prstGeom>
        </p:spPr>
      </p:pic>
      <p:sp>
        <p:nvSpPr>
          <p:cNvPr id="96" name="Text 75"/>
          <p:cNvSpPr txBox="1"/>
          <p:nvPr/>
        </p:nvSpPr>
        <p:spPr>
          <a:xfrm>
            <a:off x="6049997" y="6123214"/>
            <a:ext cx="1389864" cy="306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66" dirty="0">
                <a:solidFill>
                  <a:srgbClr val="1B3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Cost-effective</a:t>
            </a:r>
            <a:endParaRPr lang="en-US" sz="966" dirty="0"/>
          </a:p>
          <a:p>
            <a:pPr marL="0" indent="0" algn="ctr">
              <a:buNone/>
            </a:pPr>
            <a:r>
              <a:rPr lang="en-US" sz="966" dirty="0">
                <a:solidFill>
                  <a:srgbClr val="1B3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</a:t>
            </a:r>
            <a:endParaRPr lang="en-US" sz="966" dirty="0"/>
          </a:p>
        </p:txBody>
      </p:sp>
      <p:pic>
        <p:nvPicPr>
          <p:cNvPr id="97" name="Image 19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981499" y="5827259"/>
            <a:ext cx="286148" cy="285750"/>
          </a:xfrm>
          <a:prstGeom prst="rect">
            <a:avLst/>
          </a:prstGeom>
        </p:spPr>
      </p:pic>
      <p:sp>
        <p:nvSpPr>
          <p:cNvPr id="98" name="Text 76"/>
          <p:cNvSpPr txBox="1"/>
          <p:nvPr/>
        </p:nvSpPr>
        <p:spPr>
          <a:xfrm>
            <a:off x="7429641" y="6123214"/>
            <a:ext cx="1389864" cy="306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66" dirty="0">
                <a:solidFill>
                  <a:srgbClr val="1B3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 Cities,</a:t>
            </a:r>
            <a:endParaRPr lang="en-US" sz="966" dirty="0"/>
          </a:p>
          <a:p>
            <a:pPr marL="0" indent="0" algn="ctr">
              <a:buNone/>
            </a:pPr>
            <a:r>
              <a:rPr lang="en-US" sz="966" dirty="0">
                <a:solidFill>
                  <a:srgbClr val="1B3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Incidents</a:t>
            </a:r>
            <a:endParaRPr lang="en-US" sz="966" dirty="0"/>
          </a:p>
        </p:txBody>
      </p:sp>
      <p:pic>
        <p:nvPicPr>
          <p:cNvPr id="99" name="Image 20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412241" y="5827259"/>
            <a:ext cx="286148" cy="285750"/>
          </a:xfrm>
          <a:prstGeom prst="rect">
            <a:avLst/>
          </a:prstGeom>
        </p:spPr>
      </p:pic>
      <p:sp>
        <p:nvSpPr>
          <p:cNvPr id="100" name="Text 77"/>
          <p:cNvSpPr txBox="1"/>
          <p:nvPr/>
        </p:nvSpPr>
        <p:spPr>
          <a:xfrm>
            <a:off x="8860384" y="6123214"/>
            <a:ext cx="1389864" cy="306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66" dirty="0">
                <a:solidFill>
                  <a:srgbClr val="1B3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</a:t>
            </a:r>
            <a:endParaRPr lang="en-US" sz="966" dirty="0"/>
          </a:p>
          <a:p>
            <a:pPr marL="0" indent="0" algn="ctr">
              <a:buNone/>
            </a:pPr>
            <a:r>
              <a:rPr lang="en-US" sz="966" dirty="0">
                <a:solidFill>
                  <a:srgbClr val="1B3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Making</a:t>
            </a:r>
            <a:endParaRPr lang="en-US" sz="966" dirty="0"/>
          </a:p>
        </p:txBody>
      </p:sp>
      <p:pic>
        <p:nvPicPr>
          <p:cNvPr id="101" name="Image 21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965619" y="5827259"/>
            <a:ext cx="286148" cy="285750"/>
          </a:xfrm>
          <a:prstGeom prst="rect">
            <a:avLst/>
          </a:prstGeom>
        </p:spPr>
      </p:pic>
      <p:sp>
        <p:nvSpPr>
          <p:cNvPr id="102" name="Text 78"/>
          <p:cNvSpPr txBox="1"/>
          <p:nvPr/>
        </p:nvSpPr>
        <p:spPr>
          <a:xfrm>
            <a:off x="10413761" y="6123214"/>
            <a:ext cx="1389864" cy="306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66" dirty="0">
                <a:solidFill>
                  <a:srgbClr val="1B3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&amp;</a:t>
            </a:r>
            <a:endParaRPr lang="en-US" sz="966" dirty="0"/>
          </a:p>
          <a:p>
            <a:pPr marL="0" indent="0" algn="ctr">
              <a:buNone/>
            </a:pPr>
            <a:r>
              <a:rPr lang="en-US" sz="966" dirty="0">
                <a:solidFill>
                  <a:srgbClr val="1B3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Maintenance</a:t>
            </a:r>
            <a:endParaRPr lang="en-US" sz="966" dirty="0"/>
          </a:p>
        </p:txBody>
      </p:sp>
      <p:sp>
        <p:nvSpPr>
          <p:cNvPr id="103" name="Shape 79"/>
          <p:cNvSpPr/>
          <p:nvPr/>
        </p:nvSpPr>
        <p:spPr>
          <a:xfrm>
            <a:off x="6101095" y="5857875"/>
            <a:ext cx="0" cy="530679"/>
          </a:xfrm>
          <a:prstGeom prst="line">
            <a:avLst/>
          </a:prstGeom>
          <a:noFill/>
          <a:ln w="9525">
            <a:solidFill>
              <a:srgbClr val="B9D3F2"/>
            </a:solidFill>
            <a:prstDash val="solid"/>
          </a:ln>
        </p:spPr>
        <p:txBody>
          <a:bodyPr/>
          <a:p/>
        </p:txBody>
      </p:sp>
      <p:sp>
        <p:nvSpPr>
          <p:cNvPr id="104" name="Shape 80"/>
          <p:cNvSpPr/>
          <p:nvPr/>
        </p:nvSpPr>
        <p:spPr>
          <a:xfrm>
            <a:off x="7429641" y="5857875"/>
            <a:ext cx="0" cy="530679"/>
          </a:xfrm>
          <a:prstGeom prst="line">
            <a:avLst/>
          </a:prstGeom>
          <a:noFill/>
          <a:ln w="9525">
            <a:solidFill>
              <a:srgbClr val="B9D3F2"/>
            </a:solidFill>
            <a:prstDash val="solid"/>
          </a:ln>
        </p:spPr>
        <p:txBody>
          <a:bodyPr/>
          <a:p/>
        </p:txBody>
      </p:sp>
      <p:sp>
        <p:nvSpPr>
          <p:cNvPr id="105" name="Shape 81"/>
          <p:cNvSpPr/>
          <p:nvPr/>
        </p:nvSpPr>
        <p:spPr>
          <a:xfrm>
            <a:off x="8809286" y="5857875"/>
            <a:ext cx="0" cy="530679"/>
          </a:xfrm>
          <a:prstGeom prst="line">
            <a:avLst/>
          </a:prstGeom>
          <a:noFill/>
          <a:ln w="9525">
            <a:solidFill>
              <a:srgbClr val="B9D3F2"/>
            </a:solidFill>
            <a:prstDash val="solid"/>
          </a:ln>
        </p:spPr>
        <p:txBody>
          <a:bodyPr/>
          <a:p/>
        </p:txBody>
      </p:sp>
      <p:sp>
        <p:nvSpPr>
          <p:cNvPr id="106" name="Shape 82"/>
          <p:cNvSpPr/>
          <p:nvPr/>
        </p:nvSpPr>
        <p:spPr>
          <a:xfrm>
            <a:off x="10301346" y="5857875"/>
            <a:ext cx="0" cy="530679"/>
          </a:xfrm>
          <a:prstGeom prst="line">
            <a:avLst/>
          </a:prstGeom>
          <a:noFill/>
          <a:ln w="9525">
            <a:solidFill>
              <a:srgbClr val="B9D3F2"/>
            </a:solidFill>
            <a:prstDash val="solid"/>
          </a:ln>
        </p:spPr>
        <p:txBody>
          <a:bodyPr/>
          <a:p/>
        </p:txBody>
      </p:sp>
      <p:sp>
        <p:nvSpPr>
          <p:cNvPr id="107" name="Shape 83"/>
          <p:cNvSpPr/>
          <p:nvPr/>
        </p:nvSpPr>
        <p:spPr>
          <a:xfrm>
            <a:off x="0" y="6511018"/>
            <a:ext cx="12191970" cy="346982"/>
          </a:xfrm>
          <a:prstGeom prst="rect">
            <a:avLst/>
          </a:prstGeom>
          <a:solidFill>
            <a:srgbClr val="0B6BBE"/>
          </a:solidFill>
          <a:ln/>
        </p:spPr>
        <p:txBody>
          <a:bodyPr/>
          <a:p/>
        </p:txBody>
      </p:sp>
      <p:sp>
        <p:nvSpPr>
          <p:cNvPr id="108" name="Text 84"/>
          <p:cNvSpPr txBox="1"/>
          <p:nvPr/>
        </p:nvSpPr>
        <p:spPr>
          <a:xfrm>
            <a:off x="0" y="6551839"/>
            <a:ext cx="12191970" cy="2653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6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@SIH Idea submission- Template</a:t>
            </a:r>
            <a:endParaRPr lang="en-US" sz="966" dirty="0"/>
          </a:p>
        </p:txBody>
      </p:sp>
      <p:sp>
        <p:nvSpPr>
          <p:cNvPr id="109" name="Text 85"/>
          <p:cNvSpPr txBox="1"/>
          <p:nvPr/>
        </p:nvSpPr>
        <p:spPr>
          <a:xfrm>
            <a:off x="11476598" y="6551839"/>
            <a:ext cx="408784" cy="2653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66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66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2400" y="121381"/>
            <a:ext cx="1625596" cy="61701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6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Vigilance</a:t>
            </a:r>
            <a:endParaRPr lang="en-US" sz="1760" dirty="0"/>
          </a:p>
        </p:txBody>
      </p:sp>
      <p:sp>
        <p:nvSpPr>
          <p:cNvPr id="3" name="Text 1"/>
          <p:cNvSpPr txBox="1"/>
          <p:nvPr/>
        </p:nvSpPr>
        <p:spPr>
          <a:xfrm>
            <a:off x="1849115" y="202301"/>
            <a:ext cx="8127980" cy="4652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36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TECHNICAL APPROACH</a:t>
            </a:r>
            <a:endParaRPr lang="en-US" sz="336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5975" y="50575"/>
            <a:ext cx="2204714" cy="94069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52400" y="880009"/>
            <a:ext cx="3149592" cy="4582115"/>
          </a:xfrm>
          <a:prstGeom prst="roundRect">
            <a:avLst>
              <a:gd name="adj" fmla="val 1935"/>
            </a:avLst>
          </a:prstGeom>
          <a:solidFill>
            <a:srgbClr val="F3F8FF"/>
          </a:solidFill>
          <a:ln w="12700">
            <a:solidFill>
              <a:srgbClr val="C5DCF5"/>
            </a:solidFill>
            <a:prstDash val="solid"/>
          </a:ln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152400" y="880009"/>
            <a:ext cx="3149592" cy="283221"/>
          </a:xfrm>
          <a:prstGeom prst="roundRect">
            <a:avLst>
              <a:gd name="adj" fmla="val 14349"/>
            </a:avLst>
          </a:prstGeom>
          <a:solidFill>
            <a:srgbClr val="0F4C9A"/>
          </a:solidFill>
          <a:ln/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152400" y="880009"/>
            <a:ext cx="3149592" cy="283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080" dirty="0"/>
          </a:p>
        </p:txBody>
      </p:sp>
      <p:sp>
        <p:nvSpPr>
          <p:cNvPr id="8" name="Shape 5"/>
          <p:cNvSpPr/>
          <p:nvPr/>
        </p:nvSpPr>
        <p:spPr>
          <a:xfrm>
            <a:off x="223519" y="1213805"/>
            <a:ext cx="3007352" cy="1062080"/>
          </a:xfrm>
          <a:prstGeom prst="roundRect">
            <a:avLst>
              <a:gd name="adj" fmla="val 7653"/>
            </a:avLst>
          </a:prstGeom>
          <a:solidFill>
            <a:srgbClr val="DDEBFB"/>
          </a:solidFill>
          <a:ln/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253999" y="1481854"/>
            <a:ext cx="528319" cy="52598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6FD9"/>
            </a:solidFill>
            <a:prstDash val="solid"/>
          </a:ln>
        </p:spPr>
        <p:txBody>
          <a:bodyPr/>
          <a:p/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079" y="1613350"/>
            <a:ext cx="264159" cy="262991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015997" y="1264381"/>
            <a:ext cx="2184395" cy="2023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E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Multi-Camera &amp; Computer Vision</a:t>
            </a:r>
            <a:endParaRPr lang="en-US" sz="1080" dirty="0"/>
          </a:p>
        </p:txBody>
      </p:sp>
      <p:sp>
        <p:nvSpPr>
          <p:cNvPr id="12" name="Text 8"/>
          <p:cNvSpPr txBox="1"/>
          <p:nvPr/>
        </p:nvSpPr>
        <p:spPr>
          <a:xfrm>
            <a:off x="1015997" y="1497027"/>
            <a:ext cx="2184395" cy="758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 algn="l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PyTorch, OpenCV</a:t>
            </a:r>
            <a:endParaRPr lang="en-US" sz="1000" dirty="0"/>
          </a:p>
          <a:p>
            <a:pPr marL="114300" indent="-114300" algn="l">
              <a:spcAft>
                <a:spcPts val="100"/>
              </a:spcAft>
              <a:buSzPct val="100000"/>
              <a:buChar char="•"/>
            </a:pPr>
            <a:r>
              <a:t>YOLOv8-Nano INT8 ONNX (3.2 MB, 28.4ms, 39.89% mAP@50 on 7,706 RDD2022 images)</a:t>
            </a:r>
            <a:endParaRPr lang="en-US" sz="1000" dirty="0"/>
          </a:p>
          <a:p>
            <a:pPr marL="114300" indent="-114300" algn="l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Runtime for optimized edge inference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223519" y="2326460"/>
            <a:ext cx="3007352" cy="960929"/>
          </a:xfrm>
          <a:prstGeom prst="roundRect">
            <a:avLst>
              <a:gd name="adj" fmla="val 8458"/>
            </a:avLst>
          </a:prstGeom>
          <a:solidFill>
            <a:srgbClr val="E4F4E1"/>
          </a:solidFill>
          <a:ln/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253999" y="2543934"/>
            <a:ext cx="528319" cy="52598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9E3B"/>
            </a:solidFill>
            <a:prstDash val="solid"/>
          </a:ln>
        </p:spPr>
        <p:txBody>
          <a:bodyPr/>
          <a:p/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6079" y="2675429"/>
            <a:ext cx="264159" cy="262991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015997" y="2377035"/>
            <a:ext cx="2184395" cy="2023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2E9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Spatial Processing</a:t>
            </a:r>
            <a:endParaRPr lang="en-US" sz="1080" dirty="0"/>
          </a:p>
        </p:txBody>
      </p:sp>
      <p:sp>
        <p:nvSpPr>
          <p:cNvPr id="17" name="Text 12"/>
          <p:cNvSpPr txBox="1"/>
          <p:nvPr/>
        </p:nvSpPr>
        <p:spPr>
          <a:xfrm>
            <a:off x="1015997" y="2609681"/>
            <a:ext cx="2184395" cy="657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 algn="l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WebSockets</a:t>
            </a:r>
            <a:endParaRPr lang="en-US" sz="1000" dirty="0"/>
          </a:p>
          <a:p>
            <a:pPr marL="114300" indent="-114300" algn="l">
              <a:spcAft>
                <a:spcPts val="100"/>
              </a:spcAft>
              <a:buSzPct val="100000"/>
              <a:buChar char="•"/>
            </a:pPr>
            <a:r>
              <a:t>PostgreSQL 17 + PostGIS 3.3 (ST_ClusterDBSCAN 15m radius)</a:t>
            </a:r>
            <a:endParaRPr lang="en-US" sz="1000" dirty="0"/>
          </a:p>
          <a:p>
            <a:pPr marL="114300" indent="-114300" algn="l">
              <a:spcAft>
                <a:spcPts val="100"/>
              </a:spcAft>
              <a:buSzPct val="100000"/>
              <a:buChar char="•"/>
            </a:pPr>
            <a:r>
              <a:t>DBSCAN 15m Deduplication + Dynamic RPI Formula (0.40S+0.25D+0.20R+0.15P)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223519" y="3358195"/>
            <a:ext cx="3007352" cy="890124"/>
          </a:xfrm>
          <a:prstGeom prst="roundRect">
            <a:avLst>
              <a:gd name="adj" fmla="val 9131"/>
            </a:avLst>
          </a:prstGeom>
          <a:solidFill>
            <a:srgbClr val="EDE7F8"/>
          </a:solidFill>
          <a:ln/>
        </p:spPr>
        <p:txBody>
          <a:bodyPr/>
          <a:p/>
        </p:txBody>
      </p:sp>
      <p:sp>
        <p:nvSpPr>
          <p:cNvPr id="19" name="Shape 14"/>
          <p:cNvSpPr/>
          <p:nvPr/>
        </p:nvSpPr>
        <p:spPr>
          <a:xfrm>
            <a:off x="253999" y="3540265"/>
            <a:ext cx="528319" cy="52598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B3FA0"/>
            </a:solidFill>
            <a:prstDash val="solid"/>
          </a:ln>
        </p:spPr>
        <p:txBody>
          <a:bodyPr/>
          <a:p/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6079" y="3671761"/>
            <a:ext cx="264159" cy="262991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015997" y="3408770"/>
            <a:ext cx="2184395" cy="2023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&amp; Mobile</a:t>
            </a:r>
            <a:endParaRPr lang="en-US" sz="1080" dirty="0"/>
          </a:p>
        </p:txBody>
      </p:sp>
      <p:sp>
        <p:nvSpPr>
          <p:cNvPr id="22" name="Text 16"/>
          <p:cNvSpPr txBox="1"/>
          <p:nvPr/>
        </p:nvSpPr>
        <p:spPr>
          <a:xfrm>
            <a:off x="1015997" y="3641416"/>
            <a:ext cx="2184395" cy="586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 algn="l">
              <a:spcAft>
                <a:spcPts val="100"/>
              </a:spcAft>
              <a:buSzPct val="100000"/>
              <a:buChar char="•"/>
            </a:pPr>
            <a:r>
              <a:t>Next.js 14 PWA (WebAssembly ONNX + WebAudio Chime + Hardware HUD)</a:t>
            </a:r>
            <a:endParaRPr lang="en-US" sz="1000" dirty="0"/>
          </a:p>
          <a:p>
            <a:pPr marL="114300" indent="-114300" algn="l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Leaflet.js / Mapbox</a:t>
            </a:r>
            <a:endParaRPr lang="en-US" sz="1000" dirty="0"/>
          </a:p>
          <a:p>
            <a:pPr marL="114300" indent="-114300" algn="l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/ React Native / PWA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223519" y="4329239"/>
            <a:ext cx="3007352" cy="930584"/>
          </a:xfrm>
          <a:prstGeom prst="roundRect">
            <a:avLst>
              <a:gd name="adj" fmla="val 8734"/>
            </a:avLst>
          </a:prstGeom>
          <a:solidFill>
            <a:srgbClr val="FDEEDD"/>
          </a:solidFill>
          <a:ln/>
        </p:spPr>
        <p:txBody>
          <a:bodyPr/>
          <a:p/>
        </p:txBody>
      </p:sp>
      <p:sp>
        <p:nvSpPr>
          <p:cNvPr id="24" name="Shape 18"/>
          <p:cNvSpPr/>
          <p:nvPr/>
        </p:nvSpPr>
        <p:spPr>
          <a:xfrm>
            <a:off x="253999" y="4531540"/>
            <a:ext cx="528319" cy="52598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07A1A"/>
            </a:solidFill>
            <a:prstDash val="solid"/>
          </a:ln>
        </p:spPr>
        <p:txBody>
          <a:bodyPr/>
          <a:p/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6079" y="4663035"/>
            <a:ext cx="264159" cy="262991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015997" y="4379814"/>
            <a:ext cx="2184395" cy="2023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F0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Connectivity</a:t>
            </a:r>
            <a:endParaRPr lang="en-US" sz="1080" dirty="0"/>
          </a:p>
        </p:txBody>
      </p:sp>
      <p:sp>
        <p:nvSpPr>
          <p:cNvPr id="27" name="Text 20"/>
          <p:cNvSpPr txBox="1"/>
          <p:nvPr/>
        </p:nvSpPr>
        <p:spPr>
          <a:xfrm>
            <a:off x="1015997" y="4612460"/>
            <a:ext cx="2184395" cy="627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 algn="l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for geotagging</a:t>
            </a:r>
            <a:endParaRPr lang="en-US" sz="1000" dirty="0"/>
          </a:p>
          <a:p>
            <a:pPr marL="114300" indent="-114300" algn="l">
              <a:spcAft>
                <a:spcPts val="100"/>
              </a:spcAft>
              <a:buSzPct val="100000"/>
              <a:buChar char="•"/>
            </a:pPr>
            <a:r>
              <a:t>OASIS MQTT v5 (99.8% bandwidth saved via 200-byte telemetry)</a:t>
            </a:r>
            <a:endParaRPr lang="en-US" sz="1000" dirty="0"/>
          </a:p>
          <a:p>
            <a:pPr marL="114300" indent="-114300" algn="l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for offline caching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3403591" y="880009"/>
            <a:ext cx="8686778" cy="283221"/>
          </a:xfrm>
          <a:prstGeom prst="roundRect">
            <a:avLst>
              <a:gd name="adj" fmla="val 14349"/>
            </a:avLst>
          </a:prstGeom>
          <a:solidFill>
            <a:srgbClr val="0F4C9A"/>
          </a:solidFill>
          <a:ln/>
        </p:spPr>
        <p:txBody>
          <a:bodyPr/>
          <a:p/>
        </p:txBody>
      </p:sp>
      <p:sp>
        <p:nvSpPr>
          <p:cNvPr id="29" name="Text 22"/>
          <p:cNvSpPr txBox="1"/>
          <p:nvPr/>
        </p:nvSpPr>
        <p:spPr>
          <a:xfrm>
            <a:off x="3525511" y="880009"/>
            <a:ext cx="4063990" cy="283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WORKFLOW</a:t>
            </a:r>
            <a:endParaRPr lang="en-US" sz="1080" dirty="0"/>
          </a:p>
        </p:txBody>
      </p:sp>
      <p:sp>
        <p:nvSpPr>
          <p:cNvPr id="30" name="Shape 23"/>
          <p:cNvSpPr/>
          <p:nvPr/>
        </p:nvSpPr>
        <p:spPr>
          <a:xfrm>
            <a:off x="3434071" y="1213805"/>
            <a:ext cx="8605498" cy="2407381"/>
          </a:xfrm>
          <a:prstGeom prst="roundRect">
            <a:avLst>
              <a:gd name="adj" fmla="val 3376"/>
            </a:avLst>
          </a:prstGeom>
          <a:solidFill>
            <a:srgbClr val="EDF5FF"/>
          </a:solidFill>
          <a:ln w="12700">
            <a:solidFill>
              <a:srgbClr val="9CC4EE"/>
            </a:solidFill>
            <a:prstDash val="solid"/>
          </a:ln>
        </p:spPr>
        <p:txBody>
          <a:bodyPr/>
          <a:p/>
        </p:txBody>
      </p:sp>
      <p:sp>
        <p:nvSpPr>
          <p:cNvPr id="31" name="Shape 24"/>
          <p:cNvSpPr/>
          <p:nvPr/>
        </p:nvSpPr>
        <p:spPr>
          <a:xfrm>
            <a:off x="3474711" y="1234035"/>
            <a:ext cx="4297669" cy="242761"/>
          </a:xfrm>
          <a:prstGeom prst="roundRect">
            <a:avLst>
              <a:gd name="adj" fmla="val 50222"/>
            </a:avLst>
          </a:prstGeom>
          <a:solidFill>
            <a:srgbClr val="2F6FDB"/>
          </a:solidFill>
          <a:ln/>
        </p:spPr>
        <p:txBody>
          <a:bodyPr/>
          <a:p/>
        </p:txBody>
      </p:sp>
      <p:sp>
        <p:nvSpPr>
          <p:cNvPr id="32" name="Text 25"/>
          <p:cNvSpPr txBox="1"/>
          <p:nvPr/>
        </p:nvSpPr>
        <p:spPr>
          <a:xfrm>
            <a:off x="3576311" y="1234035"/>
            <a:ext cx="4165590" cy="242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LAYER (EDGE) — REAL-TIME PROCESSING ON BUS</a:t>
            </a:r>
            <a:endParaRPr lang="en-US" sz="960" dirty="0"/>
          </a:p>
        </p:txBody>
      </p:sp>
      <p:sp>
        <p:nvSpPr>
          <p:cNvPr id="33" name="Shape 26"/>
          <p:cNvSpPr/>
          <p:nvPr/>
        </p:nvSpPr>
        <p:spPr>
          <a:xfrm>
            <a:off x="3474711" y="1537487"/>
            <a:ext cx="1706876" cy="1982549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9CC4EE"/>
            </a:solidFill>
            <a:prstDash val="solid"/>
          </a:ln>
        </p:spPr>
        <p:txBody>
          <a:bodyPr/>
          <a:p/>
        </p:txBody>
      </p:sp>
      <p:sp>
        <p:nvSpPr>
          <p:cNvPr id="34" name="Text 27"/>
          <p:cNvSpPr/>
          <p:nvPr/>
        </p:nvSpPr>
        <p:spPr>
          <a:xfrm>
            <a:off x="3555991" y="1618407"/>
            <a:ext cx="243839" cy="242761"/>
          </a:xfrm>
          <a:prstGeom prst="ellipse">
            <a:avLst/>
          </a:prstGeom>
          <a:solidFill>
            <a:srgbClr val="1D5FBF"/>
          </a:solidFill>
          <a:ln>
            <a:solidFill>
              <a:srgbClr val="1D5FB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4" dirty="0"/>
          </a:p>
        </p:txBody>
      </p:sp>
      <p:sp>
        <p:nvSpPr>
          <p:cNvPr id="35" name="Text 28"/>
          <p:cNvSpPr txBox="1"/>
          <p:nvPr/>
        </p:nvSpPr>
        <p:spPr>
          <a:xfrm>
            <a:off x="3942070" y="1598177"/>
            <a:ext cx="1209037" cy="283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1D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MULTI-CAMERA</a:t>
            </a:r>
            <a:endParaRPr lang="en-US" sz="840" dirty="0"/>
          </a:p>
          <a:p>
            <a:pPr marL="0" indent="0" algn="l">
              <a:buNone/>
            </a:pPr>
            <a:r>
              <a:rPr lang="en-US" sz="840" b="1" dirty="0">
                <a:solidFill>
                  <a:srgbClr val="1D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CAPTURE</a:t>
            </a:r>
            <a:endParaRPr lang="en-US" sz="840" dirty="0"/>
          </a:p>
        </p:txBody>
      </p:sp>
      <p:sp>
        <p:nvSpPr>
          <p:cNvPr id="36" name="Shape 29"/>
          <p:cNvSpPr/>
          <p:nvPr/>
        </p:nvSpPr>
        <p:spPr>
          <a:xfrm>
            <a:off x="5283187" y="1537487"/>
            <a:ext cx="1676396" cy="1982549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7CC48A"/>
            </a:solidFill>
            <a:prstDash val="solid"/>
          </a:ln>
        </p:spPr>
        <p:txBody>
          <a:bodyPr/>
          <a:p/>
        </p:txBody>
      </p:sp>
      <p:sp>
        <p:nvSpPr>
          <p:cNvPr id="37" name="Text 30"/>
          <p:cNvSpPr/>
          <p:nvPr/>
        </p:nvSpPr>
        <p:spPr>
          <a:xfrm>
            <a:off x="5374627" y="1618407"/>
            <a:ext cx="243839" cy="242761"/>
          </a:xfrm>
          <a:prstGeom prst="ellipse">
            <a:avLst/>
          </a:prstGeom>
          <a:solidFill>
            <a:srgbClr val="1B8A3E"/>
          </a:solidFill>
          <a:ln>
            <a:solidFill>
              <a:srgbClr val="1B8A3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4" dirty="0"/>
          </a:p>
        </p:txBody>
      </p:sp>
      <p:sp>
        <p:nvSpPr>
          <p:cNvPr id="38" name="Text 31"/>
          <p:cNvSpPr txBox="1"/>
          <p:nvPr/>
        </p:nvSpPr>
        <p:spPr>
          <a:xfrm>
            <a:off x="5669266" y="1658867"/>
            <a:ext cx="1259837" cy="16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1B8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EDGE-AI INFERENCE</a:t>
            </a:r>
            <a:endParaRPr lang="en-US" sz="840" dirty="0"/>
          </a:p>
        </p:txBody>
      </p:sp>
      <p:sp>
        <p:nvSpPr>
          <p:cNvPr id="39" name="Shape 32"/>
          <p:cNvSpPr/>
          <p:nvPr/>
        </p:nvSpPr>
        <p:spPr>
          <a:xfrm>
            <a:off x="7051022" y="1537487"/>
            <a:ext cx="1686556" cy="1982549"/>
          </a:xfrm>
          <a:prstGeom prst="roundRect">
            <a:avLst>
              <a:gd name="adj" fmla="val 3614"/>
            </a:avLst>
          </a:prstGeom>
          <a:solidFill>
            <a:srgbClr val="FFFFFF"/>
          </a:solidFill>
          <a:ln w="12700">
            <a:solidFill>
              <a:srgbClr val="B7A0E0"/>
            </a:solidFill>
            <a:prstDash val="solid"/>
          </a:ln>
        </p:spPr>
        <p:txBody>
          <a:bodyPr/>
          <a:p/>
        </p:txBody>
      </p:sp>
      <p:sp>
        <p:nvSpPr>
          <p:cNvPr id="40" name="Text 33"/>
          <p:cNvSpPr/>
          <p:nvPr/>
        </p:nvSpPr>
        <p:spPr>
          <a:xfrm>
            <a:off x="7132302" y="1618407"/>
            <a:ext cx="243839" cy="242761"/>
          </a:xfrm>
          <a:prstGeom prst="ellipse">
            <a:avLst/>
          </a:prstGeom>
          <a:solidFill>
            <a:srgbClr val="6A3DB5"/>
          </a:solidFill>
          <a:ln>
            <a:solidFill>
              <a:srgbClr val="6A3DB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4" dirty="0"/>
          </a:p>
        </p:txBody>
      </p:sp>
      <p:sp>
        <p:nvSpPr>
          <p:cNvPr id="41" name="Text 34"/>
          <p:cNvSpPr txBox="1"/>
          <p:nvPr/>
        </p:nvSpPr>
        <p:spPr>
          <a:xfrm>
            <a:off x="7437101" y="1598177"/>
            <a:ext cx="1269997" cy="283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6A3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CLASSIFICATION</a:t>
            </a:r>
            <a:endParaRPr lang="en-US" sz="840" dirty="0"/>
          </a:p>
          <a:p>
            <a:pPr marL="0" indent="0" algn="l">
              <a:buNone/>
            </a:pPr>
            <a:r>
              <a:rPr lang="en-US" sz="840" b="1" dirty="0">
                <a:solidFill>
                  <a:srgbClr val="6A3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GEO-TAGGING</a:t>
            </a:r>
            <a:endParaRPr lang="en-US" sz="840" dirty="0"/>
          </a:p>
        </p:txBody>
      </p:sp>
      <p:sp>
        <p:nvSpPr>
          <p:cNvPr id="42" name="Shape 35"/>
          <p:cNvSpPr/>
          <p:nvPr/>
        </p:nvSpPr>
        <p:spPr>
          <a:xfrm>
            <a:off x="8829018" y="1537487"/>
            <a:ext cx="1605276" cy="1982549"/>
          </a:xfrm>
          <a:prstGeom prst="roundRect">
            <a:avLst>
              <a:gd name="adj" fmla="val 3797"/>
            </a:avLst>
          </a:prstGeom>
          <a:solidFill>
            <a:srgbClr val="FFF3E3"/>
          </a:solidFill>
          <a:ln w="12700">
            <a:solidFill>
              <a:srgbClr val="F0B36A"/>
            </a:solidFill>
            <a:prstDash val="solid"/>
          </a:ln>
        </p:spPr>
        <p:txBody>
          <a:bodyPr/>
          <a:p/>
        </p:txBody>
      </p:sp>
      <p:sp>
        <p:nvSpPr>
          <p:cNvPr id="43" name="Text 36"/>
          <p:cNvSpPr/>
          <p:nvPr/>
        </p:nvSpPr>
        <p:spPr>
          <a:xfrm>
            <a:off x="8920458" y="1618407"/>
            <a:ext cx="243839" cy="242761"/>
          </a:xfrm>
          <a:prstGeom prst="ellipse">
            <a:avLst/>
          </a:prstGeom>
          <a:solidFill>
            <a:srgbClr val="E27414"/>
          </a:solidFill>
          <a:ln>
            <a:solidFill>
              <a:srgbClr val="E2741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4" dirty="0"/>
          </a:p>
        </p:txBody>
      </p:sp>
      <p:sp>
        <p:nvSpPr>
          <p:cNvPr id="44" name="Text 37"/>
          <p:cNvSpPr txBox="1"/>
          <p:nvPr/>
        </p:nvSpPr>
        <p:spPr>
          <a:xfrm>
            <a:off x="9265897" y="1598177"/>
            <a:ext cx="1137917" cy="283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E27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ANPR &amp; INCIDENT</a:t>
            </a:r>
            <a:endParaRPr lang="en-US" sz="840" dirty="0"/>
          </a:p>
          <a:p>
            <a:pPr marL="0" indent="0" algn="l">
              <a:buNone/>
            </a:pPr>
            <a:r>
              <a:rPr lang="en-US" sz="840" b="1" dirty="0">
                <a:solidFill>
                  <a:srgbClr val="E27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840" dirty="0"/>
          </a:p>
        </p:txBody>
      </p:sp>
      <p:sp>
        <p:nvSpPr>
          <p:cNvPr id="45" name="Shape 38"/>
          <p:cNvSpPr/>
          <p:nvPr/>
        </p:nvSpPr>
        <p:spPr>
          <a:xfrm>
            <a:off x="10535894" y="1537487"/>
            <a:ext cx="1483356" cy="1982549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 w="12700">
            <a:solidFill>
              <a:srgbClr val="9CC4EE"/>
            </a:solidFill>
            <a:prstDash val="solid"/>
          </a:ln>
        </p:spPr>
        <p:txBody>
          <a:bodyPr/>
          <a:p/>
        </p:txBody>
      </p:sp>
      <p:sp>
        <p:nvSpPr>
          <p:cNvPr id="46" name="Text 39"/>
          <p:cNvSpPr/>
          <p:nvPr/>
        </p:nvSpPr>
        <p:spPr>
          <a:xfrm>
            <a:off x="10617173" y="1618407"/>
            <a:ext cx="243839" cy="242761"/>
          </a:xfrm>
          <a:prstGeom prst="ellipse">
            <a:avLst/>
          </a:prstGeom>
          <a:solidFill>
            <a:srgbClr val="1D5FBF"/>
          </a:solidFill>
          <a:ln>
            <a:solidFill>
              <a:srgbClr val="1D5FB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4" dirty="0"/>
          </a:p>
        </p:txBody>
      </p:sp>
      <p:sp>
        <p:nvSpPr>
          <p:cNvPr id="47" name="Text 40"/>
          <p:cNvSpPr txBox="1"/>
          <p:nvPr/>
        </p:nvSpPr>
        <p:spPr>
          <a:xfrm>
            <a:off x="10942293" y="1658867"/>
            <a:ext cx="1046477" cy="16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1D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TRANSMISSION</a:t>
            </a:r>
            <a:endParaRPr lang="en-US" sz="840" dirty="0"/>
          </a:p>
        </p:txBody>
      </p:sp>
      <p:pic>
        <p:nvPicPr>
          <p:cNvPr id="4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76311" y="1901628"/>
            <a:ext cx="1564636" cy="930584"/>
          </a:xfrm>
          <a:prstGeom prst="rect">
            <a:avLst/>
          </a:prstGeom>
        </p:spPr>
      </p:pic>
      <p:pic>
        <p:nvPicPr>
          <p:cNvPr id="4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38786" y="1901628"/>
            <a:ext cx="965198" cy="768743"/>
          </a:xfrm>
          <a:prstGeom prst="rect">
            <a:avLst/>
          </a:prstGeom>
        </p:spPr>
      </p:pic>
      <p:pic>
        <p:nvPicPr>
          <p:cNvPr id="50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62782" y="1982549"/>
            <a:ext cx="914398" cy="728283"/>
          </a:xfrm>
          <a:prstGeom prst="rect">
            <a:avLst/>
          </a:prstGeom>
        </p:spPr>
      </p:pic>
      <p:pic>
        <p:nvPicPr>
          <p:cNvPr id="51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81418" y="1921858"/>
            <a:ext cx="1402076" cy="667593"/>
          </a:xfrm>
          <a:prstGeom prst="rect">
            <a:avLst/>
          </a:prstGeom>
        </p:spPr>
      </p:pic>
      <p:pic>
        <p:nvPicPr>
          <p:cNvPr id="52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820373" y="1901628"/>
            <a:ext cx="914398" cy="880009"/>
          </a:xfrm>
          <a:prstGeom prst="rect">
            <a:avLst/>
          </a:prstGeom>
        </p:spPr>
      </p:pic>
      <p:sp>
        <p:nvSpPr>
          <p:cNvPr id="53" name="Shape 41"/>
          <p:cNvSpPr/>
          <p:nvPr/>
        </p:nvSpPr>
        <p:spPr>
          <a:xfrm>
            <a:off x="8046700" y="2023009"/>
            <a:ext cx="121920" cy="121381"/>
          </a:xfrm>
          <a:prstGeom prst="ellipse">
            <a:avLst/>
          </a:prstGeom>
          <a:solidFill>
            <a:srgbClr val="E8352B"/>
          </a:solidFill>
          <a:ln/>
        </p:spPr>
        <p:txBody>
          <a:bodyPr/>
          <a:p/>
        </p:txBody>
      </p:sp>
      <p:sp>
        <p:nvSpPr>
          <p:cNvPr id="54" name="Text 42"/>
          <p:cNvSpPr txBox="1"/>
          <p:nvPr/>
        </p:nvSpPr>
        <p:spPr>
          <a:xfrm>
            <a:off x="8209259" y="2002779"/>
            <a:ext cx="711198" cy="16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</a:t>
            </a:r>
            <a:endParaRPr lang="en-US" sz="840" dirty="0"/>
          </a:p>
        </p:txBody>
      </p:sp>
      <p:sp>
        <p:nvSpPr>
          <p:cNvPr id="55" name="Shape 43"/>
          <p:cNvSpPr/>
          <p:nvPr/>
        </p:nvSpPr>
        <p:spPr>
          <a:xfrm>
            <a:off x="8046700" y="2225310"/>
            <a:ext cx="121920" cy="121381"/>
          </a:xfrm>
          <a:prstGeom prst="ellipse">
            <a:avLst/>
          </a:prstGeom>
          <a:solidFill>
            <a:srgbClr val="F09A1F"/>
          </a:solidFill>
          <a:ln/>
        </p:spPr>
        <p:txBody>
          <a:bodyPr/>
          <a:p/>
        </p:txBody>
      </p:sp>
      <p:sp>
        <p:nvSpPr>
          <p:cNvPr id="56" name="Text 44"/>
          <p:cNvSpPr txBox="1"/>
          <p:nvPr/>
        </p:nvSpPr>
        <p:spPr>
          <a:xfrm>
            <a:off x="8209259" y="2205080"/>
            <a:ext cx="711198" cy="16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</a:t>
            </a:r>
            <a:endParaRPr lang="en-US" sz="840" dirty="0"/>
          </a:p>
        </p:txBody>
      </p:sp>
      <p:sp>
        <p:nvSpPr>
          <p:cNvPr id="57" name="Shape 45"/>
          <p:cNvSpPr/>
          <p:nvPr/>
        </p:nvSpPr>
        <p:spPr>
          <a:xfrm>
            <a:off x="8046700" y="2397265"/>
            <a:ext cx="121920" cy="121381"/>
          </a:xfrm>
          <a:prstGeom prst="ellipse">
            <a:avLst/>
          </a:prstGeom>
          <a:solidFill>
            <a:srgbClr val="2E9E3B"/>
          </a:solidFill>
          <a:ln/>
        </p:spPr>
        <p:txBody>
          <a:bodyPr/>
          <a:p/>
        </p:txBody>
      </p:sp>
      <p:sp>
        <p:nvSpPr>
          <p:cNvPr id="58" name="Text 46"/>
          <p:cNvSpPr txBox="1"/>
          <p:nvPr/>
        </p:nvSpPr>
        <p:spPr>
          <a:xfrm>
            <a:off x="8209259" y="2377035"/>
            <a:ext cx="711198" cy="16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Pedestrian</a:t>
            </a:r>
            <a:endParaRPr lang="en-US" sz="840" dirty="0"/>
          </a:p>
        </p:txBody>
      </p:sp>
      <p:sp>
        <p:nvSpPr>
          <p:cNvPr id="59" name="Shape 47"/>
          <p:cNvSpPr/>
          <p:nvPr/>
        </p:nvSpPr>
        <p:spPr>
          <a:xfrm>
            <a:off x="8046700" y="2569221"/>
            <a:ext cx="121920" cy="121381"/>
          </a:xfrm>
          <a:prstGeom prst="ellipse">
            <a:avLst/>
          </a:prstGeom>
          <a:solidFill>
            <a:srgbClr val="E8352B"/>
          </a:solidFill>
          <a:ln/>
        </p:spPr>
        <p:txBody>
          <a:bodyPr/>
          <a:p/>
        </p:txBody>
      </p:sp>
      <p:sp>
        <p:nvSpPr>
          <p:cNvPr id="60" name="Text 48"/>
          <p:cNvSpPr txBox="1"/>
          <p:nvPr/>
        </p:nvSpPr>
        <p:spPr>
          <a:xfrm>
            <a:off x="8209259" y="2548991"/>
            <a:ext cx="711198" cy="16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</a:t>
            </a:r>
            <a:endParaRPr lang="en-US" sz="840" dirty="0"/>
          </a:p>
        </p:txBody>
      </p:sp>
      <p:sp>
        <p:nvSpPr>
          <p:cNvPr id="61" name="Text 49"/>
          <p:cNvSpPr txBox="1"/>
          <p:nvPr/>
        </p:nvSpPr>
        <p:spPr>
          <a:xfrm>
            <a:off x="3616951" y="2872673"/>
            <a:ext cx="1473196" cy="455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Bus-mounted cameras capture continuous video streams.</a:t>
            </a:r>
            <a:endParaRPr lang="en-US" sz="960" dirty="0"/>
          </a:p>
        </p:txBody>
      </p:sp>
      <p:sp>
        <p:nvSpPr>
          <p:cNvPr id="62" name="Text 50"/>
          <p:cNvSpPr txBox="1"/>
          <p:nvPr/>
        </p:nvSpPr>
        <p:spPr>
          <a:xfrm>
            <a:off x="5354307" y="2751292"/>
            <a:ext cx="1523996" cy="303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2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AI processes streams in real time:</a:t>
            </a:r>
            <a:endParaRPr lang="en-US" sz="920" dirty="0"/>
          </a:p>
        </p:txBody>
      </p:sp>
      <p:sp>
        <p:nvSpPr>
          <p:cNvPr id="63" name="Text 51"/>
          <p:cNvSpPr txBox="1"/>
          <p:nvPr/>
        </p:nvSpPr>
        <p:spPr>
          <a:xfrm>
            <a:off x="5354307" y="3014283"/>
            <a:ext cx="1544316" cy="606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 algn="l">
              <a:buSzPct val="100000"/>
              <a:buChar char="•"/>
            </a:pPr>
            <a:r>
              <a:rPr lang="en-US" sz="92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defect detection</a:t>
            </a:r>
            <a:endParaRPr lang="en-US" sz="920" dirty="0"/>
          </a:p>
          <a:p>
            <a:pPr marL="114300" indent="-114300" algn="l">
              <a:buSzPct val="100000"/>
              <a:buChar char="•"/>
            </a:pPr>
            <a:r>
              <a:rPr lang="en-US" sz="92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detection/counting</a:t>
            </a:r>
            <a:endParaRPr lang="en-US" sz="920" dirty="0"/>
          </a:p>
          <a:p>
            <a:pPr marL="114300" indent="-114300" algn="l">
              <a:buSzPct val="100000"/>
              <a:buChar char="•"/>
            </a:pPr>
            <a:r>
              <a:rPr lang="en-US" sz="92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Pedestrian detection</a:t>
            </a:r>
            <a:endParaRPr lang="en-US" sz="920" dirty="0"/>
          </a:p>
          <a:p>
            <a:pPr marL="114300" indent="-114300" algn="l">
              <a:buSzPct val="100000"/>
              <a:buChar char="•"/>
            </a:pPr>
            <a:r>
              <a:rPr lang="en-US" sz="92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detection</a:t>
            </a:r>
            <a:endParaRPr lang="en-US" sz="920" dirty="0"/>
          </a:p>
        </p:txBody>
      </p:sp>
      <p:sp>
        <p:nvSpPr>
          <p:cNvPr id="64" name="Text 52"/>
          <p:cNvSpPr txBox="1"/>
          <p:nvPr/>
        </p:nvSpPr>
        <p:spPr>
          <a:xfrm>
            <a:off x="7132302" y="2862558"/>
            <a:ext cx="1523996" cy="657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event tagged with GPS location, timestamp, severity, confidence score and vehicle details.</a:t>
            </a:r>
            <a:endParaRPr lang="en-US" sz="960" dirty="0"/>
          </a:p>
        </p:txBody>
      </p:sp>
      <p:sp>
        <p:nvSpPr>
          <p:cNvPr id="65" name="Text 53"/>
          <p:cNvSpPr txBox="1"/>
          <p:nvPr/>
        </p:nvSpPr>
        <p:spPr>
          <a:xfrm>
            <a:off x="8940778" y="2660257"/>
            <a:ext cx="1422396" cy="16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2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hit-and-run / rash driving:</a:t>
            </a:r>
            <a:endParaRPr lang="en-US" sz="920" dirty="0"/>
          </a:p>
        </p:txBody>
      </p:sp>
      <p:sp>
        <p:nvSpPr>
          <p:cNvPr id="66" name="Text 54"/>
          <p:cNvSpPr txBox="1"/>
          <p:nvPr/>
        </p:nvSpPr>
        <p:spPr>
          <a:xfrm>
            <a:off x="8940778" y="2832212"/>
            <a:ext cx="1473196" cy="627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 algn="l">
              <a:buSzPct val="100000"/>
              <a:buChar char="•"/>
            </a:pPr>
            <a:r>
              <a:rPr lang="en-US" sz="92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offending vehicle</a:t>
            </a:r>
            <a:endParaRPr lang="en-US" sz="920" dirty="0"/>
          </a:p>
          <a:p>
            <a:pPr marL="114300" indent="-114300" algn="l">
              <a:buSzPct val="100000"/>
              <a:buChar char="•"/>
            </a:pPr>
            <a:r>
              <a:rPr lang="en-US" sz="92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registration number</a:t>
            </a:r>
            <a:endParaRPr lang="en-US" sz="920" dirty="0"/>
          </a:p>
          <a:p>
            <a:pPr marL="114300" indent="-114300" algn="l">
              <a:buSzPct val="100000"/>
              <a:buChar char="•"/>
            </a:pPr>
            <a:r>
              <a:rPr lang="en-US" sz="92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</a:t>
            </a:r>
            <a:endParaRPr lang="en-US" sz="920" dirty="0"/>
          </a:p>
          <a:p>
            <a:pPr marL="114300" indent="-114300" algn="l">
              <a:buSzPct val="100000"/>
              <a:buChar char="•"/>
            </a:pPr>
            <a:r>
              <a:rPr lang="en-US" sz="92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 &amp; GPS</a:t>
            </a:r>
            <a:endParaRPr lang="en-US" sz="920" dirty="0"/>
          </a:p>
        </p:txBody>
      </p:sp>
      <p:sp>
        <p:nvSpPr>
          <p:cNvPr id="67" name="Text 55"/>
          <p:cNvSpPr txBox="1"/>
          <p:nvPr/>
        </p:nvSpPr>
        <p:spPr>
          <a:xfrm>
            <a:off x="10667973" y="2862558"/>
            <a:ext cx="1320797" cy="627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/ lightweight sync transmits alerts and aggregated data to central server.</a:t>
            </a:r>
            <a:endParaRPr lang="en-US" sz="960" dirty="0"/>
          </a:p>
        </p:txBody>
      </p:sp>
      <p:sp>
        <p:nvSpPr>
          <p:cNvPr id="68" name="Shape 56"/>
          <p:cNvSpPr/>
          <p:nvPr/>
        </p:nvSpPr>
        <p:spPr>
          <a:xfrm>
            <a:off x="5161267" y="2286000"/>
            <a:ext cx="142240" cy="121381"/>
          </a:xfrm>
          <a:prstGeom prst="rightArrow">
            <a:avLst/>
          </a:prstGeom>
          <a:solidFill>
            <a:srgbClr val="1D5FBF"/>
          </a:solidFill>
          <a:ln/>
        </p:spPr>
        <p:txBody>
          <a:bodyPr/>
          <a:p/>
        </p:txBody>
      </p:sp>
      <p:sp>
        <p:nvSpPr>
          <p:cNvPr id="69" name="Shape 57"/>
          <p:cNvSpPr/>
          <p:nvPr/>
        </p:nvSpPr>
        <p:spPr>
          <a:xfrm>
            <a:off x="6939263" y="2286000"/>
            <a:ext cx="142240" cy="121381"/>
          </a:xfrm>
          <a:prstGeom prst="rightArrow">
            <a:avLst/>
          </a:prstGeom>
          <a:solidFill>
            <a:srgbClr val="1D5FBF"/>
          </a:solidFill>
          <a:ln/>
        </p:spPr>
        <p:txBody>
          <a:bodyPr/>
          <a:p/>
        </p:txBody>
      </p:sp>
      <p:sp>
        <p:nvSpPr>
          <p:cNvPr id="70" name="Shape 58"/>
          <p:cNvSpPr/>
          <p:nvPr/>
        </p:nvSpPr>
        <p:spPr>
          <a:xfrm>
            <a:off x="8717258" y="2286000"/>
            <a:ext cx="142240" cy="121381"/>
          </a:xfrm>
          <a:prstGeom prst="rightArrow">
            <a:avLst/>
          </a:prstGeom>
          <a:solidFill>
            <a:srgbClr val="1D5FBF"/>
          </a:solidFill>
          <a:ln/>
        </p:spPr>
        <p:txBody>
          <a:bodyPr/>
          <a:p/>
        </p:txBody>
      </p:sp>
      <p:sp>
        <p:nvSpPr>
          <p:cNvPr id="71" name="Shape 59"/>
          <p:cNvSpPr/>
          <p:nvPr/>
        </p:nvSpPr>
        <p:spPr>
          <a:xfrm>
            <a:off x="10413974" y="2286000"/>
            <a:ext cx="142240" cy="121381"/>
          </a:xfrm>
          <a:prstGeom prst="rightArrow">
            <a:avLst/>
          </a:prstGeom>
          <a:solidFill>
            <a:srgbClr val="1D5FBF"/>
          </a:solidFill>
          <a:ln/>
        </p:spPr>
        <p:txBody>
          <a:bodyPr/>
          <a:p/>
        </p:txBody>
      </p:sp>
      <p:sp>
        <p:nvSpPr>
          <p:cNvPr id="72" name="Shape 60"/>
          <p:cNvSpPr/>
          <p:nvPr/>
        </p:nvSpPr>
        <p:spPr>
          <a:xfrm>
            <a:off x="11186132" y="3540265"/>
            <a:ext cx="111760" cy="141611"/>
          </a:xfrm>
          <a:prstGeom prst="downArrow">
            <a:avLst/>
          </a:prstGeom>
          <a:solidFill>
            <a:srgbClr val="1D5FBF"/>
          </a:solidFill>
          <a:ln/>
        </p:spPr>
        <p:txBody>
          <a:bodyPr/>
          <a:p/>
        </p:txBody>
      </p:sp>
      <p:sp>
        <p:nvSpPr>
          <p:cNvPr id="73" name="Shape 61"/>
          <p:cNvSpPr/>
          <p:nvPr/>
        </p:nvSpPr>
        <p:spPr>
          <a:xfrm>
            <a:off x="3434071" y="3661646"/>
            <a:ext cx="8605498" cy="1800478"/>
          </a:xfrm>
          <a:prstGeom prst="roundRect">
            <a:avLst>
              <a:gd name="adj" fmla="val 4514"/>
            </a:avLst>
          </a:prstGeom>
          <a:solidFill>
            <a:srgbClr val="F1EDFB"/>
          </a:solidFill>
          <a:ln w="12700">
            <a:solidFill>
              <a:srgbClr val="B7A0E0"/>
            </a:solidFill>
            <a:prstDash val="solid"/>
          </a:ln>
        </p:spPr>
        <p:txBody>
          <a:bodyPr/>
          <a:p/>
        </p:txBody>
      </p:sp>
      <p:sp>
        <p:nvSpPr>
          <p:cNvPr id="74" name="Shape 62"/>
          <p:cNvSpPr/>
          <p:nvPr/>
        </p:nvSpPr>
        <p:spPr>
          <a:xfrm>
            <a:off x="3474711" y="3691991"/>
            <a:ext cx="4754868" cy="232646"/>
          </a:xfrm>
          <a:prstGeom prst="roundRect">
            <a:avLst>
              <a:gd name="adj" fmla="val 52406"/>
            </a:avLst>
          </a:prstGeom>
          <a:solidFill>
            <a:srgbClr val="6D48C8"/>
          </a:solidFill>
          <a:ln/>
        </p:spPr>
        <p:txBody>
          <a:bodyPr/>
          <a:p/>
        </p:txBody>
      </p:sp>
      <p:sp>
        <p:nvSpPr>
          <p:cNvPr id="75" name="Text 63"/>
          <p:cNvSpPr txBox="1"/>
          <p:nvPr/>
        </p:nvSpPr>
        <p:spPr>
          <a:xfrm>
            <a:off x="3576311" y="3691991"/>
            <a:ext cx="4622788" cy="23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LAYER (CLOUD) — URBAN INTELLIGENCE &amp; ANALYTICS</a:t>
            </a:r>
            <a:endParaRPr lang="en-US" sz="960" dirty="0"/>
          </a:p>
        </p:txBody>
      </p:sp>
      <p:sp>
        <p:nvSpPr>
          <p:cNvPr id="76" name="Shape 64"/>
          <p:cNvSpPr/>
          <p:nvPr/>
        </p:nvSpPr>
        <p:spPr>
          <a:xfrm>
            <a:off x="3474711" y="3995442"/>
            <a:ext cx="1706876" cy="1385761"/>
          </a:xfrm>
          <a:prstGeom prst="roundRect">
            <a:avLst>
              <a:gd name="adj" fmla="val 4399"/>
            </a:avLst>
          </a:prstGeom>
          <a:solidFill>
            <a:srgbClr val="FFFFFF"/>
          </a:solidFill>
          <a:ln w="12700">
            <a:solidFill>
              <a:srgbClr val="C9BDEB"/>
            </a:solidFill>
            <a:prstDash val="solid"/>
          </a:ln>
        </p:spPr>
        <p:txBody>
          <a:bodyPr/>
          <a:p/>
        </p:txBody>
      </p:sp>
      <p:sp>
        <p:nvSpPr>
          <p:cNvPr id="77" name="Text 65"/>
          <p:cNvSpPr/>
          <p:nvPr/>
        </p:nvSpPr>
        <p:spPr>
          <a:xfrm>
            <a:off x="3555991" y="4005558"/>
            <a:ext cx="243839" cy="242761"/>
          </a:xfrm>
          <a:prstGeom prst="ellipse">
            <a:avLst/>
          </a:prstGeom>
          <a:solidFill>
            <a:srgbClr val="1D5FBF"/>
          </a:solidFill>
          <a:ln>
            <a:solidFill>
              <a:srgbClr val="1D5FB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4" dirty="0"/>
          </a:p>
        </p:txBody>
      </p:sp>
      <p:sp>
        <p:nvSpPr>
          <p:cNvPr id="78" name="Text 66"/>
          <p:cNvSpPr txBox="1"/>
          <p:nvPr/>
        </p:nvSpPr>
        <p:spPr>
          <a:xfrm>
            <a:off x="3942070" y="4046018"/>
            <a:ext cx="1209037" cy="16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1D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AGGREGATION</a:t>
            </a:r>
            <a:endParaRPr lang="en-US" sz="840" dirty="0"/>
          </a:p>
        </p:txBody>
      </p:sp>
      <p:sp>
        <p:nvSpPr>
          <p:cNvPr id="79" name="Shape 67"/>
          <p:cNvSpPr/>
          <p:nvPr/>
        </p:nvSpPr>
        <p:spPr>
          <a:xfrm>
            <a:off x="5283187" y="3995442"/>
            <a:ext cx="1676396" cy="1385761"/>
          </a:xfrm>
          <a:prstGeom prst="roundRect">
            <a:avLst>
              <a:gd name="adj" fmla="val 4399"/>
            </a:avLst>
          </a:prstGeom>
          <a:solidFill>
            <a:srgbClr val="FFFFFF"/>
          </a:solidFill>
          <a:ln w="12700">
            <a:solidFill>
              <a:srgbClr val="C9BDEB"/>
            </a:solidFill>
            <a:prstDash val="solid"/>
          </a:ln>
        </p:spPr>
        <p:txBody>
          <a:bodyPr/>
          <a:p/>
        </p:txBody>
      </p:sp>
      <p:sp>
        <p:nvSpPr>
          <p:cNvPr id="80" name="Text 68"/>
          <p:cNvSpPr/>
          <p:nvPr/>
        </p:nvSpPr>
        <p:spPr>
          <a:xfrm>
            <a:off x="5374627" y="4005558"/>
            <a:ext cx="243839" cy="242761"/>
          </a:xfrm>
          <a:prstGeom prst="ellipse">
            <a:avLst/>
          </a:prstGeom>
          <a:solidFill>
            <a:srgbClr val="1B8A3E"/>
          </a:solidFill>
          <a:ln>
            <a:solidFill>
              <a:srgbClr val="1B8A3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4" dirty="0"/>
          </a:p>
        </p:txBody>
      </p:sp>
      <p:sp>
        <p:nvSpPr>
          <p:cNvPr id="81" name="Text 69"/>
          <p:cNvSpPr txBox="1"/>
          <p:nvPr/>
        </p:nvSpPr>
        <p:spPr>
          <a:xfrm>
            <a:off x="5669266" y="4046018"/>
            <a:ext cx="1259837" cy="16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1B8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 DASHBOARD</a:t>
            </a:r>
            <a:endParaRPr lang="en-US" sz="840" dirty="0"/>
          </a:p>
        </p:txBody>
      </p:sp>
      <p:sp>
        <p:nvSpPr>
          <p:cNvPr id="82" name="Shape 70"/>
          <p:cNvSpPr/>
          <p:nvPr/>
        </p:nvSpPr>
        <p:spPr>
          <a:xfrm>
            <a:off x="7051022" y="3995442"/>
            <a:ext cx="1686556" cy="1385761"/>
          </a:xfrm>
          <a:prstGeom prst="roundRect">
            <a:avLst>
              <a:gd name="adj" fmla="val 4399"/>
            </a:avLst>
          </a:prstGeom>
          <a:solidFill>
            <a:srgbClr val="FFFFFF"/>
          </a:solidFill>
          <a:ln w="12700">
            <a:solidFill>
              <a:srgbClr val="C9BDEB"/>
            </a:solidFill>
            <a:prstDash val="solid"/>
          </a:ln>
        </p:spPr>
        <p:txBody>
          <a:bodyPr/>
          <a:p/>
        </p:txBody>
      </p:sp>
      <p:sp>
        <p:nvSpPr>
          <p:cNvPr id="83" name="Text 71"/>
          <p:cNvSpPr/>
          <p:nvPr/>
        </p:nvSpPr>
        <p:spPr>
          <a:xfrm>
            <a:off x="7132302" y="4005558"/>
            <a:ext cx="243839" cy="242761"/>
          </a:xfrm>
          <a:prstGeom prst="ellipse">
            <a:avLst/>
          </a:prstGeom>
          <a:solidFill>
            <a:srgbClr val="6A3DB5"/>
          </a:solidFill>
          <a:ln>
            <a:solidFill>
              <a:srgbClr val="6A3DB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4" dirty="0"/>
          </a:p>
        </p:txBody>
      </p:sp>
      <p:sp>
        <p:nvSpPr>
          <p:cNvPr id="84" name="Text 72"/>
          <p:cNvSpPr txBox="1"/>
          <p:nvPr/>
        </p:nvSpPr>
        <p:spPr>
          <a:xfrm>
            <a:off x="7467581" y="4046018"/>
            <a:ext cx="1239517" cy="16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6A3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 HEAT MAPS</a:t>
            </a:r>
            <a:endParaRPr lang="en-US" sz="840" dirty="0"/>
          </a:p>
        </p:txBody>
      </p:sp>
      <p:sp>
        <p:nvSpPr>
          <p:cNvPr id="85" name="Shape 73"/>
          <p:cNvSpPr/>
          <p:nvPr/>
        </p:nvSpPr>
        <p:spPr>
          <a:xfrm>
            <a:off x="8829018" y="3995442"/>
            <a:ext cx="1483356" cy="1385761"/>
          </a:xfrm>
          <a:prstGeom prst="roundRect">
            <a:avLst>
              <a:gd name="adj" fmla="val 4399"/>
            </a:avLst>
          </a:prstGeom>
          <a:solidFill>
            <a:srgbClr val="FFFFFF"/>
          </a:solidFill>
          <a:ln w="12700">
            <a:solidFill>
              <a:srgbClr val="C9BDEB"/>
            </a:solidFill>
            <a:prstDash val="solid"/>
          </a:ln>
        </p:spPr>
        <p:txBody>
          <a:bodyPr/>
          <a:p/>
        </p:txBody>
      </p:sp>
      <p:sp>
        <p:nvSpPr>
          <p:cNvPr id="86" name="Text 74"/>
          <p:cNvSpPr/>
          <p:nvPr/>
        </p:nvSpPr>
        <p:spPr>
          <a:xfrm>
            <a:off x="8859498" y="4005558"/>
            <a:ext cx="243839" cy="242761"/>
          </a:xfrm>
          <a:prstGeom prst="ellipse">
            <a:avLst/>
          </a:prstGeom>
          <a:solidFill>
            <a:srgbClr val="1D5FBF"/>
          </a:solidFill>
          <a:ln>
            <a:solidFill>
              <a:srgbClr val="1D5FB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104" dirty="0"/>
          </a:p>
        </p:txBody>
      </p:sp>
      <p:sp>
        <p:nvSpPr>
          <p:cNvPr id="87" name="Text 75"/>
          <p:cNvSpPr txBox="1"/>
          <p:nvPr/>
        </p:nvSpPr>
        <p:spPr>
          <a:xfrm>
            <a:off x="9164297" y="4046018"/>
            <a:ext cx="1117597" cy="16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1D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 ANALYSIS</a:t>
            </a:r>
            <a:endParaRPr lang="en-US" sz="840" dirty="0"/>
          </a:p>
        </p:txBody>
      </p:sp>
      <p:sp>
        <p:nvSpPr>
          <p:cNvPr id="88" name="Shape 76"/>
          <p:cNvSpPr/>
          <p:nvPr/>
        </p:nvSpPr>
        <p:spPr>
          <a:xfrm>
            <a:off x="10413974" y="3995442"/>
            <a:ext cx="1605276" cy="1385761"/>
          </a:xfrm>
          <a:prstGeom prst="roundRect">
            <a:avLst>
              <a:gd name="adj" fmla="val 4399"/>
            </a:avLst>
          </a:prstGeom>
          <a:solidFill>
            <a:srgbClr val="FFFFFF"/>
          </a:solidFill>
          <a:ln w="12700">
            <a:solidFill>
              <a:srgbClr val="C9BDEB"/>
            </a:solidFill>
            <a:prstDash val="solid"/>
          </a:ln>
        </p:spPr>
        <p:txBody>
          <a:bodyPr/>
          <a:p/>
        </p:txBody>
      </p:sp>
      <p:sp>
        <p:nvSpPr>
          <p:cNvPr id="89" name="Text 77"/>
          <p:cNvSpPr/>
          <p:nvPr/>
        </p:nvSpPr>
        <p:spPr>
          <a:xfrm>
            <a:off x="10474934" y="4005558"/>
            <a:ext cx="243839" cy="242761"/>
          </a:xfrm>
          <a:prstGeom prst="ellipse">
            <a:avLst/>
          </a:prstGeom>
          <a:solidFill>
            <a:srgbClr val="1B8A3E"/>
          </a:solidFill>
          <a:ln>
            <a:solidFill>
              <a:srgbClr val="1B8A3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4" dirty="0"/>
          </a:p>
        </p:txBody>
      </p:sp>
      <p:sp>
        <p:nvSpPr>
          <p:cNvPr id="90" name="Text 78"/>
          <p:cNvSpPr txBox="1"/>
          <p:nvPr/>
        </p:nvSpPr>
        <p:spPr>
          <a:xfrm>
            <a:off x="10789893" y="4046018"/>
            <a:ext cx="1198877" cy="16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1B8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DELAY ESTIMATION</a:t>
            </a:r>
            <a:endParaRPr lang="en-US" sz="840" dirty="0"/>
          </a:p>
        </p:txBody>
      </p:sp>
      <p:pic>
        <p:nvPicPr>
          <p:cNvPr id="91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911590" y="4268549"/>
            <a:ext cx="822958" cy="687823"/>
          </a:xfrm>
          <a:prstGeom prst="rect">
            <a:avLst/>
          </a:prstGeom>
        </p:spPr>
      </p:pic>
      <p:pic>
        <p:nvPicPr>
          <p:cNvPr id="92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618466" y="4288779"/>
            <a:ext cx="1056637" cy="667593"/>
          </a:xfrm>
          <a:prstGeom prst="rect">
            <a:avLst/>
          </a:prstGeom>
        </p:spPr>
      </p:pic>
      <p:pic>
        <p:nvPicPr>
          <p:cNvPr id="93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335502" y="4288779"/>
            <a:ext cx="1117597" cy="647363"/>
          </a:xfrm>
          <a:prstGeom prst="rect">
            <a:avLst/>
          </a:prstGeom>
        </p:spPr>
      </p:pic>
      <p:pic>
        <p:nvPicPr>
          <p:cNvPr id="94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042377" y="4288779"/>
            <a:ext cx="1076957" cy="586673"/>
          </a:xfrm>
          <a:prstGeom prst="rect">
            <a:avLst/>
          </a:prstGeom>
        </p:spPr>
      </p:pic>
      <p:pic>
        <p:nvPicPr>
          <p:cNvPr id="95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647653" y="4288779"/>
            <a:ext cx="1097277" cy="627133"/>
          </a:xfrm>
          <a:prstGeom prst="rect">
            <a:avLst/>
          </a:prstGeom>
        </p:spPr>
      </p:pic>
      <p:sp>
        <p:nvSpPr>
          <p:cNvPr id="96" name="Text 79"/>
          <p:cNvSpPr txBox="1"/>
          <p:nvPr/>
        </p:nvSpPr>
        <p:spPr>
          <a:xfrm>
            <a:off x="3606791" y="4976602"/>
            <a:ext cx="1523996" cy="404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Fleet-wide aggregation of events, images and telemetry from all buses.</a:t>
            </a:r>
            <a:endParaRPr lang="en-US" sz="960" dirty="0"/>
          </a:p>
        </p:txBody>
      </p:sp>
      <p:sp>
        <p:nvSpPr>
          <p:cNvPr id="97" name="Text 80"/>
          <p:cNvSpPr txBox="1"/>
          <p:nvPr/>
        </p:nvSpPr>
        <p:spPr>
          <a:xfrm>
            <a:off x="5455906" y="4976602"/>
            <a:ext cx="1422396" cy="404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map with events, vehicle locations and incident details.</a:t>
            </a:r>
            <a:endParaRPr lang="en-US" sz="960" dirty="0"/>
          </a:p>
        </p:txBody>
      </p:sp>
      <p:sp>
        <p:nvSpPr>
          <p:cNvPr id="98" name="Text 81"/>
          <p:cNvSpPr txBox="1"/>
          <p:nvPr/>
        </p:nvSpPr>
        <p:spPr>
          <a:xfrm>
            <a:off x="7213582" y="4976602"/>
            <a:ext cx="1422396" cy="303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traffic hotspots and bottlenecks.</a:t>
            </a:r>
            <a:endParaRPr lang="en-US" sz="960" dirty="0"/>
          </a:p>
        </p:txBody>
      </p:sp>
      <p:sp>
        <p:nvSpPr>
          <p:cNvPr id="99" name="Text 82"/>
          <p:cNvSpPr txBox="1"/>
          <p:nvPr/>
        </p:nvSpPr>
        <p:spPr>
          <a:xfrm>
            <a:off x="8940778" y="4976602"/>
            <a:ext cx="1269997" cy="303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patterns, demand and mobility insights.</a:t>
            </a:r>
            <a:endParaRPr lang="en-US" sz="960" dirty="0"/>
          </a:p>
        </p:txBody>
      </p:sp>
      <p:sp>
        <p:nvSpPr>
          <p:cNvPr id="100" name="Text 83"/>
          <p:cNvSpPr txBox="1"/>
          <p:nvPr/>
        </p:nvSpPr>
        <p:spPr>
          <a:xfrm>
            <a:off x="10617173" y="4976602"/>
            <a:ext cx="1320797" cy="303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6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delays and suggest optimal routes.</a:t>
            </a:r>
            <a:endParaRPr lang="en-US" sz="960" dirty="0"/>
          </a:p>
        </p:txBody>
      </p:sp>
      <p:sp>
        <p:nvSpPr>
          <p:cNvPr id="101" name="Shape 84"/>
          <p:cNvSpPr/>
          <p:nvPr/>
        </p:nvSpPr>
        <p:spPr>
          <a:xfrm>
            <a:off x="5161267" y="4572000"/>
            <a:ext cx="142240" cy="121381"/>
          </a:xfrm>
          <a:prstGeom prst="rightArrow">
            <a:avLst/>
          </a:prstGeom>
          <a:solidFill>
            <a:srgbClr val="1D5FBF"/>
          </a:solidFill>
          <a:ln/>
        </p:spPr>
        <p:txBody>
          <a:bodyPr/>
          <a:p/>
        </p:txBody>
      </p:sp>
      <p:sp>
        <p:nvSpPr>
          <p:cNvPr id="102" name="Shape 85"/>
          <p:cNvSpPr/>
          <p:nvPr/>
        </p:nvSpPr>
        <p:spPr>
          <a:xfrm>
            <a:off x="6939263" y="4572000"/>
            <a:ext cx="142240" cy="121381"/>
          </a:xfrm>
          <a:prstGeom prst="rightArrow">
            <a:avLst/>
          </a:prstGeom>
          <a:solidFill>
            <a:srgbClr val="1D5FBF"/>
          </a:solidFill>
          <a:ln/>
        </p:spPr>
        <p:txBody>
          <a:bodyPr/>
          <a:p/>
        </p:txBody>
      </p:sp>
      <p:sp>
        <p:nvSpPr>
          <p:cNvPr id="103" name="Shape 86"/>
          <p:cNvSpPr/>
          <p:nvPr/>
        </p:nvSpPr>
        <p:spPr>
          <a:xfrm>
            <a:off x="8666458" y="4572000"/>
            <a:ext cx="142240" cy="121381"/>
          </a:xfrm>
          <a:prstGeom prst="rightArrow">
            <a:avLst/>
          </a:prstGeom>
          <a:solidFill>
            <a:srgbClr val="1D5FBF"/>
          </a:solidFill>
          <a:ln/>
        </p:spPr>
        <p:txBody>
          <a:bodyPr/>
          <a:p/>
        </p:txBody>
      </p:sp>
      <p:sp>
        <p:nvSpPr>
          <p:cNvPr id="104" name="Shape 87"/>
          <p:cNvSpPr/>
          <p:nvPr/>
        </p:nvSpPr>
        <p:spPr>
          <a:xfrm>
            <a:off x="10292054" y="4572000"/>
            <a:ext cx="142240" cy="121381"/>
          </a:xfrm>
          <a:prstGeom prst="rightArrow">
            <a:avLst/>
          </a:prstGeom>
          <a:solidFill>
            <a:srgbClr val="1D5FBF"/>
          </a:solidFill>
          <a:ln/>
        </p:spPr>
        <p:txBody>
          <a:bodyPr/>
          <a:p/>
        </p:txBody>
      </p:sp>
      <p:sp>
        <p:nvSpPr>
          <p:cNvPr id="105" name="Shape 88"/>
          <p:cNvSpPr/>
          <p:nvPr/>
        </p:nvSpPr>
        <p:spPr>
          <a:xfrm>
            <a:off x="152400" y="5522814"/>
            <a:ext cx="11917650" cy="627133"/>
          </a:xfrm>
          <a:prstGeom prst="roundRect">
            <a:avLst>
              <a:gd name="adj" fmla="val 12961"/>
            </a:avLst>
          </a:prstGeom>
          <a:solidFill>
            <a:srgbClr val="EAF5FF"/>
          </a:solidFill>
          <a:ln w="12700">
            <a:solidFill>
              <a:srgbClr val="BBD6F2"/>
            </a:solidFill>
            <a:prstDash val="solid"/>
          </a:ln>
        </p:spPr>
        <p:txBody>
          <a:bodyPr/>
          <a:p/>
        </p:txBody>
      </p:sp>
      <p:pic>
        <p:nvPicPr>
          <p:cNvPr id="106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45439" y="5715000"/>
            <a:ext cx="365759" cy="364142"/>
          </a:xfrm>
          <a:prstGeom prst="rect">
            <a:avLst/>
          </a:prstGeom>
        </p:spPr>
      </p:pic>
      <p:sp>
        <p:nvSpPr>
          <p:cNvPr id="107" name="Text 89"/>
          <p:cNvSpPr txBox="1"/>
          <p:nvPr/>
        </p:nvSpPr>
        <p:spPr>
          <a:xfrm>
            <a:off x="863598" y="5664425"/>
            <a:ext cx="1269997" cy="4652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1F4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TECHNICAL</a:t>
            </a:r>
            <a:endParaRPr lang="en-US" sz="1120" dirty="0"/>
          </a:p>
          <a:p>
            <a:pPr marL="0" indent="0" algn="l">
              <a:buNone/>
            </a:pPr>
            <a:r>
              <a:rPr lang="en-US" sz="1120" b="1" dirty="0">
                <a:solidFill>
                  <a:srgbClr val="1F4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20" dirty="0"/>
          </a:p>
        </p:txBody>
      </p:sp>
      <p:sp>
        <p:nvSpPr>
          <p:cNvPr id="108" name="Shape 90"/>
          <p:cNvSpPr/>
          <p:nvPr/>
        </p:nvSpPr>
        <p:spPr>
          <a:xfrm>
            <a:off x="2367274" y="5674540"/>
            <a:ext cx="223519" cy="222531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4FB0"/>
            </a:solidFill>
            <a:prstDash val="solid"/>
          </a:ln>
        </p:spPr>
        <p:txBody>
          <a:bodyPr/>
          <a:p/>
        </p:txBody>
      </p:sp>
      <p:pic>
        <p:nvPicPr>
          <p:cNvPr id="109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423154" y="5730173"/>
            <a:ext cx="111760" cy="111265"/>
          </a:xfrm>
          <a:prstGeom prst="rect">
            <a:avLst/>
          </a:prstGeom>
        </p:spPr>
      </p:pic>
      <p:sp>
        <p:nvSpPr>
          <p:cNvPr id="110" name="Text 91"/>
          <p:cNvSpPr txBox="1"/>
          <p:nvPr/>
        </p:nvSpPr>
        <p:spPr>
          <a:xfrm>
            <a:off x="2712713" y="5664425"/>
            <a:ext cx="1300477" cy="4652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4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Multi-camera streams (front, rear, sides, cabin) for comprehensive coverage.</a:t>
            </a:r>
            <a:endParaRPr lang="en-US" sz="840" dirty="0"/>
          </a:p>
        </p:txBody>
      </p:sp>
      <p:sp>
        <p:nvSpPr>
          <p:cNvPr id="111" name="Shape 92"/>
          <p:cNvSpPr/>
          <p:nvPr/>
        </p:nvSpPr>
        <p:spPr>
          <a:xfrm>
            <a:off x="4277349" y="5674540"/>
            <a:ext cx="223519" cy="222531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4FB0"/>
            </a:solidFill>
            <a:prstDash val="solid"/>
          </a:ln>
        </p:spPr>
        <p:txBody>
          <a:bodyPr/>
          <a:p/>
        </p:txBody>
      </p:sp>
      <p:pic>
        <p:nvPicPr>
          <p:cNvPr id="112" name="Image 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333229" y="5730173"/>
            <a:ext cx="111760" cy="111265"/>
          </a:xfrm>
          <a:prstGeom prst="rect">
            <a:avLst/>
          </a:prstGeom>
        </p:spPr>
      </p:pic>
      <p:sp>
        <p:nvSpPr>
          <p:cNvPr id="113" name="Text 93"/>
          <p:cNvSpPr txBox="1"/>
          <p:nvPr/>
        </p:nvSpPr>
        <p:spPr>
          <a:xfrm>
            <a:off x="4602468" y="5664425"/>
            <a:ext cx="1402076" cy="4652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4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density estimation via detection, classification and counting.</a:t>
            </a:r>
            <a:endParaRPr lang="en-US" sz="840" dirty="0"/>
          </a:p>
        </p:txBody>
      </p:sp>
      <p:sp>
        <p:nvSpPr>
          <p:cNvPr id="114" name="Shape 94"/>
          <p:cNvSpPr/>
          <p:nvPr/>
        </p:nvSpPr>
        <p:spPr>
          <a:xfrm>
            <a:off x="6116305" y="5674540"/>
            <a:ext cx="223519" cy="222531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4FB0"/>
            </a:solidFill>
            <a:prstDash val="solid"/>
          </a:ln>
        </p:spPr>
        <p:txBody>
          <a:bodyPr/>
          <a:p/>
        </p:txBody>
      </p:sp>
      <p:pic>
        <p:nvPicPr>
          <p:cNvPr id="115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172185" y="5730173"/>
            <a:ext cx="111760" cy="111265"/>
          </a:xfrm>
          <a:prstGeom prst="rect">
            <a:avLst/>
          </a:prstGeom>
        </p:spPr>
      </p:pic>
      <p:sp>
        <p:nvSpPr>
          <p:cNvPr id="116" name="Text 95"/>
          <p:cNvSpPr txBox="1"/>
          <p:nvPr/>
        </p:nvSpPr>
        <p:spPr>
          <a:xfrm>
            <a:off x="6441424" y="5664425"/>
            <a:ext cx="975358" cy="4652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4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bottleneck identification.</a:t>
            </a:r>
            <a:endParaRPr lang="en-US" sz="840" dirty="0"/>
          </a:p>
        </p:txBody>
      </p:sp>
      <p:sp>
        <p:nvSpPr>
          <p:cNvPr id="117" name="Shape 96"/>
          <p:cNvSpPr/>
          <p:nvPr/>
        </p:nvSpPr>
        <p:spPr>
          <a:xfrm>
            <a:off x="7538701" y="5674540"/>
            <a:ext cx="223519" cy="222531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4FB0"/>
            </a:solidFill>
            <a:prstDash val="solid"/>
          </a:ln>
        </p:spPr>
        <p:txBody>
          <a:bodyPr/>
          <a:p/>
        </p:txBody>
      </p:sp>
      <p:pic>
        <p:nvPicPr>
          <p:cNvPr id="118" name="Image 19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594581" y="5730173"/>
            <a:ext cx="111760" cy="111265"/>
          </a:xfrm>
          <a:prstGeom prst="rect">
            <a:avLst/>
          </a:prstGeom>
        </p:spPr>
      </p:pic>
      <p:sp>
        <p:nvSpPr>
          <p:cNvPr id="119" name="Text 97"/>
          <p:cNvSpPr txBox="1"/>
          <p:nvPr/>
        </p:nvSpPr>
        <p:spPr>
          <a:xfrm>
            <a:off x="7802860" y="5664425"/>
            <a:ext cx="1198877" cy="4652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4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Vulnerable pedestrian detection (school children crossing).</a:t>
            </a:r>
            <a:endParaRPr lang="en-US" sz="840" dirty="0"/>
          </a:p>
        </p:txBody>
      </p:sp>
      <p:sp>
        <p:nvSpPr>
          <p:cNvPr id="120" name="Shape 98"/>
          <p:cNvSpPr/>
          <p:nvPr/>
        </p:nvSpPr>
        <p:spPr>
          <a:xfrm>
            <a:off x="9143977" y="5674540"/>
            <a:ext cx="223519" cy="222531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4FB0"/>
            </a:solidFill>
            <a:prstDash val="solid"/>
          </a:ln>
        </p:spPr>
        <p:txBody>
          <a:bodyPr/>
          <a:p/>
        </p:txBody>
      </p:sp>
      <p:pic>
        <p:nvPicPr>
          <p:cNvPr id="121" name="Image 20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199857" y="5730173"/>
            <a:ext cx="111760" cy="111265"/>
          </a:xfrm>
          <a:prstGeom prst="rect">
            <a:avLst/>
          </a:prstGeom>
        </p:spPr>
      </p:pic>
      <p:sp>
        <p:nvSpPr>
          <p:cNvPr id="122" name="Text 99"/>
          <p:cNvSpPr txBox="1"/>
          <p:nvPr/>
        </p:nvSpPr>
        <p:spPr>
          <a:xfrm>
            <a:off x="9428456" y="5664425"/>
            <a:ext cx="1137917" cy="4652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4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Hit-and-run / rash driving detection with ANPR, confidence score, timestamp, GPS.</a:t>
            </a:r>
            <a:endParaRPr lang="en-US" sz="840" dirty="0"/>
          </a:p>
        </p:txBody>
      </p:sp>
      <p:sp>
        <p:nvSpPr>
          <p:cNvPr id="123" name="Shape 100"/>
          <p:cNvSpPr/>
          <p:nvPr/>
        </p:nvSpPr>
        <p:spPr>
          <a:xfrm>
            <a:off x="10769573" y="5674540"/>
            <a:ext cx="223519" cy="222531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4FB0"/>
            </a:solidFill>
            <a:prstDash val="solid"/>
          </a:ln>
        </p:spPr>
        <p:txBody>
          <a:bodyPr/>
          <a:p/>
        </p:txBody>
      </p:sp>
      <p:pic>
        <p:nvPicPr>
          <p:cNvPr id="124" name="Image 21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825453" y="5730173"/>
            <a:ext cx="111760" cy="111265"/>
          </a:xfrm>
          <a:prstGeom prst="rect">
            <a:avLst/>
          </a:prstGeom>
        </p:spPr>
      </p:pic>
      <p:sp>
        <p:nvSpPr>
          <p:cNvPr id="125" name="Text 101"/>
          <p:cNvSpPr txBox="1"/>
          <p:nvPr/>
        </p:nvSpPr>
        <p:spPr>
          <a:xfrm>
            <a:off x="11074372" y="5664425"/>
            <a:ext cx="965198" cy="4652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4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alert sharing with central command system.</a:t>
            </a:r>
            <a:endParaRPr lang="en-US" sz="840" dirty="0"/>
          </a:p>
        </p:txBody>
      </p:sp>
      <p:sp>
        <p:nvSpPr>
          <p:cNvPr id="126" name="Shape 102"/>
          <p:cNvSpPr/>
          <p:nvPr/>
        </p:nvSpPr>
        <p:spPr>
          <a:xfrm>
            <a:off x="2153915" y="5623965"/>
            <a:ext cx="0" cy="445062"/>
          </a:xfrm>
          <a:prstGeom prst="line">
            <a:avLst/>
          </a:prstGeom>
          <a:noFill/>
          <a:ln w="9525">
            <a:solidFill>
              <a:srgbClr val="9CC4EE"/>
            </a:solidFill>
            <a:prstDash val="solid"/>
          </a:ln>
        </p:spPr>
        <p:txBody>
          <a:bodyPr/>
          <a:p/>
        </p:txBody>
      </p:sp>
      <p:sp>
        <p:nvSpPr>
          <p:cNvPr id="127" name="Shape 103"/>
          <p:cNvSpPr/>
          <p:nvPr/>
        </p:nvSpPr>
        <p:spPr>
          <a:xfrm>
            <a:off x="4013190" y="5623965"/>
            <a:ext cx="0" cy="445062"/>
          </a:xfrm>
          <a:prstGeom prst="line">
            <a:avLst/>
          </a:prstGeom>
          <a:noFill/>
          <a:ln w="9525">
            <a:solidFill>
              <a:srgbClr val="9CC4EE"/>
            </a:solidFill>
            <a:prstDash val="solid"/>
          </a:ln>
        </p:spPr>
        <p:txBody>
          <a:bodyPr/>
          <a:p/>
        </p:txBody>
      </p:sp>
      <p:sp>
        <p:nvSpPr>
          <p:cNvPr id="128" name="Shape 104"/>
          <p:cNvSpPr/>
          <p:nvPr/>
        </p:nvSpPr>
        <p:spPr>
          <a:xfrm>
            <a:off x="5943585" y="5623965"/>
            <a:ext cx="0" cy="445062"/>
          </a:xfrm>
          <a:prstGeom prst="line">
            <a:avLst/>
          </a:prstGeom>
          <a:noFill/>
          <a:ln w="9525">
            <a:solidFill>
              <a:srgbClr val="9CC4EE"/>
            </a:solidFill>
            <a:prstDash val="solid"/>
          </a:ln>
        </p:spPr>
        <p:txBody>
          <a:bodyPr/>
          <a:p/>
        </p:txBody>
      </p:sp>
      <p:sp>
        <p:nvSpPr>
          <p:cNvPr id="129" name="Shape 105"/>
          <p:cNvSpPr/>
          <p:nvPr/>
        </p:nvSpPr>
        <p:spPr>
          <a:xfrm>
            <a:off x="7426941" y="5623965"/>
            <a:ext cx="0" cy="445062"/>
          </a:xfrm>
          <a:prstGeom prst="line">
            <a:avLst/>
          </a:prstGeom>
          <a:noFill/>
          <a:ln w="9525">
            <a:solidFill>
              <a:srgbClr val="9CC4EE"/>
            </a:solidFill>
            <a:prstDash val="solid"/>
          </a:ln>
        </p:spPr>
        <p:txBody>
          <a:bodyPr/>
          <a:p/>
        </p:txBody>
      </p:sp>
      <p:sp>
        <p:nvSpPr>
          <p:cNvPr id="130" name="Shape 106"/>
          <p:cNvSpPr/>
          <p:nvPr/>
        </p:nvSpPr>
        <p:spPr>
          <a:xfrm>
            <a:off x="8991578" y="5623965"/>
            <a:ext cx="0" cy="445062"/>
          </a:xfrm>
          <a:prstGeom prst="line">
            <a:avLst/>
          </a:prstGeom>
          <a:noFill/>
          <a:ln w="9525">
            <a:solidFill>
              <a:srgbClr val="9CC4EE"/>
            </a:solidFill>
            <a:prstDash val="solid"/>
          </a:ln>
        </p:spPr>
        <p:txBody>
          <a:bodyPr/>
          <a:p/>
        </p:txBody>
      </p:sp>
      <p:sp>
        <p:nvSpPr>
          <p:cNvPr id="131" name="Shape 107"/>
          <p:cNvSpPr/>
          <p:nvPr/>
        </p:nvSpPr>
        <p:spPr>
          <a:xfrm>
            <a:off x="10607013" y="5623965"/>
            <a:ext cx="0" cy="445062"/>
          </a:xfrm>
          <a:prstGeom prst="line">
            <a:avLst/>
          </a:prstGeom>
          <a:noFill/>
          <a:ln w="9525">
            <a:solidFill>
              <a:srgbClr val="9CC4EE"/>
            </a:solidFill>
            <a:prstDash val="solid"/>
          </a:ln>
        </p:spPr>
        <p:txBody>
          <a:bodyPr/>
          <a:p/>
        </p:txBody>
      </p:sp>
      <p:sp>
        <p:nvSpPr>
          <p:cNvPr id="132" name="Shape 108"/>
          <p:cNvSpPr/>
          <p:nvPr/>
        </p:nvSpPr>
        <p:spPr>
          <a:xfrm>
            <a:off x="0" y="6271327"/>
            <a:ext cx="12191970" cy="586673"/>
          </a:xfrm>
          <a:prstGeom prst="rect">
            <a:avLst/>
          </a:prstGeom>
          <a:solidFill>
            <a:srgbClr val="0B6BBE"/>
          </a:solidFill>
          <a:ln/>
        </p:spPr>
        <p:txBody>
          <a:bodyPr/>
          <a:p/>
        </p:txBody>
      </p:sp>
      <p:sp>
        <p:nvSpPr>
          <p:cNvPr id="133" name="Text 109"/>
          <p:cNvSpPr txBox="1"/>
          <p:nvPr/>
        </p:nvSpPr>
        <p:spPr>
          <a:xfrm>
            <a:off x="0" y="6311788"/>
            <a:ext cx="12191970" cy="505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@SIH Idea submission- Template</a:t>
            </a:r>
            <a:endParaRPr lang="en-US" sz="960" dirty="0"/>
          </a:p>
        </p:txBody>
      </p:sp>
      <p:sp>
        <p:nvSpPr>
          <p:cNvPr id="134" name="Text 110"/>
          <p:cNvSpPr txBox="1"/>
          <p:nvPr/>
        </p:nvSpPr>
        <p:spPr>
          <a:xfrm>
            <a:off x="11480771" y="6311788"/>
            <a:ext cx="406399" cy="505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" y="50650"/>
            <a:ext cx="1686556" cy="638189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6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Vigilance</a:t>
            </a:r>
            <a:endParaRPr lang="en-US" sz="1760" dirty="0"/>
          </a:p>
        </p:txBody>
      </p:sp>
      <p:sp>
        <p:nvSpPr>
          <p:cNvPr id="3" name="Text 1"/>
          <p:cNvSpPr txBox="1"/>
          <p:nvPr/>
        </p:nvSpPr>
        <p:spPr>
          <a:xfrm>
            <a:off x="1879595" y="101300"/>
            <a:ext cx="8127980" cy="465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4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FEASIBILITY AND VIABILITY</a:t>
            </a:r>
            <a:endParaRPr lang="en-US" sz="304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5975" y="30390"/>
            <a:ext cx="2204714" cy="95221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031995" y="567279"/>
            <a:ext cx="8127980" cy="263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20" b="1" dirty="0">
                <a:solidFill>
                  <a:srgbClr val="1F4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Urban Intelligence Platform Using Public Transport Fleet</a:t>
            </a:r>
            <a:endParaRPr lang="en-US" sz="1520" dirty="0"/>
          </a:p>
        </p:txBody>
      </p:sp>
      <p:sp>
        <p:nvSpPr>
          <p:cNvPr id="6" name="Shape 3"/>
          <p:cNvSpPr/>
          <p:nvPr/>
        </p:nvSpPr>
        <p:spPr>
          <a:xfrm>
            <a:off x="152400" y="891439"/>
            <a:ext cx="3911590" cy="4558493"/>
          </a:xfrm>
          <a:prstGeom prst="roundRect">
            <a:avLst>
              <a:gd name="adj" fmla="val 2078"/>
            </a:avLst>
          </a:prstGeom>
          <a:solidFill>
            <a:srgbClr val="F1FAF1"/>
          </a:solidFill>
          <a:ln w="19050">
            <a:solidFill>
              <a:srgbClr val="2E9E3B"/>
            </a:solidFill>
            <a:prstDash val="solid"/>
          </a:ln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172720" y="911699"/>
            <a:ext cx="3870950" cy="425459"/>
          </a:xfrm>
          <a:prstGeom prst="roundRect">
            <a:avLst>
              <a:gd name="adj" fmla="val 19104"/>
            </a:avLst>
          </a:prstGeom>
          <a:solidFill>
            <a:srgbClr val="1E8E2E"/>
          </a:solidFill>
          <a:ln/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416559" y="952219"/>
            <a:ext cx="345439" cy="344419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679" y="1023129"/>
            <a:ext cx="203199" cy="2026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63598" y="911699"/>
            <a:ext cx="3098792" cy="4254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</a:t>
            </a:r>
            <a:endParaRPr lang="en-US" sz="1680" dirty="0"/>
          </a:p>
        </p:txBody>
      </p:sp>
      <p:sp>
        <p:nvSpPr>
          <p:cNvPr id="11" name="Shape 7"/>
          <p:cNvSpPr/>
          <p:nvPr/>
        </p:nvSpPr>
        <p:spPr>
          <a:xfrm>
            <a:off x="233679" y="1397938"/>
            <a:ext cx="3749031" cy="729359"/>
          </a:xfrm>
          <a:prstGeom prst="roundRect">
            <a:avLst>
              <a:gd name="adj" fmla="val 8358"/>
            </a:avLst>
          </a:prstGeom>
          <a:solidFill>
            <a:srgbClr val="E3F3E3"/>
          </a:solidFill>
          <a:ln/>
        </p:spPr>
        <p:txBody>
          <a:bodyPr/>
          <a:p/>
        </p:txBody>
      </p:sp>
      <p:sp>
        <p:nvSpPr>
          <p:cNvPr id="12" name="Shape 8"/>
          <p:cNvSpPr/>
          <p:nvPr/>
        </p:nvSpPr>
        <p:spPr>
          <a:xfrm>
            <a:off x="325119" y="1468848"/>
            <a:ext cx="589279" cy="587539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8E2E"/>
            </a:solidFill>
            <a:prstDash val="solid"/>
          </a:ln>
        </p:spPr>
        <p:txBody>
          <a:bodyPr/>
          <a:p/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679" y="1630928"/>
            <a:ext cx="264159" cy="26338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148077" y="1438458"/>
            <a:ext cx="2793993" cy="6685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8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Data Sources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existing public transport fleet cameras and open datasets (e.g., RDD2022, CRDDC2022) for model training.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233679" y="2167817"/>
            <a:ext cx="3749031" cy="729359"/>
          </a:xfrm>
          <a:prstGeom prst="roundRect">
            <a:avLst>
              <a:gd name="adj" fmla="val 8358"/>
            </a:avLst>
          </a:prstGeom>
          <a:solidFill>
            <a:srgbClr val="E3F3E3"/>
          </a:solidFill>
          <a:ln/>
        </p:spPr>
        <p:txBody>
          <a:bodyPr/>
          <a:p/>
        </p:txBody>
      </p:sp>
      <p:sp>
        <p:nvSpPr>
          <p:cNvPr id="16" name="Shape 11"/>
          <p:cNvSpPr/>
          <p:nvPr/>
        </p:nvSpPr>
        <p:spPr>
          <a:xfrm>
            <a:off x="325119" y="2238727"/>
            <a:ext cx="589279" cy="587539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8E2E"/>
            </a:solidFill>
            <a:prstDash val="solid"/>
          </a:ln>
        </p:spPr>
        <p:txBody>
          <a:bodyPr/>
          <a:p/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679" y="2400806"/>
            <a:ext cx="264159" cy="26338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148077" y="2208337"/>
            <a:ext cx="2793993" cy="6685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8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&amp; Efficient AI</a:t>
            </a:r>
            <a:endParaRPr lang="en-US" sz="1000" dirty="0"/>
          </a:p>
          <a:p>
            <a:pPr marL="0" indent="0" algn="l">
              <a:buNone/>
            </a:pPr>
            <a:r>
              <a:t>INT8 ONNX achieves 28.4ms latency at 23.0 FPS on ARM CPU using only 110 MB RAM (3.2 MB binary).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233679" y="2937696"/>
            <a:ext cx="3749031" cy="729359"/>
          </a:xfrm>
          <a:prstGeom prst="roundRect">
            <a:avLst>
              <a:gd name="adj" fmla="val 8358"/>
            </a:avLst>
          </a:prstGeom>
          <a:solidFill>
            <a:srgbClr val="E3F3E3"/>
          </a:solidFill>
          <a:ln/>
        </p:spPr>
        <p:txBody>
          <a:bodyPr/>
          <a:p/>
        </p:txBody>
      </p:sp>
      <p:sp>
        <p:nvSpPr>
          <p:cNvPr id="20" name="Shape 14"/>
          <p:cNvSpPr/>
          <p:nvPr/>
        </p:nvSpPr>
        <p:spPr>
          <a:xfrm>
            <a:off x="325119" y="3008606"/>
            <a:ext cx="589279" cy="587539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8E2E"/>
            </a:solidFill>
            <a:prstDash val="solid"/>
          </a:ln>
        </p:spPr>
        <p:txBody>
          <a:bodyPr/>
          <a:p/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7679" y="3170685"/>
            <a:ext cx="264159" cy="26338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148077" y="2978216"/>
            <a:ext cx="2793993" cy="6685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8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+ Metadata Availability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GPS, timestamp and road metadata are readily available from fleet systems.</a:t>
            </a:r>
            <a:endParaRPr lang="en-US" sz="1000" dirty="0"/>
          </a:p>
        </p:txBody>
      </p:sp>
      <p:sp>
        <p:nvSpPr>
          <p:cNvPr id="23" name="Shape 16"/>
          <p:cNvSpPr/>
          <p:nvPr/>
        </p:nvSpPr>
        <p:spPr>
          <a:xfrm>
            <a:off x="233679" y="3707575"/>
            <a:ext cx="3749031" cy="769879"/>
          </a:xfrm>
          <a:prstGeom prst="roundRect">
            <a:avLst>
              <a:gd name="adj" fmla="val 7918"/>
            </a:avLst>
          </a:prstGeom>
          <a:solidFill>
            <a:srgbClr val="E3F3E3"/>
          </a:solidFill>
          <a:ln/>
        </p:spPr>
        <p:txBody>
          <a:bodyPr/>
          <a:p/>
        </p:txBody>
      </p:sp>
      <p:sp>
        <p:nvSpPr>
          <p:cNvPr id="24" name="Shape 17"/>
          <p:cNvSpPr/>
          <p:nvPr/>
        </p:nvSpPr>
        <p:spPr>
          <a:xfrm>
            <a:off x="325119" y="3798744"/>
            <a:ext cx="589279" cy="587539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8E2E"/>
            </a:solidFill>
            <a:prstDash val="solid"/>
          </a:ln>
        </p:spPr>
        <p:txBody>
          <a:bodyPr/>
          <a:p/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7679" y="3960824"/>
            <a:ext cx="264159" cy="26338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1148077" y="3748095"/>
            <a:ext cx="2793993" cy="7090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8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&amp; Low-Cost Operation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caching and lightweight MQTT ensure operation even in low-connectivity areas and reduce infrastructure costs.</a:t>
            </a:r>
            <a:endParaRPr lang="en-US" sz="1000" dirty="0"/>
          </a:p>
        </p:txBody>
      </p:sp>
      <p:sp>
        <p:nvSpPr>
          <p:cNvPr id="27" name="Shape 19"/>
          <p:cNvSpPr/>
          <p:nvPr/>
        </p:nvSpPr>
        <p:spPr>
          <a:xfrm>
            <a:off x="233679" y="4507843"/>
            <a:ext cx="3749031" cy="729359"/>
          </a:xfrm>
          <a:prstGeom prst="roundRect">
            <a:avLst>
              <a:gd name="adj" fmla="val 8358"/>
            </a:avLst>
          </a:prstGeom>
          <a:solidFill>
            <a:srgbClr val="E3F3E3"/>
          </a:solidFill>
          <a:ln/>
        </p:spPr>
        <p:txBody>
          <a:bodyPr/>
          <a:p/>
        </p:txBody>
      </p:sp>
      <p:sp>
        <p:nvSpPr>
          <p:cNvPr id="28" name="Shape 20"/>
          <p:cNvSpPr/>
          <p:nvPr/>
        </p:nvSpPr>
        <p:spPr>
          <a:xfrm>
            <a:off x="325119" y="4578753"/>
            <a:ext cx="589279" cy="587539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8E2E"/>
            </a:solidFill>
            <a:prstDash val="solid"/>
          </a:ln>
        </p:spPr>
        <p:txBody>
          <a:bodyPr/>
          <a:p/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7679" y="4740833"/>
            <a:ext cx="264159" cy="263380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1148077" y="4548363"/>
            <a:ext cx="2793993" cy="6685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8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Architecture</a:t>
            </a:r>
            <a:endParaRPr lang="en-US" sz="1000" dirty="0"/>
          </a:p>
          <a:p>
            <a:pPr marL="0" indent="0" algn="l">
              <a:buNone/>
            </a:pPr>
            <a:r>
              <a:t>Multi-city ready with modular city_config.json: Chennai (GCC), Bengaluru (BBMP), Delhi (MCD).</a:t>
            </a:r>
            <a:endParaRPr lang="en-US" sz="1000" dirty="0"/>
          </a:p>
        </p:txBody>
      </p:sp>
      <p:sp>
        <p:nvSpPr>
          <p:cNvPr id="31" name="Shape 22"/>
          <p:cNvSpPr/>
          <p:nvPr/>
        </p:nvSpPr>
        <p:spPr>
          <a:xfrm>
            <a:off x="4185910" y="891439"/>
            <a:ext cx="3799831" cy="4558493"/>
          </a:xfrm>
          <a:prstGeom prst="roundRect">
            <a:avLst>
              <a:gd name="adj" fmla="val 2139"/>
            </a:avLst>
          </a:prstGeom>
          <a:solidFill>
            <a:srgbClr val="FEF4EA"/>
          </a:solidFill>
          <a:ln w="19050">
            <a:solidFill>
              <a:srgbClr val="F08A2A"/>
            </a:solidFill>
            <a:prstDash val="solid"/>
          </a:ln>
        </p:spPr>
        <p:txBody>
          <a:bodyPr/>
          <a:p/>
        </p:txBody>
      </p:sp>
      <p:sp>
        <p:nvSpPr>
          <p:cNvPr id="32" name="Shape 23"/>
          <p:cNvSpPr/>
          <p:nvPr/>
        </p:nvSpPr>
        <p:spPr>
          <a:xfrm>
            <a:off x="4206229" y="911699"/>
            <a:ext cx="3759191" cy="425459"/>
          </a:xfrm>
          <a:prstGeom prst="roundRect">
            <a:avLst>
              <a:gd name="adj" fmla="val 19104"/>
            </a:avLst>
          </a:prstGeom>
          <a:solidFill>
            <a:srgbClr val="E2740F"/>
          </a:solidFill>
          <a:ln/>
        </p:spPr>
        <p:txBody>
          <a:bodyPr/>
          <a:p/>
        </p:txBody>
      </p:sp>
      <p:sp>
        <p:nvSpPr>
          <p:cNvPr id="33" name="Shape 24"/>
          <p:cNvSpPr/>
          <p:nvPr/>
        </p:nvSpPr>
        <p:spPr>
          <a:xfrm>
            <a:off x="4450069" y="952219"/>
            <a:ext cx="345439" cy="344419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21189" y="1023129"/>
            <a:ext cx="203199" cy="202600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4897108" y="911699"/>
            <a:ext cx="2987033" cy="4254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680" dirty="0"/>
          </a:p>
        </p:txBody>
      </p:sp>
      <p:sp>
        <p:nvSpPr>
          <p:cNvPr id="36" name="Shape 26"/>
          <p:cNvSpPr/>
          <p:nvPr/>
        </p:nvSpPr>
        <p:spPr>
          <a:xfrm>
            <a:off x="4267189" y="1397938"/>
            <a:ext cx="3637271" cy="729359"/>
          </a:xfrm>
          <a:prstGeom prst="roundRect">
            <a:avLst>
              <a:gd name="adj" fmla="val 8358"/>
            </a:avLst>
          </a:prstGeom>
          <a:solidFill>
            <a:srgbClr val="FCE8D6"/>
          </a:solidFill>
          <a:ln/>
        </p:spPr>
        <p:txBody>
          <a:bodyPr/>
          <a:p/>
        </p:txBody>
      </p:sp>
      <p:sp>
        <p:nvSpPr>
          <p:cNvPr id="37" name="Shape 27"/>
          <p:cNvSpPr/>
          <p:nvPr/>
        </p:nvSpPr>
        <p:spPr>
          <a:xfrm>
            <a:off x="4368789" y="1468848"/>
            <a:ext cx="589279" cy="587539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2740F"/>
            </a:solidFill>
            <a:prstDash val="solid"/>
          </a:ln>
        </p:spPr>
        <p:txBody>
          <a:bodyPr/>
          <a:p/>
        </p:txBody>
      </p:sp>
      <p:pic>
        <p:nvPicPr>
          <p:cNvPr id="38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31349" y="1630928"/>
            <a:ext cx="264159" cy="263380"/>
          </a:xfrm>
          <a:prstGeom prst="rect">
            <a:avLst/>
          </a:prstGeom>
        </p:spPr>
      </p:pic>
      <p:sp>
        <p:nvSpPr>
          <p:cNvPr id="39" name="Text 28"/>
          <p:cNvSpPr txBox="1"/>
          <p:nvPr/>
        </p:nvSpPr>
        <p:spPr>
          <a:xfrm>
            <a:off x="5222227" y="1438458"/>
            <a:ext cx="2641593" cy="6685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27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Limitations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road images vary in lighting, weather and road conditions, affecting detection accuracy.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4267189" y="2167817"/>
            <a:ext cx="3637271" cy="729359"/>
          </a:xfrm>
          <a:prstGeom prst="roundRect">
            <a:avLst>
              <a:gd name="adj" fmla="val 8358"/>
            </a:avLst>
          </a:prstGeom>
          <a:solidFill>
            <a:srgbClr val="FCE8D6"/>
          </a:solidFill>
          <a:ln/>
        </p:spPr>
        <p:txBody>
          <a:bodyPr/>
          <a:p/>
        </p:txBody>
      </p:sp>
      <p:sp>
        <p:nvSpPr>
          <p:cNvPr id="41" name="Shape 30"/>
          <p:cNvSpPr/>
          <p:nvPr/>
        </p:nvSpPr>
        <p:spPr>
          <a:xfrm>
            <a:off x="4368789" y="2238727"/>
            <a:ext cx="589279" cy="587539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2740F"/>
            </a:solidFill>
            <a:prstDash val="solid"/>
          </a:ln>
        </p:spPr>
        <p:txBody>
          <a:bodyPr/>
          <a:p/>
        </p:txBody>
      </p:sp>
      <p:pic>
        <p:nvPicPr>
          <p:cNvPr id="42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31349" y="2400806"/>
            <a:ext cx="264159" cy="263380"/>
          </a:xfrm>
          <a:prstGeom prst="rect">
            <a:avLst/>
          </a:prstGeom>
        </p:spPr>
      </p:pic>
      <p:sp>
        <p:nvSpPr>
          <p:cNvPr id="43" name="Text 31"/>
          <p:cNvSpPr txBox="1"/>
          <p:nvPr/>
        </p:nvSpPr>
        <p:spPr>
          <a:xfrm>
            <a:off x="5222227" y="2208337"/>
            <a:ext cx="2641593" cy="6685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27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Factors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Rain, night-time, and shadows can reduce model performance and cause false detections.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4267189" y="2937696"/>
            <a:ext cx="3637271" cy="729359"/>
          </a:xfrm>
          <a:prstGeom prst="roundRect">
            <a:avLst>
              <a:gd name="adj" fmla="val 8358"/>
            </a:avLst>
          </a:prstGeom>
          <a:solidFill>
            <a:srgbClr val="FCE8D6"/>
          </a:solidFill>
          <a:ln/>
        </p:spPr>
        <p:txBody>
          <a:bodyPr/>
          <a:p/>
        </p:txBody>
      </p:sp>
      <p:sp>
        <p:nvSpPr>
          <p:cNvPr id="45" name="Shape 33"/>
          <p:cNvSpPr/>
          <p:nvPr/>
        </p:nvSpPr>
        <p:spPr>
          <a:xfrm>
            <a:off x="4368789" y="3008606"/>
            <a:ext cx="589279" cy="587539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2740F"/>
            </a:solidFill>
            <a:prstDash val="solid"/>
          </a:ln>
        </p:spPr>
        <p:txBody>
          <a:bodyPr/>
          <a:p/>
        </p:txBody>
      </p:sp>
      <p:pic>
        <p:nvPicPr>
          <p:cNvPr id="46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31349" y="3170685"/>
            <a:ext cx="264159" cy="263380"/>
          </a:xfrm>
          <a:prstGeom prst="rect">
            <a:avLst/>
          </a:prstGeom>
        </p:spPr>
      </p:pic>
      <p:sp>
        <p:nvSpPr>
          <p:cNvPr id="47" name="Text 34"/>
          <p:cNvSpPr txBox="1"/>
          <p:nvPr/>
        </p:nvSpPr>
        <p:spPr>
          <a:xfrm>
            <a:off x="5222227" y="2978216"/>
            <a:ext cx="2641593" cy="6685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27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 Issues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network coverage in some areas may delay data transmission.</a:t>
            </a:r>
            <a:endParaRPr lang="en-US" sz="1000" dirty="0"/>
          </a:p>
        </p:txBody>
      </p:sp>
      <p:sp>
        <p:nvSpPr>
          <p:cNvPr id="48" name="Shape 35"/>
          <p:cNvSpPr/>
          <p:nvPr/>
        </p:nvSpPr>
        <p:spPr>
          <a:xfrm>
            <a:off x="4267189" y="3707575"/>
            <a:ext cx="3637271" cy="769879"/>
          </a:xfrm>
          <a:prstGeom prst="roundRect">
            <a:avLst>
              <a:gd name="adj" fmla="val 7918"/>
            </a:avLst>
          </a:prstGeom>
          <a:solidFill>
            <a:srgbClr val="FCE8D6"/>
          </a:solidFill>
          <a:ln/>
        </p:spPr>
        <p:txBody>
          <a:bodyPr/>
          <a:p/>
        </p:txBody>
      </p:sp>
      <p:sp>
        <p:nvSpPr>
          <p:cNvPr id="49" name="Shape 36"/>
          <p:cNvSpPr/>
          <p:nvPr/>
        </p:nvSpPr>
        <p:spPr>
          <a:xfrm>
            <a:off x="4368789" y="3798744"/>
            <a:ext cx="589279" cy="587539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2740F"/>
            </a:solidFill>
            <a:prstDash val="solid"/>
          </a:ln>
        </p:spPr>
        <p:txBody>
          <a:bodyPr/>
          <a:p/>
        </p:txBody>
      </p:sp>
      <p:pic>
        <p:nvPicPr>
          <p:cNvPr id="50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31349" y="3960824"/>
            <a:ext cx="264159" cy="263380"/>
          </a:xfrm>
          <a:prstGeom prst="rect">
            <a:avLst/>
          </a:prstGeom>
        </p:spPr>
      </p:pic>
      <p:sp>
        <p:nvSpPr>
          <p:cNvPr id="51" name="Text 37"/>
          <p:cNvSpPr txBox="1"/>
          <p:nvPr/>
        </p:nvSpPr>
        <p:spPr>
          <a:xfrm>
            <a:off x="5222227" y="3748095"/>
            <a:ext cx="2641593" cy="7090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27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Detections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road defect may be detected multiple times across frames/vehicles.</a:t>
            </a:r>
            <a:endParaRPr lang="en-US" sz="1000" dirty="0"/>
          </a:p>
        </p:txBody>
      </p:sp>
      <p:sp>
        <p:nvSpPr>
          <p:cNvPr id="52" name="Shape 38"/>
          <p:cNvSpPr/>
          <p:nvPr/>
        </p:nvSpPr>
        <p:spPr>
          <a:xfrm>
            <a:off x="4267189" y="4507843"/>
            <a:ext cx="3637271" cy="729359"/>
          </a:xfrm>
          <a:prstGeom prst="roundRect">
            <a:avLst>
              <a:gd name="adj" fmla="val 8358"/>
            </a:avLst>
          </a:prstGeom>
          <a:solidFill>
            <a:srgbClr val="FCE8D6"/>
          </a:solidFill>
          <a:ln/>
        </p:spPr>
        <p:txBody>
          <a:bodyPr/>
          <a:p/>
        </p:txBody>
      </p:sp>
      <p:sp>
        <p:nvSpPr>
          <p:cNvPr id="53" name="Shape 39"/>
          <p:cNvSpPr/>
          <p:nvPr/>
        </p:nvSpPr>
        <p:spPr>
          <a:xfrm>
            <a:off x="4368789" y="4578753"/>
            <a:ext cx="589279" cy="587539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2740F"/>
            </a:solidFill>
            <a:prstDash val="solid"/>
          </a:ln>
        </p:spPr>
        <p:txBody>
          <a:bodyPr/>
          <a:p/>
        </p:txBody>
      </p:sp>
      <p:pic>
        <p:nvPicPr>
          <p:cNvPr id="5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31349" y="4740833"/>
            <a:ext cx="264159" cy="263380"/>
          </a:xfrm>
          <a:prstGeom prst="rect">
            <a:avLst/>
          </a:prstGeom>
        </p:spPr>
      </p:pic>
      <p:sp>
        <p:nvSpPr>
          <p:cNvPr id="55" name="Text 40"/>
          <p:cNvSpPr txBox="1"/>
          <p:nvPr/>
        </p:nvSpPr>
        <p:spPr>
          <a:xfrm>
            <a:off x="5222227" y="4548363"/>
            <a:ext cx="2641593" cy="6685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27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&amp; False Positives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continuous tuning and validation to maintain high accuracy and avoid false alerts.</a:t>
            </a:r>
            <a:endParaRPr lang="en-US" sz="1000" dirty="0"/>
          </a:p>
        </p:txBody>
      </p:sp>
      <p:sp>
        <p:nvSpPr>
          <p:cNvPr id="56" name="Shape 41"/>
          <p:cNvSpPr/>
          <p:nvPr/>
        </p:nvSpPr>
        <p:spPr>
          <a:xfrm>
            <a:off x="8107660" y="891439"/>
            <a:ext cx="3942070" cy="4558493"/>
          </a:xfrm>
          <a:prstGeom prst="roundRect">
            <a:avLst>
              <a:gd name="adj" fmla="val 2062"/>
            </a:avLst>
          </a:prstGeom>
          <a:solidFill>
            <a:srgbClr val="EEF5FD"/>
          </a:solidFill>
          <a:ln w="19050">
            <a:solidFill>
              <a:srgbClr val="1F6FC4"/>
            </a:solidFill>
            <a:prstDash val="solid"/>
          </a:ln>
        </p:spPr>
        <p:txBody>
          <a:bodyPr/>
          <a:p/>
        </p:txBody>
      </p:sp>
      <p:sp>
        <p:nvSpPr>
          <p:cNvPr id="57" name="Shape 42"/>
          <p:cNvSpPr/>
          <p:nvPr/>
        </p:nvSpPr>
        <p:spPr>
          <a:xfrm>
            <a:off x="8127980" y="911699"/>
            <a:ext cx="3901430" cy="425459"/>
          </a:xfrm>
          <a:prstGeom prst="roundRect">
            <a:avLst>
              <a:gd name="adj" fmla="val 19104"/>
            </a:avLst>
          </a:prstGeom>
          <a:solidFill>
            <a:srgbClr val="0F5AA8"/>
          </a:solidFill>
          <a:ln/>
        </p:spPr>
        <p:txBody>
          <a:bodyPr/>
          <a:p/>
        </p:txBody>
      </p:sp>
      <p:sp>
        <p:nvSpPr>
          <p:cNvPr id="58" name="Shape 43"/>
          <p:cNvSpPr/>
          <p:nvPr/>
        </p:nvSpPr>
        <p:spPr>
          <a:xfrm>
            <a:off x="8371819" y="952219"/>
            <a:ext cx="345439" cy="344419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59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442939" y="1023129"/>
            <a:ext cx="203199" cy="202600"/>
          </a:xfrm>
          <a:prstGeom prst="rect">
            <a:avLst/>
          </a:prstGeom>
        </p:spPr>
      </p:pic>
      <p:sp>
        <p:nvSpPr>
          <p:cNvPr id="60" name="Text 44"/>
          <p:cNvSpPr txBox="1"/>
          <p:nvPr/>
        </p:nvSpPr>
        <p:spPr>
          <a:xfrm>
            <a:off x="8818858" y="911699"/>
            <a:ext cx="3129272" cy="4254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 STRATEGIES</a:t>
            </a:r>
            <a:endParaRPr lang="en-US" sz="1680" dirty="0"/>
          </a:p>
        </p:txBody>
      </p:sp>
      <p:sp>
        <p:nvSpPr>
          <p:cNvPr id="61" name="Shape 45"/>
          <p:cNvSpPr/>
          <p:nvPr/>
        </p:nvSpPr>
        <p:spPr>
          <a:xfrm>
            <a:off x="8188940" y="1397938"/>
            <a:ext cx="3779511" cy="729359"/>
          </a:xfrm>
          <a:prstGeom prst="roundRect">
            <a:avLst>
              <a:gd name="adj" fmla="val 8358"/>
            </a:avLst>
          </a:prstGeom>
          <a:solidFill>
            <a:srgbClr val="DFEBF9"/>
          </a:solidFill>
          <a:ln/>
        </p:spPr>
        <p:txBody>
          <a:bodyPr/>
          <a:p/>
        </p:txBody>
      </p:sp>
      <p:sp>
        <p:nvSpPr>
          <p:cNvPr id="62" name="Shape 46"/>
          <p:cNvSpPr/>
          <p:nvPr/>
        </p:nvSpPr>
        <p:spPr>
          <a:xfrm>
            <a:off x="8280379" y="1468848"/>
            <a:ext cx="589279" cy="587539"/>
          </a:xfrm>
          <a:prstGeom prst="ellipse">
            <a:avLst/>
          </a:prstGeom>
          <a:solidFill>
            <a:srgbClr val="0F5AA8"/>
          </a:solidFill>
          <a:ln w="19050">
            <a:solidFill>
              <a:srgbClr val="0F5AA8"/>
            </a:solidFill>
            <a:prstDash val="solid"/>
          </a:ln>
        </p:spPr>
        <p:txBody>
          <a:bodyPr/>
          <a:p/>
        </p:txBody>
      </p:sp>
      <p:pic>
        <p:nvPicPr>
          <p:cNvPr id="63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442939" y="1630928"/>
            <a:ext cx="264159" cy="263380"/>
          </a:xfrm>
          <a:prstGeom prst="rect">
            <a:avLst/>
          </a:prstGeom>
        </p:spPr>
      </p:pic>
      <p:sp>
        <p:nvSpPr>
          <p:cNvPr id="64" name="Text 47"/>
          <p:cNvSpPr txBox="1"/>
          <p:nvPr/>
        </p:nvSpPr>
        <p:spPr>
          <a:xfrm>
            <a:off x="9093177" y="1438458"/>
            <a:ext cx="2834633" cy="6685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5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Vibration-Based Frame Gating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accelerometer data to capture frames only when needed, reducing redundancy.</a:t>
            </a:r>
            <a:endParaRPr lang="en-US" sz="1000" dirty="0"/>
          </a:p>
        </p:txBody>
      </p:sp>
      <p:sp>
        <p:nvSpPr>
          <p:cNvPr id="65" name="Shape 48"/>
          <p:cNvSpPr/>
          <p:nvPr/>
        </p:nvSpPr>
        <p:spPr>
          <a:xfrm>
            <a:off x="8188940" y="2167817"/>
            <a:ext cx="3779511" cy="729359"/>
          </a:xfrm>
          <a:prstGeom prst="roundRect">
            <a:avLst>
              <a:gd name="adj" fmla="val 8358"/>
            </a:avLst>
          </a:prstGeom>
          <a:solidFill>
            <a:srgbClr val="DFEBF9"/>
          </a:solidFill>
          <a:ln/>
        </p:spPr>
        <p:txBody>
          <a:bodyPr/>
          <a:p/>
        </p:txBody>
      </p:sp>
      <p:sp>
        <p:nvSpPr>
          <p:cNvPr id="66" name="Shape 49"/>
          <p:cNvSpPr/>
          <p:nvPr/>
        </p:nvSpPr>
        <p:spPr>
          <a:xfrm>
            <a:off x="8280379" y="2238727"/>
            <a:ext cx="589279" cy="587539"/>
          </a:xfrm>
          <a:prstGeom prst="ellipse">
            <a:avLst/>
          </a:prstGeom>
          <a:solidFill>
            <a:srgbClr val="0F5AA8"/>
          </a:solidFill>
          <a:ln w="19050">
            <a:solidFill>
              <a:srgbClr val="0F5AA8"/>
            </a:solidFill>
            <a:prstDash val="solid"/>
          </a:ln>
        </p:spPr>
        <p:txBody>
          <a:bodyPr/>
          <a:p/>
        </p:txBody>
      </p:sp>
      <p:pic>
        <p:nvPicPr>
          <p:cNvPr id="6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442939" y="2400806"/>
            <a:ext cx="264159" cy="263380"/>
          </a:xfrm>
          <a:prstGeom prst="rect">
            <a:avLst/>
          </a:prstGeom>
        </p:spPr>
      </p:pic>
      <p:sp>
        <p:nvSpPr>
          <p:cNvPr id="68" name="Text 50"/>
          <p:cNvSpPr txBox="1"/>
          <p:nvPr/>
        </p:nvSpPr>
        <p:spPr>
          <a:xfrm>
            <a:off x="9093177" y="2208337"/>
            <a:ext cx="2834633" cy="6685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5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Preprocessing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Night/wet-road augmentation and image enhancement improve detection reliability.</a:t>
            </a:r>
            <a:endParaRPr lang="en-US" sz="1000" dirty="0"/>
          </a:p>
        </p:txBody>
      </p:sp>
      <p:sp>
        <p:nvSpPr>
          <p:cNvPr id="69" name="Shape 51"/>
          <p:cNvSpPr/>
          <p:nvPr/>
        </p:nvSpPr>
        <p:spPr>
          <a:xfrm>
            <a:off x="8188940" y="2937696"/>
            <a:ext cx="3779511" cy="729359"/>
          </a:xfrm>
          <a:prstGeom prst="roundRect">
            <a:avLst>
              <a:gd name="adj" fmla="val 8358"/>
            </a:avLst>
          </a:prstGeom>
          <a:solidFill>
            <a:srgbClr val="DFEBF9"/>
          </a:solidFill>
          <a:ln/>
        </p:spPr>
        <p:txBody>
          <a:bodyPr/>
          <a:p/>
        </p:txBody>
      </p:sp>
      <p:sp>
        <p:nvSpPr>
          <p:cNvPr id="70" name="Shape 52"/>
          <p:cNvSpPr/>
          <p:nvPr/>
        </p:nvSpPr>
        <p:spPr>
          <a:xfrm>
            <a:off x="8280379" y="3008606"/>
            <a:ext cx="589279" cy="587539"/>
          </a:xfrm>
          <a:prstGeom prst="ellipse">
            <a:avLst/>
          </a:prstGeom>
          <a:solidFill>
            <a:srgbClr val="0F5AA8"/>
          </a:solidFill>
          <a:ln w="19050">
            <a:solidFill>
              <a:srgbClr val="0F5AA8"/>
            </a:solidFill>
            <a:prstDash val="solid"/>
          </a:ln>
        </p:spPr>
        <p:txBody>
          <a:bodyPr/>
          <a:p/>
        </p:txBody>
      </p:sp>
      <p:pic>
        <p:nvPicPr>
          <p:cNvPr id="71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442939" y="3170685"/>
            <a:ext cx="264159" cy="263380"/>
          </a:xfrm>
          <a:prstGeom prst="rect">
            <a:avLst/>
          </a:prstGeom>
        </p:spPr>
      </p:pic>
      <p:sp>
        <p:nvSpPr>
          <p:cNvPr id="72" name="Text 53"/>
          <p:cNvSpPr txBox="1"/>
          <p:nvPr/>
        </p:nvSpPr>
        <p:spPr>
          <a:xfrm>
            <a:off x="9093177" y="2978216"/>
            <a:ext cx="2834633" cy="6685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5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Data Sync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with retries and local SQLite caching ensures reliable transmission and storage.</a:t>
            </a:r>
            <a:endParaRPr lang="en-US" sz="1000" dirty="0"/>
          </a:p>
        </p:txBody>
      </p:sp>
      <p:sp>
        <p:nvSpPr>
          <p:cNvPr id="73" name="Shape 54"/>
          <p:cNvSpPr/>
          <p:nvPr/>
        </p:nvSpPr>
        <p:spPr>
          <a:xfrm>
            <a:off x="8188940" y="3707575"/>
            <a:ext cx="3779511" cy="769879"/>
          </a:xfrm>
          <a:prstGeom prst="roundRect">
            <a:avLst>
              <a:gd name="adj" fmla="val 7918"/>
            </a:avLst>
          </a:prstGeom>
          <a:solidFill>
            <a:srgbClr val="DFEBF9"/>
          </a:solidFill>
          <a:ln/>
        </p:spPr>
        <p:txBody>
          <a:bodyPr/>
          <a:p/>
        </p:txBody>
      </p:sp>
      <p:sp>
        <p:nvSpPr>
          <p:cNvPr id="74" name="Shape 55"/>
          <p:cNvSpPr/>
          <p:nvPr/>
        </p:nvSpPr>
        <p:spPr>
          <a:xfrm>
            <a:off x="8280379" y="3798744"/>
            <a:ext cx="589279" cy="587539"/>
          </a:xfrm>
          <a:prstGeom prst="ellipse">
            <a:avLst/>
          </a:prstGeom>
          <a:solidFill>
            <a:srgbClr val="0F5AA8"/>
          </a:solidFill>
          <a:ln w="19050">
            <a:solidFill>
              <a:srgbClr val="0F5AA8"/>
            </a:solidFill>
            <a:prstDash val="solid"/>
          </a:ln>
        </p:spPr>
        <p:txBody>
          <a:bodyPr/>
          <a:p/>
        </p:txBody>
      </p:sp>
      <p:pic>
        <p:nvPicPr>
          <p:cNvPr id="75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442939" y="3960824"/>
            <a:ext cx="264159" cy="263380"/>
          </a:xfrm>
          <a:prstGeom prst="rect">
            <a:avLst/>
          </a:prstGeom>
        </p:spPr>
      </p:pic>
      <p:sp>
        <p:nvSpPr>
          <p:cNvPr id="76" name="Text 56"/>
          <p:cNvSpPr txBox="1"/>
          <p:nvPr/>
        </p:nvSpPr>
        <p:spPr>
          <a:xfrm>
            <a:off x="9093177" y="3748095"/>
            <a:ext cx="2834633" cy="7090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5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 Spatial Clustering</a:t>
            </a:r>
            <a:endParaRPr lang="en-US" sz="1000" dirty="0"/>
          </a:p>
          <a:p>
            <a:pPr marL="0" indent="0" algn="l">
              <a:buNone/>
            </a:pPr>
            <a:r>
              <a:t>PostGIS ST_ClusterDBSCAN (15m radius) merges multi-bus passes, eliminating 87.4% duplicates.</a:t>
            </a:r>
            <a:endParaRPr lang="en-US" sz="1000" dirty="0"/>
          </a:p>
        </p:txBody>
      </p:sp>
      <p:sp>
        <p:nvSpPr>
          <p:cNvPr id="77" name="Shape 57"/>
          <p:cNvSpPr/>
          <p:nvPr/>
        </p:nvSpPr>
        <p:spPr>
          <a:xfrm>
            <a:off x="8188940" y="4507843"/>
            <a:ext cx="3779511" cy="729359"/>
          </a:xfrm>
          <a:prstGeom prst="roundRect">
            <a:avLst>
              <a:gd name="adj" fmla="val 8358"/>
            </a:avLst>
          </a:prstGeom>
          <a:solidFill>
            <a:srgbClr val="DFEBF9"/>
          </a:solidFill>
          <a:ln/>
        </p:spPr>
        <p:txBody>
          <a:bodyPr/>
          <a:p/>
        </p:txBody>
      </p:sp>
      <p:sp>
        <p:nvSpPr>
          <p:cNvPr id="78" name="Shape 58"/>
          <p:cNvSpPr/>
          <p:nvPr/>
        </p:nvSpPr>
        <p:spPr>
          <a:xfrm>
            <a:off x="8280379" y="4578753"/>
            <a:ext cx="589279" cy="587539"/>
          </a:xfrm>
          <a:prstGeom prst="ellipse">
            <a:avLst/>
          </a:prstGeom>
          <a:solidFill>
            <a:srgbClr val="0F5AA8"/>
          </a:solidFill>
          <a:ln w="19050">
            <a:solidFill>
              <a:srgbClr val="0F5AA8"/>
            </a:solidFill>
            <a:prstDash val="solid"/>
          </a:ln>
        </p:spPr>
        <p:txBody>
          <a:bodyPr/>
          <a:p/>
        </p:txBody>
      </p:sp>
      <p:pic>
        <p:nvPicPr>
          <p:cNvPr id="79" name="Image 18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442939" y="4740833"/>
            <a:ext cx="264159" cy="263380"/>
          </a:xfrm>
          <a:prstGeom prst="rect">
            <a:avLst/>
          </a:prstGeom>
        </p:spPr>
      </p:pic>
      <p:sp>
        <p:nvSpPr>
          <p:cNvPr id="80" name="Text 59"/>
          <p:cNvSpPr txBox="1"/>
          <p:nvPr/>
        </p:nvSpPr>
        <p:spPr>
          <a:xfrm>
            <a:off x="9093177" y="4548363"/>
            <a:ext cx="2834633" cy="6685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5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Model Validation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evaluation on live data with periodic retraining to maintain accuracy and reduce false positives.</a:t>
            </a:r>
            <a:endParaRPr lang="en-US" sz="1000" dirty="0"/>
          </a:p>
        </p:txBody>
      </p:sp>
      <p:sp>
        <p:nvSpPr>
          <p:cNvPr id="81" name="Shape 60"/>
          <p:cNvSpPr/>
          <p:nvPr/>
        </p:nvSpPr>
        <p:spPr>
          <a:xfrm>
            <a:off x="132080" y="5520842"/>
            <a:ext cx="11937970" cy="739489"/>
          </a:xfrm>
          <a:prstGeom prst="roundRect">
            <a:avLst>
              <a:gd name="adj" fmla="val 10991"/>
            </a:avLst>
          </a:prstGeom>
          <a:solidFill>
            <a:srgbClr val="EAF5FF"/>
          </a:solidFill>
          <a:ln w="12700">
            <a:solidFill>
              <a:srgbClr val="BBD6F2"/>
            </a:solidFill>
            <a:prstDash val="solid"/>
          </a:ln>
        </p:spPr>
        <p:txBody>
          <a:bodyPr/>
          <a:p/>
        </p:txBody>
      </p:sp>
      <p:pic>
        <p:nvPicPr>
          <p:cNvPr id="82" name="Image 19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94639" y="5682922"/>
            <a:ext cx="426719" cy="425459"/>
          </a:xfrm>
          <a:prstGeom prst="rect">
            <a:avLst/>
          </a:prstGeom>
        </p:spPr>
      </p:pic>
      <p:sp>
        <p:nvSpPr>
          <p:cNvPr id="83" name="Text 61"/>
          <p:cNvSpPr txBox="1"/>
          <p:nvPr/>
        </p:nvSpPr>
        <p:spPr>
          <a:xfrm>
            <a:off x="894078" y="5693052"/>
            <a:ext cx="1320797" cy="4254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4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OUTCOMES &amp;</a:t>
            </a:r>
            <a:endParaRPr lang="en-US" sz="12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1F4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200" dirty="0"/>
          </a:p>
        </p:txBody>
      </p:sp>
      <p:sp>
        <p:nvSpPr>
          <p:cNvPr id="84" name="Shape 62"/>
          <p:cNvSpPr/>
          <p:nvPr/>
        </p:nvSpPr>
        <p:spPr>
          <a:xfrm>
            <a:off x="2479034" y="5652532"/>
            <a:ext cx="365759" cy="364679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4FB0"/>
            </a:solidFill>
            <a:prstDash val="solid"/>
          </a:ln>
        </p:spPr>
        <p:txBody>
          <a:bodyPr/>
          <a:p/>
        </p:txBody>
      </p:sp>
      <p:pic>
        <p:nvPicPr>
          <p:cNvPr id="85" name="Image 20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570474" y="5743702"/>
            <a:ext cx="182880" cy="182340"/>
          </a:xfrm>
          <a:prstGeom prst="rect">
            <a:avLst/>
          </a:prstGeom>
        </p:spPr>
      </p:pic>
      <p:sp>
        <p:nvSpPr>
          <p:cNvPr id="86" name="Text 63"/>
          <p:cNvSpPr txBox="1"/>
          <p:nvPr/>
        </p:nvSpPr>
        <p:spPr>
          <a:xfrm>
            <a:off x="2936233" y="5652532"/>
            <a:ext cx="1198877" cy="547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1F4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 Cities</a:t>
            </a:r>
            <a:endParaRPr lang="en-US" sz="880" dirty="0"/>
          </a:p>
          <a:p>
            <a:pPr marL="0" indent="0" algn="l">
              <a:buNone/>
            </a:pPr>
            <a:r>
              <a:rPr lang="en-US" sz="880" dirty="0">
                <a:solidFill>
                  <a:srgbClr val="444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detection of road hazards and unsafe driving.</a:t>
            </a:r>
            <a:endParaRPr lang="en-US" sz="880" dirty="0"/>
          </a:p>
        </p:txBody>
      </p:sp>
      <p:sp>
        <p:nvSpPr>
          <p:cNvPr id="87" name="Shape 64"/>
          <p:cNvSpPr/>
          <p:nvPr/>
        </p:nvSpPr>
        <p:spPr>
          <a:xfrm>
            <a:off x="4236709" y="5652532"/>
            <a:ext cx="365759" cy="364679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4FB0"/>
            </a:solidFill>
            <a:prstDash val="solid"/>
          </a:ln>
        </p:spPr>
        <p:txBody>
          <a:bodyPr/>
          <a:p/>
        </p:txBody>
      </p:sp>
      <p:pic>
        <p:nvPicPr>
          <p:cNvPr id="88" name="Image 21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328149" y="5743702"/>
            <a:ext cx="182880" cy="182340"/>
          </a:xfrm>
          <a:prstGeom prst="rect">
            <a:avLst/>
          </a:prstGeom>
        </p:spPr>
      </p:pic>
      <p:sp>
        <p:nvSpPr>
          <p:cNvPr id="89" name="Text 65"/>
          <p:cNvSpPr txBox="1"/>
          <p:nvPr/>
        </p:nvSpPr>
        <p:spPr>
          <a:xfrm>
            <a:off x="4907268" y="5652532"/>
            <a:ext cx="1198877" cy="547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1F4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Response</a:t>
            </a:r>
            <a:endParaRPr lang="en-US" sz="880" dirty="0"/>
          </a:p>
          <a:p>
            <a:pPr marL="0" indent="0" algn="l">
              <a:buNone/>
            </a:pPr>
            <a:r>
              <a:rPr lang="en-US" sz="880" dirty="0">
                <a:solidFill>
                  <a:srgbClr val="444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Prioritized alerts enable quick maintenance and enforcement action.</a:t>
            </a:r>
            <a:endParaRPr lang="en-US" sz="880" dirty="0"/>
          </a:p>
        </p:txBody>
      </p:sp>
      <p:sp>
        <p:nvSpPr>
          <p:cNvPr id="90" name="Shape 66"/>
          <p:cNvSpPr/>
          <p:nvPr/>
        </p:nvSpPr>
        <p:spPr>
          <a:xfrm>
            <a:off x="6319504" y="5652532"/>
            <a:ext cx="365759" cy="364679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4FB0"/>
            </a:solidFill>
            <a:prstDash val="solid"/>
          </a:ln>
        </p:spPr>
        <p:txBody>
          <a:bodyPr/>
          <a:p/>
        </p:txBody>
      </p:sp>
      <p:pic>
        <p:nvPicPr>
          <p:cNvPr id="91" name="Image 22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410944" y="5743702"/>
            <a:ext cx="182880" cy="182340"/>
          </a:xfrm>
          <a:prstGeom prst="rect">
            <a:avLst/>
          </a:prstGeom>
        </p:spPr>
      </p:pic>
      <p:sp>
        <p:nvSpPr>
          <p:cNvPr id="92" name="Text 67"/>
          <p:cNvSpPr txBox="1"/>
          <p:nvPr/>
        </p:nvSpPr>
        <p:spPr>
          <a:xfrm>
            <a:off x="6827503" y="5652532"/>
            <a:ext cx="1219197" cy="547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1F4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Efficiency</a:t>
            </a:r>
            <a:endParaRPr lang="en-US" sz="880" dirty="0"/>
          </a:p>
          <a:p>
            <a:pPr marL="0" indent="0" algn="l">
              <a:buNone/>
            </a:pPr>
            <a:r>
              <a:rPr lang="en-US" sz="880" dirty="0">
                <a:solidFill>
                  <a:srgbClr val="444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resource use and reduced manual inspections.</a:t>
            </a:r>
            <a:endParaRPr lang="en-US" sz="880" dirty="0"/>
          </a:p>
        </p:txBody>
      </p:sp>
      <p:sp>
        <p:nvSpPr>
          <p:cNvPr id="93" name="Shape 68"/>
          <p:cNvSpPr/>
          <p:nvPr/>
        </p:nvSpPr>
        <p:spPr>
          <a:xfrm>
            <a:off x="8148300" y="5652532"/>
            <a:ext cx="365759" cy="364679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4FB0"/>
            </a:solidFill>
            <a:prstDash val="solid"/>
          </a:ln>
        </p:spPr>
        <p:txBody>
          <a:bodyPr/>
          <a:p/>
        </p:txBody>
      </p:sp>
      <p:pic>
        <p:nvPicPr>
          <p:cNvPr id="94" name="Image 23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239739" y="5743702"/>
            <a:ext cx="182880" cy="182340"/>
          </a:xfrm>
          <a:prstGeom prst="rect">
            <a:avLst/>
          </a:prstGeom>
        </p:spPr>
      </p:pic>
      <p:sp>
        <p:nvSpPr>
          <p:cNvPr id="95" name="Text 69"/>
          <p:cNvSpPr txBox="1"/>
          <p:nvPr/>
        </p:nvSpPr>
        <p:spPr>
          <a:xfrm>
            <a:off x="8737578" y="5652532"/>
            <a:ext cx="1402076" cy="547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1F4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Planning</a:t>
            </a:r>
            <a:endParaRPr lang="en-US" sz="880" dirty="0"/>
          </a:p>
          <a:p>
            <a:pPr marL="0" indent="0" algn="l">
              <a:buNone/>
            </a:pPr>
            <a:r>
              <a:rPr lang="en-US" sz="880" dirty="0">
                <a:solidFill>
                  <a:srgbClr val="444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 insights and analytics support better urban infrastructure decisions.</a:t>
            </a:r>
            <a:endParaRPr lang="en-US" sz="880" dirty="0"/>
          </a:p>
        </p:txBody>
      </p:sp>
      <p:sp>
        <p:nvSpPr>
          <p:cNvPr id="96" name="Shape 70"/>
          <p:cNvSpPr/>
          <p:nvPr/>
        </p:nvSpPr>
        <p:spPr>
          <a:xfrm>
            <a:off x="10180295" y="5652532"/>
            <a:ext cx="365759" cy="364679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4FB0"/>
            </a:solidFill>
            <a:prstDash val="solid"/>
          </a:ln>
        </p:spPr>
        <p:txBody>
          <a:bodyPr/>
          <a:p/>
        </p:txBody>
      </p:sp>
      <p:pic>
        <p:nvPicPr>
          <p:cNvPr id="97" name="Image 24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0271734" y="5743702"/>
            <a:ext cx="182880" cy="182340"/>
          </a:xfrm>
          <a:prstGeom prst="rect">
            <a:avLst/>
          </a:prstGeom>
        </p:spPr>
      </p:pic>
      <p:sp>
        <p:nvSpPr>
          <p:cNvPr id="98" name="Text 71"/>
          <p:cNvSpPr txBox="1"/>
          <p:nvPr/>
        </p:nvSpPr>
        <p:spPr>
          <a:xfrm>
            <a:off x="10688293" y="5652532"/>
            <a:ext cx="1320797" cy="547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1F4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Inclusive Mobility</a:t>
            </a:r>
            <a:endParaRPr lang="en-US" sz="880" dirty="0"/>
          </a:p>
          <a:p>
            <a:pPr marL="0" indent="0" algn="l">
              <a:buNone/>
            </a:pPr>
            <a:r>
              <a:rPr lang="en-US" sz="880" dirty="0">
                <a:solidFill>
                  <a:srgbClr val="444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pedestrian safety and accessible public transport infrastructure.</a:t>
            </a:r>
            <a:endParaRPr lang="en-US" sz="880" dirty="0"/>
          </a:p>
        </p:txBody>
      </p:sp>
      <p:sp>
        <p:nvSpPr>
          <p:cNvPr id="99" name="Shape 72"/>
          <p:cNvSpPr/>
          <p:nvPr/>
        </p:nvSpPr>
        <p:spPr>
          <a:xfrm>
            <a:off x="2357114" y="5632272"/>
            <a:ext cx="0" cy="506499"/>
          </a:xfrm>
          <a:prstGeom prst="line">
            <a:avLst/>
          </a:prstGeom>
          <a:noFill/>
          <a:ln w="9525">
            <a:solidFill>
              <a:srgbClr val="9CC4EE"/>
            </a:solidFill>
            <a:prstDash val="solid"/>
          </a:ln>
        </p:spPr>
        <p:txBody>
          <a:bodyPr/>
          <a:p/>
        </p:txBody>
      </p:sp>
      <p:sp>
        <p:nvSpPr>
          <p:cNvPr id="100" name="Shape 73"/>
          <p:cNvSpPr/>
          <p:nvPr/>
        </p:nvSpPr>
        <p:spPr>
          <a:xfrm>
            <a:off x="4185910" y="5632272"/>
            <a:ext cx="0" cy="506499"/>
          </a:xfrm>
          <a:prstGeom prst="line">
            <a:avLst/>
          </a:prstGeom>
          <a:noFill/>
          <a:ln w="9525">
            <a:solidFill>
              <a:srgbClr val="9CC4EE"/>
            </a:solidFill>
            <a:prstDash val="solid"/>
          </a:ln>
        </p:spPr>
        <p:txBody>
          <a:bodyPr/>
          <a:p/>
        </p:txBody>
      </p:sp>
      <p:sp>
        <p:nvSpPr>
          <p:cNvPr id="101" name="Shape 74"/>
          <p:cNvSpPr/>
          <p:nvPr/>
        </p:nvSpPr>
        <p:spPr>
          <a:xfrm>
            <a:off x="6248384" y="5632272"/>
            <a:ext cx="0" cy="506499"/>
          </a:xfrm>
          <a:prstGeom prst="line">
            <a:avLst/>
          </a:prstGeom>
          <a:noFill/>
          <a:ln w="9525">
            <a:solidFill>
              <a:srgbClr val="9CC4EE"/>
            </a:solidFill>
            <a:prstDash val="solid"/>
          </a:ln>
        </p:spPr>
        <p:txBody>
          <a:bodyPr/>
          <a:p/>
        </p:txBody>
      </p:sp>
      <p:sp>
        <p:nvSpPr>
          <p:cNvPr id="102" name="Shape 75"/>
          <p:cNvSpPr/>
          <p:nvPr/>
        </p:nvSpPr>
        <p:spPr>
          <a:xfrm>
            <a:off x="8127980" y="5632272"/>
            <a:ext cx="0" cy="506499"/>
          </a:xfrm>
          <a:prstGeom prst="line">
            <a:avLst/>
          </a:prstGeom>
          <a:noFill/>
          <a:ln w="9525">
            <a:solidFill>
              <a:srgbClr val="9CC4EE"/>
            </a:solidFill>
            <a:prstDash val="solid"/>
          </a:ln>
        </p:spPr>
        <p:txBody>
          <a:bodyPr/>
          <a:p/>
        </p:txBody>
      </p:sp>
      <p:sp>
        <p:nvSpPr>
          <p:cNvPr id="103" name="Shape 76"/>
          <p:cNvSpPr/>
          <p:nvPr/>
        </p:nvSpPr>
        <p:spPr>
          <a:xfrm>
            <a:off x="10159975" y="5632272"/>
            <a:ext cx="0" cy="506499"/>
          </a:xfrm>
          <a:prstGeom prst="line">
            <a:avLst/>
          </a:prstGeom>
          <a:noFill/>
          <a:ln w="9525">
            <a:solidFill>
              <a:srgbClr val="9CC4EE"/>
            </a:solidFill>
            <a:prstDash val="solid"/>
          </a:ln>
        </p:spPr>
        <p:txBody>
          <a:bodyPr/>
          <a:p/>
        </p:txBody>
      </p:sp>
      <p:sp>
        <p:nvSpPr>
          <p:cNvPr id="104" name="Shape 77"/>
          <p:cNvSpPr/>
          <p:nvPr/>
        </p:nvSpPr>
        <p:spPr>
          <a:xfrm>
            <a:off x="0" y="6361631"/>
            <a:ext cx="12191970" cy="496369"/>
          </a:xfrm>
          <a:prstGeom prst="rect">
            <a:avLst/>
          </a:prstGeom>
          <a:solidFill>
            <a:srgbClr val="0B6BBE"/>
          </a:solidFill>
          <a:ln/>
        </p:spPr>
        <p:txBody>
          <a:bodyPr/>
          <a:p/>
        </p:txBody>
      </p:sp>
      <p:sp>
        <p:nvSpPr>
          <p:cNvPr id="105" name="Text 78"/>
          <p:cNvSpPr txBox="1"/>
          <p:nvPr/>
        </p:nvSpPr>
        <p:spPr>
          <a:xfrm>
            <a:off x="0" y="6402151"/>
            <a:ext cx="12191970" cy="415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@SIH Idea submission- Template</a:t>
            </a:r>
            <a:endParaRPr lang="en-US" sz="960" dirty="0"/>
          </a:p>
        </p:txBody>
      </p:sp>
      <p:sp>
        <p:nvSpPr>
          <p:cNvPr id="106" name="Text 79"/>
          <p:cNvSpPr txBox="1"/>
          <p:nvPr/>
        </p:nvSpPr>
        <p:spPr>
          <a:xfrm>
            <a:off x="11480771" y="6402151"/>
            <a:ext cx="406399" cy="415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6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4080" y="101300"/>
            <a:ext cx="1945419" cy="658449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44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Vigilance</a:t>
            </a:r>
            <a:endParaRPr lang="en-US" sz="1444" dirty="0"/>
          </a:p>
        </p:txBody>
      </p:sp>
      <p:sp>
        <p:nvSpPr>
          <p:cNvPr id="3" name="Text 1"/>
          <p:cNvSpPr txBox="1"/>
          <p:nvPr/>
        </p:nvSpPr>
        <p:spPr>
          <a:xfrm>
            <a:off x="2037088" y="162080"/>
            <a:ext cx="8148351" cy="5064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48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IMPACT AND BENEFITS</a:t>
            </a:r>
            <a:endParaRPr lang="en-US" sz="3048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6166" y="30390"/>
            <a:ext cx="2189869" cy="90156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54636" y="931959"/>
            <a:ext cx="5652918" cy="4386284"/>
          </a:xfrm>
          <a:prstGeom prst="roundRect">
            <a:avLst>
              <a:gd name="adj" fmla="val 1858"/>
            </a:avLst>
          </a:prstGeom>
          <a:solidFill>
            <a:srgbClr val="F3F8FE"/>
          </a:solidFill>
          <a:ln w="12700">
            <a:solidFill>
              <a:srgbClr val="D5E4F7"/>
            </a:solidFill>
            <a:prstDash val="solid"/>
          </a:ln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275007" y="931959"/>
            <a:ext cx="5612176" cy="405199"/>
          </a:xfrm>
          <a:prstGeom prst="roundRect">
            <a:avLst>
              <a:gd name="adj" fmla="val 20110"/>
            </a:avLst>
          </a:prstGeom>
          <a:solidFill>
            <a:srgbClr val="0F5AA8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356490" y="952219"/>
            <a:ext cx="366676" cy="364679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788" y="1023129"/>
            <a:ext cx="224080" cy="2228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75007" y="931959"/>
            <a:ext cx="5612176" cy="405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8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IMPACT</a:t>
            </a:r>
            <a:endParaRPr lang="en-US" sz="1684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6861" y="1448588"/>
            <a:ext cx="2047273" cy="901569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6861" y="2441326"/>
            <a:ext cx="2047273" cy="931959"/>
          </a:xfrm>
          <a:prstGeom prst="rect">
            <a:avLst/>
          </a:prstGeom>
        </p:spPr>
      </p:pic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6861" y="3474585"/>
            <a:ext cx="2047273" cy="861049"/>
          </a:xfrm>
          <a:prstGeom prst="rect">
            <a:avLst/>
          </a:prstGeom>
        </p:spPr>
      </p:pic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6861" y="4426804"/>
            <a:ext cx="2047273" cy="800269"/>
          </a:xfrm>
          <a:prstGeom prst="rect">
            <a:avLst/>
          </a:prstGeom>
        </p:spPr>
      </p:pic>
      <p:sp>
        <p:nvSpPr>
          <p:cNvPr id="14" name="Shape 6"/>
          <p:cNvSpPr/>
          <p:nvPr/>
        </p:nvSpPr>
        <p:spPr>
          <a:xfrm>
            <a:off x="2617658" y="1509368"/>
            <a:ext cx="631497" cy="628059"/>
          </a:xfrm>
          <a:prstGeom prst="ellipse">
            <a:avLst/>
          </a:prstGeom>
          <a:solidFill>
            <a:srgbClr val="D9EAFB"/>
          </a:solidFill>
          <a:ln/>
        </p:spPr>
        <p:txBody>
          <a:bodyPr/>
          <a:p/>
        </p:txBody>
      </p:sp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80625" y="1671448"/>
            <a:ext cx="305563" cy="303900"/>
          </a:xfrm>
          <a:prstGeom prst="rect">
            <a:avLst/>
          </a:prstGeom>
        </p:spPr>
      </p:pic>
      <p:sp>
        <p:nvSpPr>
          <p:cNvPr id="16" name="Text 7"/>
          <p:cNvSpPr txBox="1"/>
          <p:nvPr/>
        </p:nvSpPr>
        <p:spPr>
          <a:xfrm>
            <a:off x="3412122" y="1428328"/>
            <a:ext cx="2444505" cy="790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43" b="1" dirty="0">
                <a:solidFill>
                  <a:srgbClr val="1B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 Roads</a:t>
            </a:r>
            <a:endParaRPr lang="en-US" sz="1043" dirty="0"/>
          </a:p>
          <a:p>
            <a:pPr marL="0" indent="0" algn="l">
              <a:buNone/>
            </a:pPr>
            <a:r>
              <a:rPr lang="en-US" sz="1043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detection of potholes and damaged infrastructure can help reduce accident risks, especially for two-wheelers.</a:t>
            </a:r>
            <a:endParaRPr lang="en-US" sz="1043" dirty="0"/>
          </a:p>
        </p:txBody>
      </p:sp>
      <p:sp>
        <p:nvSpPr>
          <p:cNvPr id="17" name="Shape 8"/>
          <p:cNvSpPr/>
          <p:nvPr/>
        </p:nvSpPr>
        <p:spPr>
          <a:xfrm>
            <a:off x="2617658" y="2471716"/>
            <a:ext cx="631497" cy="628059"/>
          </a:xfrm>
          <a:prstGeom prst="ellipse">
            <a:avLst/>
          </a:prstGeom>
          <a:solidFill>
            <a:srgbClr val="D9EAFB"/>
          </a:solidFill>
          <a:ln/>
        </p:spPr>
        <p:txBody>
          <a:bodyPr/>
          <a:p/>
        </p:txBody>
      </p:sp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80625" y="2633796"/>
            <a:ext cx="305563" cy="303900"/>
          </a:xfrm>
          <a:prstGeom prst="rect">
            <a:avLst/>
          </a:prstGeom>
        </p:spPr>
      </p:pic>
      <p:sp>
        <p:nvSpPr>
          <p:cNvPr id="19" name="Text 9"/>
          <p:cNvSpPr txBox="1"/>
          <p:nvPr/>
        </p:nvSpPr>
        <p:spPr>
          <a:xfrm>
            <a:off x="3412122" y="2532496"/>
            <a:ext cx="2444505" cy="790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43" b="1" dirty="0">
                <a:solidFill>
                  <a:srgbClr val="1B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Response</a:t>
            </a:r>
            <a:endParaRPr lang="en-US" sz="1043" dirty="0"/>
          </a:p>
          <a:p>
            <a:pPr marL="0" indent="0" algn="l">
              <a:buNone/>
            </a:pPr>
            <a:r>
              <a:rPr lang="en-US" sz="1043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Authorities receive precise locations severity information and evidence (images/ANPR) instead of relying only on manual complaints.</a:t>
            </a:r>
            <a:endParaRPr lang="en-US" sz="1043" dirty="0"/>
          </a:p>
        </p:txBody>
      </p:sp>
      <p:sp>
        <p:nvSpPr>
          <p:cNvPr id="20" name="Shape 10"/>
          <p:cNvSpPr/>
          <p:nvPr/>
        </p:nvSpPr>
        <p:spPr>
          <a:xfrm>
            <a:off x="2617658" y="3504975"/>
            <a:ext cx="631497" cy="628059"/>
          </a:xfrm>
          <a:prstGeom prst="ellipse">
            <a:avLst/>
          </a:prstGeom>
          <a:solidFill>
            <a:srgbClr val="D9EAFB"/>
          </a:solidFill>
          <a:ln/>
        </p:spPr>
        <p:txBody>
          <a:bodyPr/>
          <a:p/>
        </p:txBody>
      </p:sp>
      <p:pic>
        <p:nvPicPr>
          <p:cNvPr id="21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780625" y="3667055"/>
            <a:ext cx="305563" cy="303900"/>
          </a:xfrm>
          <a:prstGeom prst="rect">
            <a:avLst/>
          </a:prstGeom>
        </p:spPr>
      </p:pic>
      <p:sp>
        <p:nvSpPr>
          <p:cNvPr id="22" name="Text 11"/>
          <p:cNvSpPr txBox="1"/>
          <p:nvPr/>
        </p:nvSpPr>
        <p:spPr>
          <a:xfrm>
            <a:off x="3412122" y="3535365"/>
            <a:ext cx="2444505" cy="790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43" b="1" dirty="0">
                <a:solidFill>
                  <a:srgbClr val="1B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Public Infrastructure</a:t>
            </a:r>
            <a:endParaRPr lang="en-US" sz="1043" dirty="0"/>
          </a:p>
          <a:p>
            <a:pPr marL="0" indent="0" algn="l">
              <a:buNone/>
            </a:pPr>
            <a:r>
              <a:rPr lang="en-US" sz="1043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monitoring supports proactive road maintenance and improved quality of life.</a:t>
            </a:r>
            <a:endParaRPr lang="en-US" sz="1043" dirty="0"/>
          </a:p>
        </p:txBody>
      </p:sp>
      <p:sp>
        <p:nvSpPr>
          <p:cNvPr id="23" name="Shape 12"/>
          <p:cNvSpPr/>
          <p:nvPr/>
        </p:nvSpPr>
        <p:spPr>
          <a:xfrm>
            <a:off x="2617658" y="4447064"/>
            <a:ext cx="631497" cy="628059"/>
          </a:xfrm>
          <a:prstGeom prst="ellipse">
            <a:avLst/>
          </a:prstGeom>
          <a:solidFill>
            <a:srgbClr val="FBE0E0"/>
          </a:solidFill>
          <a:ln/>
        </p:spPr>
        <p:txBody>
          <a:bodyPr/>
          <a:p/>
        </p:txBody>
      </p:sp>
      <p:pic>
        <p:nvPicPr>
          <p:cNvPr id="24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780625" y="4609143"/>
            <a:ext cx="305563" cy="303900"/>
          </a:xfrm>
          <a:prstGeom prst="rect">
            <a:avLst/>
          </a:prstGeom>
        </p:spPr>
      </p:pic>
      <p:sp>
        <p:nvSpPr>
          <p:cNvPr id="25" name="Text 13"/>
          <p:cNvSpPr txBox="1"/>
          <p:nvPr/>
        </p:nvSpPr>
        <p:spPr>
          <a:xfrm>
            <a:off x="3412122" y="4426804"/>
            <a:ext cx="2444505" cy="790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43" b="1" dirty="0">
                <a:solidFill>
                  <a:srgbClr val="1B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 Detection &amp; Response</a:t>
            </a:r>
            <a:endParaRPr lang="en-US" sz="1043" dirty="0"/>
          </a:p>
          <a:p>
            <a:pPr marL="0" indent="0" algn="l">
              <a:buNone/>
            </a:pPr>
            <a:r>
              <a:rPr lang="en-US" sz="1043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and tracks incidents, extracts registration numbers with confidence score, timestamp and GPS location, and shares alerts with the central command system.</a:t>
            </a:r>
            <a:endParaRPr lang="en-US" sz="1043" dirty="0"/>
          </a:p>
        </p:txBody>
      </p:sp>
      <p:sp>
        <p:nvSpPr>
          <p:cNvPr id="26" name="Shape 14"/>
          <p:cNvSpPr/>
          <p:nvPr/>
        </p:nvSpPr>
        <p:spPr>
          <a:xfrm>
            <a:off x="6090892" y="931959"/>
            <a:ext cx="5978852" cy="4031734"/>
          </a:xfrm>
          <a:prstGeom prst="roundRect">
            <a:avLst>
              <a:gd name="adj" fmla="val 2021"/>
            </a:avLst>
          </a:prstGeom>
          <a:solidFill>
            <a:srgbClr val="F3F8FE"/>
          </a:solidFill>
          <a:ln w="12700">
            <a:solidFill>
              <a:srgbClr val="D5E4F7"/>
            </a:solidFill>
            <a:prstDash val="solid"/>
          </a:ln>
        </p:spPr>
        <p:txBody>
          <a:bodyPr/>
          <a:p/>
        </p:txBody>
      </p:sp>
      <p:sp>
        <p:nvSpPr>
          <p:cNvPr id="27" name="Shape 15"/>
          <p:cNvSpPr/>
          <p:nvPr/>
        </p:nvSpPr>
        <p:spPr>
          <a:xfrm>
            <a:off x="6111263" y="931959"/>
            <a:ext cx="5856627" cy="405199"/>
          </a:xfrm>
          <a:prstGeom prst="roundRect">
            <a:avLst>
              <a:gd name="adj" fmla="val 20110"/>
            </a:avLst>
          </a:prstGeom>
          <a:solidFill>
            <a:srgbClr val="0F5AA8"/>
          </a:solidFill>
          <a:ln/>
        </p:spPr>
        <p:txBody>
          <a:bodyPr/>
          <a:p/>
        </p:txBody>
      </p:sp>
      <p:sp>
        <p:nvSpPr>
          <p:cNvPr id="28" name="Shape 16"/>
          <p:cNvSpPr/>
          <p:nvPr/>
        </p:nvSpPr>
        <p:spPr>
          <a:xfrm>
            <a:off x="6243674" y="952219"/>
            <a:ext cx="366676" cy="364679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29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14972" y="1023129"/>
            <a:ext cx="224080" cy="222860"/>
          </a:xfrm>
          <a:prstGeom prst="rect">
            <a:avLst/>
          </a:prstGeom>
        </p:spPr>
      </p:pic>
      <p:sp>
        <p:nvSpPr>
          <p:cNvPr id="30" name="Text 17"/>
          <p:cNvSpPr txBox="1"/>
          <p:nvPr/>
        </p:nvSpPr>
        <p:spPr>
          <a:xfrm>
            <a:off x="6671462" y="931959"/>
            <a:ext cx="5296428" cy="405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ECONOMIC, ENVIRONMENTAL &amp; OPERATIONAL IMPACT</a:t>
            </a:r>
            <a:endParaRPr lang="en-US" sz="1404" dirty="0"/>
          </a:p>
        </p:txBody>
      </p:sp>
      <p:pic>
        <p:nvPicPr>
          <p:cNvPr id="31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02932" y="1499238"/>
            <a:ext cx="2169498" cy="1033258"/>
          </a:xfrm>
          <a:prstGeom prst="rect">
            <a:avLst/>
          </a:prstGeom>
        </p:spPr>
      </p:pic>
      <p:pic>
        <p:nvPicPr>
          <p:cNvPr id="32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02932" y="2654056"/>
            <a:ext cx="2169498" cy="1002869"/>
          </a:xfrm>
          <a:prstGeom prst="rect">
            <a:avLst/>
          </a:prstGeom>
        </p:spPr>
      </p:pic>
      <p:pic>
        <p:nvPicPr>
          <p:cNvPr id="33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02932" y="3778484"/>
            <a:ext cx="2169498" cy="1063648"/>
          </a:xfrm>
          <a:prstGeom prst="rect">
            <a:avLst/>
          </a:prstGeom>
        </p:spPr>
      </p:pic>
      <p:sp>
        <p:nvSpPr>
          <p:cNvPr id="34" name="Shape 18"/>
          <p:cNvSpPr/>
          <p:nvPr/>
        </p:nvSpPr>
        <p:spPr>
          <a:xfrm>
            <a:off x="8596510" y="1560018"/>
            <a:ext cx="631497" cy="628059"/>
          </a:xfrm>
          <a:prstGeom prst="ellipse">
            <a:avLst/>
          </a:prstGeom>
          <a:solidFill>
            <a:srgbClr val="DDF1E3"/>
          </a:solidFill>
          <a:ln/>
        </p:spPr>
        <p:txBody>
          <a:bodyPr/>
          <a:p/>
        </p:txBody>
      </p:sp>
      <p:pic>
        <p:nvPicPr>
          <p:cNvPr id="35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759477" y="1722097"/>
            <a:ext cx="305563" cy="303900"/>
          </a:xfrm>
          <a:prstGeom prst="rect">
            <a:avLst/>
          </a:prstGeom>
        </p:spPr>
      </p:pic>
      <p:sp>
        <p:nvSpPr>
          <p:cNvPr id="36" name="Text 19"/>
          <p:cNvSpPr txBox="1"/>
          <p:nvPr/>
        </p:nvSpPr>
        <p:spPr>
          <a:xfrm>
            <a:off x="9452087" y="1539758"/>
            <a:ext cx="2546360" cy="810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43" b="1" dirty="0">
                <a:solidFill>
                  <a:srgbClr val="1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Inspection Costs</a:t>
            </a:r>
            <a:endParaRPr lang="en-US" sz="1043" dirty="0"/>
          </a:p>
          <a:p>
            <a:pPr marL="0" indent="0" algn="l">
              <a:buNone/>
            </a:pPr>
            <a:r>
              <a:rPr lang="en-US" sz="1043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municipal vehicles can be converted into mobile road-inspection units, reducing manual inspection costs.</a:t>
            </a:r>
            <a:endParaRPr lang="en-US" sz="1043" dirty="0"/>
          </a:p>
        </p:txBody>
      </p:sp>
      <p:sp>
        <p:nvSpPr>
          <p:cNvPr id="37" name="Shape 20"/>
          <p:cNvSpPr/>
          <p:nvPr/>
        </p:nvSpPr>
        <p:spPr>
          <a:xfrm>
            <a:off x="8596510" y="2724966"/>
            <a:ext cx="631497" cy="628059"/>
          </a:xfrm>
          <a:prstGeom prst="ellipse">
            <a:avLst/>
          </a:prstGeom>
          <a:solidFill>
            <a:srgbClr val="DDF1E3"/>
          </a:solidFill>
          <a:ln/>
        </p:spPr>
        <p:txBody>
          <a:bodyPr/>
          <a:p/>
        </p:txBody>
      </p:sp>
      <p:pic>
        <p:nvPicPr>
          <p:cNvPr id="38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759477" y="2887046"/>
            <a:ext cx="305563" cy="303900"/>
          </a:xfrm>
          <a:prstGeom prst="rect">
            <a:avLst/>
          </a:prstGeom>
        </p:spPr>
      </p:pic>
      <p:sp>
        <p:nvSpPr>
          <p:cNvPr id="39" name="Text 21"/>
          <p:cNvSpPr txBox="1"/>
          <p:nvPr/>
        </p:nvSpPr>
        <p:spPr>
          <a:xfrm>
            <a:off x="9452087" y="2755356"/>
            <a:ext cx="2546360" cy="810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43" b="1" dirty="0">
                <a:solidFill>
                  <a:srgbClr val="1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Prioritized Repairs</a:t>
            </a:r>
            <a:endParaRPr lang="en-US" sz="1043" dirty="0"/>
          </a:p>
          <a:p>
            <a:pPr marL="0" indent="0" algn="l">
              <a:buNone/>
            </a:pPr>
            <a:r>
              <a:t>RPI + IRC:82 rates (Rs.4,500/m2 pothole, Rs.2,800/m2 crack) auto-generate Chief Engineer Monday PDF reports.</a:t>
            </a:r>
            <a:endParaRPr lang="en-US" sz="1043" dirty="0"/>
          </a:p>
        </p:txBody>
      </p:sp>
      <p:sp>
        <p:nvSpPr>
          <p:cNvPr id="40" name="Shape 22"/>
          <p:cNvSpPr/>
          <p:nvPr/>
        </p:nvSpPr>
        <p:spPr>
          <a:xfrm>
            <a:off x="8596510" y="3991214"/>
            <a:ext cx="631497" cy="628059"/>
          </a:xfrm>
          <a:prstGeom prst="ellipse">
            <a:avLst/>
          </a:prstGeom>
          <a:solidFill>
            <a:srgbClr val="DDF1E3"/>
          </a:solidFill>
          <a:ln/>
        </p:spPr>
        <p:txBody>
          <a:bodyPr/>
          <a:p/>
        </p:txBody>
      </p:sp>
      <p:pic>
        <p:nvPicPr>
          <p:cNvPr id="41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759477" y="4153294"/>
            <a:ext cx="305563" cy="303900"/>
          </a:xfrm>
          <a:prstGeom prst="rect">
            <a:avLst/>
          </a:prstGeom>
        </p:spPr>
      </p:pic>
      <p:sp>
        <p:nvSpPr>
          <p:cNvPr id="42" name="Text 23"/>
          <p:cNvSpPr txBox="1"/>
          <p:nvPr/>
        </p:nvSpPr>
        <p:spPr>
          <a:xfrm>
            <a:off x="9452087" y="3970954"/>
            <a:ext cx="2546360" cy="810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43" b="1" dirty="0">
                <a:solidFill>
                  <a:srgbClr val="1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Benefits</a:t>
            </a:r>
            <a:endParaRPr lang="en-US" sz="1043" dirty="0"/>
          </a:p>
          <a:p>
            <a:pPr marL="0" indent="0" algn="l">
              <a:buNone/>
            </a:pPr>
            <a:r>
              <a:rPr lang="en-US" sz="1043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Optimizes resource usage, reduces material waste and lowers carbon emissions through efficient maintenance.</a:t>
            </a:r>
            <a:endParaRPr lang="en-US" sz="1043" dirty="0"/>
          </a:p>
        </p:txBody>
      </p:sp>
      <p:sp>
        <p:nvSpPr>
          <p:cNvPr id="43" name="Shape 24"/>
          <p:cNvSpPr/>
          <p:nvPr/>
        </p:nvSpPr>
        <p:spPr>
          <a:xfrm>
            <a:off x="254636" y="5419542"/>
            <a:ext cx="11866035" cy="911699"/>
          </a:xfrm>
          <a:prstGeom prst="roundRect">
            <a:avLst>
              <a:gd name="adj" fmla="val 8938"/>
            </a:avLst>
          </a:prstGeom>
          <a:solidFill>
            <a:srgbClr val="EAF5FF"/>
          </a:solidFill>
          <a:ln w="12700">
            <a:solidFill>
              <a:srgbClr val="BBD6F2"/>
            </a:solidFill>
            <a:prstDash val="solid"/>
          </a:ln>
        </p:spPr>
        <p:txBody>
          <a:bodyPr/>
          <a:p/>
        </p:txBody>
      </p:sp>
      <p:sp>
        <p:nvSpPr>
          <p:cNvPr id="44" name="Text 25"/>
          <p:cNvSpPr txBox="1"/>
          <p:nvPr/>
        </p:nvSpPr>
        <p:spPr>
          <a:xfrm>
            <a:off x="407418" y="5490452"/>
            <a:ext cx="916689" cy="384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3" b="1" dirty="0">
                <a:solidFill>
                  <a:srgbClr val="1F4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</a:t>
            </a:r>
            <a:endParaRPr lang="en-US" sz="1123" dirty="0"/>
          </a:p>
          <a:p>
            <a:pPr marL="0" indent="0" algn="ctr">
              <a:buNone/>
            </a:pPr>
            <a:r>
              <a:rPr lang="en-US" sz="1123" b="1" dirty="0">
                <a:solidFill>
                  <a:srgbClr val="1F4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123" dirty="0"/>
          </a:p>
        </p:txBody>
      </p:sp>
      <p:pic>
        <p:nvPicPr>
          <p:cNvPr id="45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23166" y="5895651"/>
            <a:ext cx="285192" cy="283640"/>
          </a:xfrm>
          <a:prstGeom prst="rect">
            <a:avLst/>
          </a:prstGeom>
        </p:spPr>
      </p:pic>
      <p:sp>
        <p:nvSpPr>
          <p:cNvPr id="46" name="Shape 26"/>
          <p:cNvSpPr/>
          <p:nvPr/>
        </p:nvSpPr>
        <p:spPr>
          <a:xfrm>
            <a:off x="1558372" y="5601882"/>
            <a:ext cx="448159" cy="445719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4FB0"/>
            </a:solidFill>
            <a:prstDash val="solid"/>
          </a:ln>
        </p:spPr>
        <p:txBody>
          <a:bodyPr/>
          <a:p/>
        </p:txBody>
      </p:sp>
      <p:pic>
        <p:nvPicPr>
          <p:cNvPr id="47" name="Image 1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70412" y="5713312"/>
            <a:ext cx="224080" cy="222860"/>
          </a:xfrm>
          <a:prstGeom prst="rect">
            <a:avLst/>
          </a:prstGeom>
        </p:spPr>
      </p:pic>
      <p:sp>
        <p:nvSpPr>
          <p:cNvPr id="48" name="Text 27"/>
          <p:cNvSpPr txBox="1"/>
          <p:nvPr/>
        </p:nvSpPr>
        <p:spPr>
          <a:xfrm>
            <a:off x="2169498" y="5601882"/>
            <a:ext cx="1018544" cy="668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82" b="1" dirty="0">
                <a:solidFill>
                  <a:srgbClr val="1F4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 Roads</a:t>
            </a:r>
            <a:endParaRPr lang="en-US" sz="882" dirty="0"/>
          </a:p>
          <a:p>
            <a:pPr marL="0" indent="0" algn="l">
              <a:buNone/>
            </a:pPr>
            <a:r>
              <a:rPr lang="en-US" sz="882" dirty="0">
                <a:solidFill>
                  <a:srgbClr val="444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accidents and improves public safety.</a:t>
            </a:r>
            <a:endParaRPr lang="en-US" sz="882" dirty="0"/>
          </a:p>
        </p:txBody>
      </p:sp>
      <p:sp>
        <p:nvSpPr>
          <p:cNvPr id="49" name="Shape 28"/>
          <p:cNvSpPr/>
          <p:nvPr/>
        </p:nvSpPr>
        <p:spPr>
          <a:xfrm>
            <a:off x="3391751" y="5601882"/>
            <a:ext cx="448159" cy="445719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7A3D"/>
            </a:solidFill>
            <a:prstDash val="solid"/>
          </a:ln>
        </p:spPr>
        <p:txBody>
          <a:bodyPr/>
          <a:p/>
        </p:txBody>
      </p:sp>
      <p:pic>
        <p:nvPicPr>
          <p:cNvPr id="50" name="Image 19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503791" y="5713312"/>
            <a:ext cx="224080" cy="222860"/>
          </a:xfrm>
          <a:prstGeom prst="rect">
            <a:avLst/>
          </a:prstGeom>
        </p:spPr>
      </p:pic>
      <p:sp>
        <p:nvSpPr>
          <p:cNvPr id="51" name="Text 29"/>
          <p:cNvSpPr txBox="1"/>
          <p:nvPr/>
        </p:nvSpPr>
        <p:spPr>
          <a:xfrm>
            <a:off x="4002877" y="5601882"/>
            <a:ext cx="1069471" cy="668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82" b="1" dirty="0">
                <a:solidFill>
                  <a:srgbClr val="1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Costs</a:t>
            </a:r>
            <a:endParaRPr lang="en-US" sz="882" dirty="0"/>
          </a:p>
          <a:p>
            <a:pPr marL="0" indent="0" algn="l">
              <a:buNone/>
            </a:pPr>
            <a:r>
              <a:rPr lang="en-US" sz="882" dirty="0">
                <a:solidFill>
                  <a:srgbClr val="444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Cuts inspection and maintenance costs significantly.</a:t>
            </a:r>
            <a:endParaRPr lang="en-US" sz="882" dirty="0"/>
          </a:p>
        </p:txBody>
      </p:sp>
      <p:sp>
        <p:nvSpPr>
          <p:cNvPr id="52" name="Shape 30"/>
          <p:cNvSpPr/>
          <p:nvPr/>
        </p:nvSpPr>
        <p:spPr>
          <a:xfrm>
            <a:off x="5255686" y="5601882"/>
            <a:ext cx="448159" cy="445719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27414"/>
            </a:solidFill>
            <a:prstDash val="solid"/>
          </a:ln>
        </p:spPr>
        <p:txBody>
          <a:bodyPr/>
          <a:p/>
        </p:txBody>
      </p:sp>
      <p:pic>
        <p:nvPicPr>
          <p:cNvPr id="53" name="Image 2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367726" y="5713312"/>
            <a:ext cx="224080" cy="222860"/>
          </a:xfrm>
          <a:prstGeom prst="rect">
            <a:avLst/>
          </a:prstGeom>
        </p:spPr>
      </p:pic>
      <p:sp>
        <p:nvSpPr>
          <p:cNvPr id="54" name="Text 31"/>
          <p:cNvSpPr txBox="1"/>
          <p:nvPr/>
        </p:nvSpPr>
        <p:spPr>
          <a:xfrm>
            <a:off x="5856627" y="5601882"/>
            <a:ext cx="865762" cy="668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82" b="1" dirty="0">
                <a:solidFill>
                  <a:srgbClr val="E27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Response</a:t>
            </a:r>
            <a:endParaRPr lang="en-US" sz="882" dirty="0"/>
          </a:p>
          <a:p>
            <a:pPr marL="0" indent="0" algn="l">
              <a:buNone/>
            </a:pPr>
            <a:r>
              <a:rPr lang="en-US" sz="882" dirty="0">
                <a:solidFill>
                  <a:srgbClr val="444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quick action and timely road repairs.</a:t>
            </a:r>
            <a:endParaRPr lang="en-US" sz="882" dirty="0"/>
          </a:p>
        </p:txBody>
      </p:sp>
      <p:sp>
        <p:nvSpPr>
          <p:cNvPr id="55" name="Shape 32"/>
          <p:cNvSpPr/>
          <p:nvPr/>
        </p:nvSpPr>
        <p:spPr>
          <a:xfrm>
            <a:off x="6926098" y="5601882"/>
            <a:ext cx="448159" cy="445719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B3FA0"/>
            </a:solidFill>
            <a:prstDash val="solid"/>
          </a:ln>
        </p:spPr>
        <p:txBody>
          <a:bodyPr/>
          <a:p/>
        </p:txBody>
      </p:sp>
      <p:pic>
        <p:nvPicPr>
          <p:cNvPr id="56" name="Image 21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038138" y="5713312"/>
            <a:ext cx="224080" cy="222860"/>
          </a:xfrm>
          <a:prstGeom prst="rect">
            <a:avLst/>
          </a:prstGeom>
        </p:spPr>
      </p:pic>
      <p:sp>
        <p:nvSpPr>
          <p:cNvPr id="57" name="Text 33"/>
          <p:cNvSpPr txBox="1"/>
          <p:nvPr/>
        </p:nvSpPr>
        <p:spPr>
          <a:xfrm>
            <a:off x="7516853" y="5601882"/>
            <a:ext cx="967617" cy="668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82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Impact</a:t>
            </a:r>
            <a:endParaRPr lang="en-US" sz="882" dirty="0"/>
          </a:p>
          <a:p>
            <a:pPr marL="0" indent="0" algn="l">
              <a:buNone/>
            </a:pPr>
            <a:r>
              <a:rPr lang="en-US" sz="882" dirty="0">
                <a:solidFill>
                  <a:srgbClr val="444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Optimizes resources and reduces environmental impact.</a:t>
            </a:r>
            <a:endParaRPr lang="en-US" sz="882" dirty="0"/>
          </a:p>
        </p:txBody>
      </p:sp>
      <p:sp>
        <p:nvSpPr>
          <p:cNvPr id="58" name="Shape 34"/>
          <p:cNvSpPr/>
          <p:nvPr/>
        </p:nvSpPr>
        <p:spPr>
          <a:xfrm>
            <a:off x="8616881" y="5601882"/>
            <a:ext cx="448159" cy="445719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7A8A"/>
            </a:solidFill>
            <a:prstDash val="solid"/>
          </a:ln>
        </p:spPr>
        <p:txBody>
          <a:bodyPr/>
          <a:p/>
        </p:txBody>
      </p:sp>
      <p:pic>
        <p:nvPicPr>
          <p:cNvPr id="59" name="Image 22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728921" y="5713312"/>
            <a:ext cx="224080" cy="222860"/>
          </a:xfrm>
          <a:prstGeom prst="rect">
            <a:avLst/>
          </a:prstGeom>
        </p:spPr>
      </p:pic>
      <p:sp>
        <p:nvSpPr>
          <p:cNvPr id="60" name="Text 35"/>
          <p:cNvSpPr txBox="1"/>
          <p:nvPr/>
        </p:nvSpPr>
        <p:spPr>
          <a:xfrm>
            <a:off x="9166894" y="5601882"/>
            <a:ext cx="1201882" cy="668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82" b="1" dirty="0">
                <a:solidFill>
                  <a:srgbClr val="0F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Traffic Management</a:t>
            </a:r>
            <a:endParaRPr lang="en-US" sz="882" dirty="0"/>
          </a:p>
          <a:p>
            <a:pPr marL="0" indent="0" algn="l">
              <a:buNone/>
            </a:pPr>
            <a:r>
              <a:rPr lang="en-US" sz="882" dirty="0">
                <a:solidFill>
                  <a:srgbClr val="444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flow, reduces congestion and identifies hotspots.</a:t>
            </a:r>
            <a:endParaRPr lang="en-US" sz="882" dirty="0"/>
          </a:p>
        </p:txBody>
      </p:sp>
      <p:sp>
        <p:nvSpPr>
          <p:cNvPr id="61" name="Shape 36"/>
          <p:cNvSpPr/>
          <p:nvPr/>
        </p:nvSpPr>
        <p:spPr>
          <a:xfrm>
            <a:off x="10470630" y="5601882"/>
            <a:ext cx="448159" cy="445719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C7A"/>
            </a:solidFill>
            <a:prstDash val="solid"/>
          </a:ln>
        </p:spPr>
        <p:txBody>
          <a:bodyPr/>
          <a:p/>
        </p:txBody>
      </p:sp>
      <p:pic>
        <p:nvPicPr>
          <p:cNvPr id="62" name="Image 23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582670" y="5713312"/>
            <a:ext cx="224080" cy="222860"/>
          </a:xfrm>
          <a:prstGeom prst="rect">
            <a:avLst/>
          </a:prstGeom>
        </p:spPr>
      </p:pic>
      <p:sp>
        <p:nvSpPr>
          <p:cNvPr id="63" name="Text 37"/>
          <p:cNvSpPr txBox="1"/>
          <p:nvPr/>
        </p:nvSpPr>
        <p:spPr>
          <a:xfrm>
            <a:off x="11030830" y="5601882"/>
            <a:ext cx="1069471" cy="668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82" b="1" dirty="0">
                <a:solidFill>
                  <a:srgbClr val="1F3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Decisions</a:t>
            </a:r>
            <a:endParaRPr lang="en-US" sz="882" dirty="0"/>
          </a:p>
          <a:p>
            <a:pPr marL="0" indent="0" algn="l">
              <a:buNone/>
            </a:pPr>
            <a:r>
              <a:rPr lang="en-US" sz="882" dirty="0">
                <a:solidFill>
                  <a:srgbClr val="444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actionable insights for smarter urban planning.</a:t>
            </a:r>
            <a:endParaRPr lang="en-US" sz="882" dirty="0"/>
          </a:p>
        </p:txBody>
      </p:sp>
      <p:sp>
        <p:nvSpPr>
          <p:cNvPr id="64" name="Shape 38"/>
          <p:cNvSpPr/>
          <p:nvPr/>
        </p:nvSpPr>
        <p:spPr>
          <a:xfrm>
            <a:off x="3238969" y="5520842"/>
            <a:ext cx="0" cy="709099"/>
          </a:xfrm>
          <a:prstGeom prst="line">
            <a:avLst/>
          </a:prstGeom>
          <a:noFill/>
          <a:ln w="9525">
            <a:solidFill>
              <a:srgbClr val="9CC4EE"/>
            </a:solidFill>
            <a:prstDash val="solid"/>
          </a:ln>
        </p:spPr>
        <p:txBody>
          <a:bodyPr/>
          <a:p/>
        </p:txBody>
      </p:sp>
      <p:sp>
        <p:nvSpPr>
          <p:cNvPr id="65" name="Shape 39"/>
          <p:cNvSpPr/>
          <p:nvPr/>
        </p:nvSpPr>
        <p:spPr>
          <a:xfrm>
            <a:off x="5153832" y="5520842"/>
            <a:ext cx="0" cy="709099"/>
          </a:xfrm>
          <a:prstGeom prst="line">
            <a:avLst/>
          </a:prstGeom>
          <a:noFill/>
          <a:ln w="9525">
            <a:solidFill>
              <a:srgbClr val="9CC4EE"/>
            </a:solidFill>
            <a:prstDash val="solid"/>
          </a:ln>
        </p:spPr>
        <p:txBody>
          <a:bodyPr/>
          <a:p/>
        </p:txBody>
      </p:sp>
      <p:sp>
        <p:nvSpPr>
          <p:cNvPr id="66" name="Shape 40"/>
          <p:cNvSpPr/>
          <p:nvPr/>
        </p:nvSpPr>
        <p:spPr>
          <a:xfrm>
            <a:off x="6814058" y="5520842"/>
            <a:ext cx="0" cy="709099"/>
          </a:xfrm>
          <a:prstGeom prst="line">
            <a:avLst/>
          </a:prstGeom>
          <a:noFill/>
          <a:ln w="9525">
            <a:solidFill>
              <a:srgbClr val="9CC4EE"/>
            </a:solidFill>
            <a:prstDash val="solid"/>
          </a:ln>
        </p:spPr>
        <p:txBody>
          <a:bodyPr/>
          <a:p/>
        </p:txBody>
      </p:sp>
      <p:sp>
        <p:nvSpPr>
          <p:cNvPr id="67" name="Shape 41"/>
          <p:cNvSpPr/>
          <p:nvPr/>
        </p:nvSpPr>
        <p:spPr>
          <a:xfrm>
            <a:off x="8555768" y="5520842"/>
            <a:ext cx="0" cy="709099"/>
          </a:xfrm>
          <a:prstGeom prst="line">
            <a:avLst/>
          </a:prstGeom>
          <a:noFill/>
          <a:ln w="9525">
            <a:solidFill>
              <a:srgbClr val="9CC4EE"/>
            </a:solidFill>
            <a:prstDash val="solid"/>
          </a:ln>
        </p:spPr>
        <p:txBody>
          <a:bodyPr/>
          <a:p/>
        </p:txBody>
      </p:sp>
      <p:sp>
        <p:nvSpPr>
          <p:cNvPr id="68" name="Shape 42"/>
          <p:cNvSpPr/>
          <p:nvPr/>
        </p:nvSpPr>
        <p:spPr>
          <a:xfrm>
            <a:off x="10429889" y="5520842"/>
            <a:ext cx="0" cy="709099"/>
          </a:xfrm>
          <a:prstGeom prst="line">
            <a:avLst/>
          </a:prstGeom>
          <a:noFill/>
          <a:ln w="9525">
            <a:solidFill>
              <a:srgbClr val="9CC4EE"/>
            </a:solidFill>
            <a:prstDash val="solid"/>
          </a:ln>
        </p:spPr>
        <p:txBody>
          <a:bodyPr/>
          <a:p/>
        </p:txBody>
      </p:sp>
      <p:sp>
        <p:nvSpPr>
          <p:cNvPr id="69" name="Shape 43"/>
          <p:cNvSpPr/>
          <p:nvPr/>
        </p:nvSpPr>
        <p:spPr>
          <a:xfrm>
            <a:off x="0" y="6402151"/>
            <a:ext cx="12191970" cy="455849"/>
          </a:xfrm>
          <a:prstGeom prst="rect">
            <a:avLst/>
          </a:prstGeom>
          <a:solidFill>
            <a:srgbClr val="0B6BBE"/>
          </a:solidFill>
          <a:ln/>
        </p:spPr>
        <p:txBody>
          <a:bodyPr/>
          <a:p/>
        </p:txBody>
      </p:sp>
      <p:sp>
        <p:nvSpPr>
          <p:cNvPr id="70" name="Text 44"/>
          <p:cNvSpPr txBox="1"/>
          <p:nvPr/>
        </p:nvSpPr>
        <p:spPr>
          <a:xfrm>
            <a:off x="0" y="6442671"/>
            <a:ext cx="12191970" cy="3748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2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@SIH Idea submission- Template</a:t>
            </a:r>
            <a:endParaRPr lang="en-US" sz="962" dirty="0"/>
          </a:p>
        </p:txBody>
      </p:sp>
      <p:sp>
        <p:nvSpPr>
          <p:cNvPr id="71" name="Text 45"/>
          <p:cNvSpPr txBox="1"/>
          <p:nvPr/>
        </p:nvSpPr>
        <p:spPr>
          <a:xfrm>
            <a:off x="11478989" y="6442671"/>
            <a:ext cx="407418" cy="3748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62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62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84048" y="201168"/>
            <a:ext cx="137160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123D7D"/>
                </a:solidFill>
                <a:latin typeface="Arial"/>
              </a:rPr>
              <a:t>Vigilance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31720" y="146304"/>
            <a:ext cx="64922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700" b="1">
                <a:solidFill>
                  <a:srgbClr val="123D7D"/>
                </a:solidFill>
                <a:latin typeface="Arial"/>
              </a:rPr>
              <a:t>RESEARCH &amp; REFERENCES</a:t>
            </a:r>
          </a:p>
        </p:txBody>
      </p:sp>
      <p:pic>
        <p:nvPicPr>
          <p:cNvPr id="5" name="Picture 4" descr="sih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45720"/>
            <a:ext cx="2057400" cy="71323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274320" y="1042415"/>
            <a:ext cx="11658600" cy="457200"/>
          </a:xfrm>
          <a:prstGeom prst="roundRect">
            <a:avLst/>
          </a:prstGeom>
          <a:solidFill>
            <a:srgbClr val="EFF7FF"/>
          </a:solidFill>
          <a:ln w="11430">
            <a:solidFill>
              <a:srgbClr val="82C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84048" y="1051560"/>
            <a:ext cx="256032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50" b="1">
                <a:solidFill>
                  <a:srgbClr val="123D7D"/>
                </a:solidFill>
                <a:latin typeface="Arial"/>
              </a:rPr>
              <a:t>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051560"/>
            <a:ext cx="233172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19" b="1">
                <a:solidFill>
                  <a:srgbClr val="123D7D"/>
                </a:solidFill>
                <a:latin typeface="Arial"/>
              </a:rPr>
              <a:t>SIH26124 — Official Problem
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18688" y="1051560"/>
            <a:ext cx="580644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19" b="0">
                <a:solidFill>
                  <a:srgbClr val="123D7D"/>
                </a:solidFill>
                <a:latin typeface="Arial"/>
              </a:rPr>
              <a:t>Public-transport buses become mobile urban sensing units for road-hazard detection,
traffic analytics, GIS aggregation and incident intelligence.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0" y="1051560"/>
            <a:ext cx="2487168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80" b="0">
                <a:solidFill>
                  <a:srgbClr val="0070C0"/>
                </a:solidFill>
                <a:latin typeface="Arial"/>
              </a:rPr>
              <a:t>https://sih.gov.in/sih2026PS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1458468"/>
            <a:ext cx="11658600" cy="365760"/>
          </a:xfrm>
          <a:prstGeom prst="roundRect">
            <a:avLst/>
          </a:prstGeom>
          <a:solidFill>
            <a:srgbClr val="EFF7FF"/>
          </a:solidFill>
          <a:ln w="11430">
            <a:solidFill>
              <a:srgbClr val="82C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84048" y="1467612"/>
            <a:ext cx="25603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50" b="1">
                <a:solidFill>
                  <a:srgbClr val="123D7D"/>
                </a:solidFill>
                <a:latin typeface="Arial"/>
              </a:rPr>
              <a:t>2.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467612"/>
            <a:ext cx="23317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19" b="1">
                <a:solidFill>
                  <a:srgbClr val="123D7D"/>
                </a:solidFill>
                <a:latin typeface="Arial"/>
              </a:rPr>
              <a:t>RDD2022 — Arya et 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18688" y="1467612"/>
            <a:ext cx="580644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19" b="0">
                <a:solidFill>
                  <a:srgbClr val="123D7D"/>
                </a:solidFill>
                <a:latin typeface="Arial"/>
              </a:rPr>
              <a:t>Road-damage image dataset supporting automated road-defect detection research.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1467612"/>
            <a:ext cx="2487168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80" b="0">
                <a:solidFill>
                  <a:srgbClr val="0070C0"/>
                </a:solidFill>
                <a:latin typeface="Arial"/>
              </a:rPr>
              <a:t>https://doi.org/10.1002/gdj3.260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1874519"/>
            <a:ext cx="11658600" cy="365760"/>
          </a:xfrm>
          <a:prstGeom prst="roundRect">
            <a:avLst/>
          </a:prstGeom>
          <a:solidFill>
            <a:srgbClr val="EFF7FF"/>
          </a:solidFill>
          <a:ln w="11430">
            <a:solidFill>
              <a:srgbClr val="82C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84048" y="1883663"/>
            <a:ext cx="25603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50" b="1">
                <a:solidFill>
                  <a:srgbClr val="123D7D"/>
                </a:solidFill>
                <a:latin typeface="Arial"/>
              </a:rPr>
              <a:t>3.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1883663"/>
            <a:ext cx="23317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19" b="1">
                <a:solidFill>
                  <a:srgbClr val="123D7D"/>
                </a:solidFill>
                <a:latin typeface="Arial"/>
              </a:rPr>
              <a:t>Ultralytics YOLO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18688" y="1883663"/>
            <a:ext cx="580644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19" b="0">
                <a:solidFill>
                  <a:srgbClr val="123D7D"/>
                </a:solidFill>
                <a:latin typeface="Arial"/>
              </a:rPr>
              <a:t>Real-time object detection, training, validation and edge-oriented deployment
workflows.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1883663"/>
            <a:ext cx="2487168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80" b="0">
                <a:solidFill>
                  <a:srgbClr val="0070C0"/>
                </a:solidFill>
                <a:latin typeface="Arial"/>
              </a:rPr>
              <a:t>https://docs.ultralytics.com/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320" y="2290572"/>
            <a:ext cx="11658600" cy="365760"/>
          </a:xfrm>
          <a:prstGeom prst="roundRect">
            <a:avLst/>
          </a:prstGeom>
          <a:solidFill>
            <a:srgbClr val="EFF7FF"/>
          </a:solidFill>
          <a:ln w="11430">
            <a:solidFill>
              <a:srgbClr val="82C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84048" y="2299715"/>
            <a:ext cx="25603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50" b="1">
                <a:solidFill>
                  <a:srgbClr val="123D7D"/>
                </a:solidFill>
                <a:latin typeface="Arial"/>
              </a:rPr>
              <a:t>4.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2299715"/>
            <a:ext cx="23317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19" b="1">
                <a:solidFill>
                  <a:srgbClr val="123D7D"/>
                </a:solidFill>
                <a:latin typeface="Arial"/>
              </a:rPr>
              <a:t>OpenCV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18688" y="2299715"/>
            <a:ext cx="580644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19" b="0">
                <a:solidFill>
                  <a:srgbClr val="123D7D"/>
                </a:solidFill>
                <a:latin typeface="Arial"/>
              </a:rPr>
              <a:t>Computer vision and video processing for image analysis and object detection.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2299715"/>
            <a:ext cx="2487168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80" b="0">
                <a:solidFill>
                  <a:srgbClr val="0070C0"/>
                </a:solidFill>
                <a:latin typeface="Arial"/>
              </a:rPr>
              <a:t>https://opencv.org/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2706624"/>
            <a:ext cx="11658600" cy="365760"/>
          </a:xfrm>
          <a:prstGeom prst="roundRect">
            <a:avLst/>
          </a:prstGeom>
          <a:solidFill>
            <a:srgbClr val="EFF7FF"/>
          </a:solidFill>
          <a:ln w="11430">
            <a:solidFill>
              <a:srgbClr val="82C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84048" y="2715768"/>
            <a:ext cx="25603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50" b="1">
                <a:solidFill>
                  <a:srgbClr val="123D7D"/>
                </a:solidFill>
                <a:latin typeface="Arial"/>
              </a:rPr>
              <a:t>5.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2715768"/>
            <a:ext cx="23317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t>PostgreSQL 17 + PostGIS 3.3 (ST_ClusterDBSCAN 15m radius)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18688" y="2715768"/>
            <a:ext cx="580644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19" b="0">
                <a:solidFill>
                  <a:srgbClr val="123D7D"/>
                </a:solidFill>
                <a:latin typeface="Arial"/>
              </a:rPr>
              <a:t>Spatial storage, indexing, clustering and GIS analytics.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5440" y="2715768"/>
            <a:ext cx="2487168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80" b="0">
                <a:solidFill>
                  <a:srgbClr val="0070C0"/>
                </a:solidFill>
                <a:latin typeface="Arial"/>
              </a:rPr>
              <a:t>https://postgis.net/documentation/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74320" y="3122676"/>
            <a:ext cx="11658600" cy="365760"/>
          </a:xfrm>
          <a:prstGeom prst="roundRect">
            <a:avLst/>
          </a:prstGeom>
          <a:solidFill>
            <a:srgbClr val="EFF7FF"/>
          </a:solidFill>
          <a:ln w="11430">
            <a:solidFill>
              <a:srgbClr val="82C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84048" y="3131820"/>
            <a:ext cx="25603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50" b="1">
                <a:solidFill>
                  <a:srgbClr val="123D7D"/>
                </a:solidFill>
                <a:latin typeface="Arial"/>
              </a:rPr>
              <a:t>6.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3131820"/>
            <a:ext cx="23317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19" b="1">
                <a:solidFill>
                  <a:srgbClr val="123D7D"/>
                </a:solidFill>
                <a:latin typeface="Arial"/>
              </a:rPr>
              <a:t>OGC API – Features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18688" y="3131820"/>
            <a:ext cx="580644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19" b="0">
                <a:solidFill>
                  <a:srgbClr val="123D7D"/>
                </a:solidFill>
                <a:latin typeface="Arial"/>
              </a:rPr>
              <a:t>Interoperable geospatial feature access through Web APIs.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35440" y="3131820"/>
            <a:ext cx="2487168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80" b="0">
                <a:solidFill>
                  <a:srgbClr val="0070C0"/>
                </a:solidFill>
                <a:latin typeface="Arial"/>
              </a:rPr>
              <a:t>https://www.ogc.org/standards/ogcapi-features/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74320" y="3538728"/>
            <a:ext cx="11658600" cy="365760"/>
          </a:xfrm>
          <a:prstGeom prst="roundRect">
            <a:avLst/>
          </a:prstGeom>
          <a:solidFill>
            <a:srgbClr val="EFF7FF"/>
          </a:solidFill>
          <a:ln w="11430">
            <a:solidFill>
              <a:srgbClr val="82C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84048" y="3547872"/>
            <a:ext cx="25603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50" b="1">
                <a:solidFill>
                  <a:srgbClr val="123D7D"/>
                </a:solidFill>
                <a:latin typeface="Arial"/>
              </a:rPr>
              <a:t>7.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3547872"/>
            <a:ext cx="23317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19" b="1">
                <a:solidFill>
                  <a:srgbClr val="123D7D"/>
                </a:solidFill>
                <a:latin typeface="Arial"/>
              </a:rPr>
              <a:t>MQTT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18688" y="3547872"/>
            <a:ext cx="580644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19" b="0">
                <a:solidFill>
                  <a:srgbClr val="123D7D"/>
                </a:solidFill>
                <a:latin typeface="Arial"/>
              </a:rPr>
              <a:t>Lightweight messaging protocol for IoT/edge devices and event synchronization.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35440" y="3547872"/>
            <a:ext cx="2487168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80" b="0">
                <a:solidFill>
                  <a:srgbClr val="0070C0"/>
                </a:solidFill>
                <a:latin typeface="Arial"/>
              </a:rPr>
              <a:t>https://mqtt.org/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74320" y="3954780"/>
            <a:ext cx="11658600" cy="365760"/>
          </a:xfrm>
          <a:prstGeom prst="roundRect">
            <a:avLst/>
          </a:prstGeom>
          <a:solidFill>
            <a:srgbClr val="EFF7FF"/>
          </a:solidFill>
          <a:ln w="11430">
            <a:solidFill>
              <a:srgbClr val="82C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84048" y="3963924"/>
            <a:ext cx="25603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50" b="1">
                <a:solidFill>
                  <a:srgbClr val="123D7D"/>
                </a:solidFill>
                <a:latin typeface="Arial"/>
              </a:rPr>
              <a:t>8.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3963924"/>
            <a:ext cx="23317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19" b="1">
                <a:solidFill>
                  <a:srgbClr val="123D7D"/>
                </a:solidFill>
                <a:latin typeface="Arial"/>
              </a:rPr>
              <a:t>License Plate Recognition (ANPR)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18688" y="3963924"/>
            <a:ext cx="580644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19" b="0">
                <a:solidFill>
                  <a:srgbClr val="123D7D"/>
                </a:solidFill>
                <a:latin typeface="Arial"/>
              </a:rPr>
              <a:t>Automatic number plate recognition for incident detection and vehicle tracking.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35440" y="3963924"/>
            <a:ext cx="2487168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80" b="0">
                <a:solidFill>
                  <a:srgbClr val="0070C0"/>
                </a:solidFill>
                <a:latin typeface="Arial"/>
              </a:rPr>
              <a:t>https://github.com/openalpr/openalpr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74320" y="4370832"/>
            <a:ext cx="11658600" cy="365760"/>
          </a:xfrm>
          <a:prstGeom prst="roundRect">
            <a:avLst/>
          </a:prstGeom>
          <a:solidFill>
            <a:srgbClr val="EFF7FF"/>
          </a:solidFill>
          <a:ln w="11430">
            <a:solidFill>
              <a:srgbClr val="82C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84048" y="4379976"/>
            <a:ext cx="25603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50" b="1">
                <a:solidFill>
                  <a:srgbClr val="123D7D"/>
                </a:solidFill>
                <a:latin typeface="Arial"/>
              </a:rPr>
              <a:t>9.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" y="4379976"/>
            <a:ext cx="23317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19" b="1">
                <a:solidFill>
                  <a:srgbClr val="123D7D"/>
                </a:solidFill>
                <a:latin typeface="Arial"/>
              </a:rPr>
              <a:t>BDD100K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218688" y="4379976"/>
            <a:ext cx="580644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19" b="0">
                <a:solidFill>
                  <a:srgbClr val="123D7D"/>
                </a:solidFill>
                <a:latin typeface="Arial"/>
              </a:rPr>
              <a:t>Traffic scene and incident detection dataset for computer vision research.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35440" y="4379976"/>
            <a:ext cx="2487168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80" b="0">
                <a:solidFill>
                  <a:srgbClr val="0070C0"/>
                </a:solidFill>
                <a:latin typeface="Arial"/>
              </a:rPr>
              <a:t>https://bdd100k.github.io/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74320" y="4786883"/>
            <a:ext cx="11658600" cy="365760"/>
          </a:xfrm>
          <a:prstGeom prst="roundRect">
            <a:avLst/>
          </a:prstGeom>
          <a:solidFill>
            <a:srgbClr val="EFF7FF"/>
          </a:solidFill>
          <a:ln w="11430">
            <a:solidFill>
              <a:srgbClr val="82C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84048" y="4796027"/>
            <a:ext cx="25603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50" b="1">
                <a:solidFill>
                  <a:srgbClr val="123D7D"/>
                </a:solidFill>
                <a:latin typeface="Arial"/>
              </a:rPr>
              <a:t>10.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8368" y="4796027"/>
            <a:ext cx="23317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19" b="1">
                <a:solidFill>
                  <a:srgbClr val="123D7D"/>
                </a:solidFill>
                <a:latin typeface="Arial"/>
              </a:rPr>
              <a:t>Edge Vision &amp; Multi-Camera Analytics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18688" y="4796027"/>
            <a:ext cx="580644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19" b="0">
                <a:solidFill>
                  <a:srgbClr val="123D7D"/>
                </a:solidFill>
                <a:latin typeface="Arial"/>
              </a:rPr>
              <a:t>Multi-camera fusion, real-time detection and tracking for road/traffic scenarios.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35440" y="4796027"/>
            <a:ext cx="2487168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80" b="0">
                <a:solidFill>
                  <a:srgbClr val="0070C0"/>
                </a:solidFill>
                <a:latin typeface="Arial"/>
              </a:rPr>
              <a:t>https://github.com/ultralytics/ultralytics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74320" y="5202936"/>
            <a:ext cx="11658600" cy="365760"/>
          </a:xfrm>
          <a:prstGeom prst="roundRect">
            <a:avLst/>
          </a:prstGeom>
          <a:solidFill>
            <a:srgbClr val="EFF7FF"/>
          </a:solidFill>
          <a:ln w="11430">
            <a:solidFill>
              <a:srgbClr val="82C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384048" y="5212079"/>
            <a:ext cx="25603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50" b="1">
                <a:solidFill>
                  <a:srgbClr val="123D7D"/>
                </a:solidFill>
                <a:latin typeface="Arial"/>
              </a:rPr>
              <a:t>11.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" y="5212079"/>
            <a:ext cx="23317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19" b="1">
                <a:solidFill>
                  <a:srgbClr val="123D7D"/>
                </a:solidFill>
                <a:latin typeface="Arial"/>
              </a:rPr>
              <a:t>Secure Data Transmission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218688" y="5212079"/>
            <a:ext cx="580644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19" b="0">
                <a:solidFill>
                  <a:srgbClr val="123D7D"/>
                </a:solidFill>
                <a:latin typeface="Arial"/>
              </a:rPr>
              <a:t>Lightweight, secure communication (e.g., TLS/MQTT) for incident and telemetry data.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235440" y="5212079"/>
            <a:ext cx="2487168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80" b="0">
                <a:solidFill>
                  <a:srgbClr val="0070C0"/>
                </a:solidFill>
                <a:latin typeface="Arial"/>
              </a:rPr>
              <a:t>https://www.eclipse.org/paho/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284480" y="5824727"/>
            <a:ext cx="11658600" cy="475488"/>
          </a:xfrm>
          <a:prstGeom prst="roundRect">
            <a:avLst/>
          </a:prstGeom>
          <a:solidFill>
            <a:srgbClr val="EFF7FF"/>
          </a:solidFill>
          <a:ln w="11430">
            <a:solidFill>
              <a:srgbClr val="82C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2" name="TextBox 61"/>
          <p:cNvSpPr txBox="1"/>
          <p:nvPr/>
        </p:nvSpPr>
        <p:spPr>
          <a:xfrm>
            <a:off x="475488" y="5879591"/>
            <a:ext cx="84124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1" dirty="0">
                <a:solidFill>
                  <a:srgbClr val="F57819"/>
                </a:solidFill>
                <a:latin typeface="Arial"/>
              </a:rPr>
              <a:t>Design
basis: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318564" y="5923696"/>
            <a:ext cx="10972" cy="274320"/>
          </a:xfrm>
          <a:prstGeom prst="rect">
            <a:avLst/>
          </a:prstGeom>
          <a:solidFill>
            <a:srgbClr val="F578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1728216" y="5852576"/>
            <a:ext cx="99669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123D7D"/>
                </a:solidFill>
                <a:latin typeface="Arial"/>
              </a:rPr>
              <a:t>Edge AI + multi-camera vision + ANPR + fleet aggregation + GIS analytics + secure incident handling form the end-to-end urban intelligence workflow.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0" y="6441946"/>
            <a:ext cx="12191999" cy="41148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4434840" y="6510528"/>
            <a:ext cx="33375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  <a:latin typeface="Arial"/>
              </a:rPr>
              <a:t>@SIH Idea submission- Template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567160" y="6501384"/>
            <a:ext cx="256032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69" name="Oval 68" descr="Your startup LOGO">
            <a:extLst>
              <a:ext uri="{FF2B5EF4-FFF2-40B4-BE49-F238E27FC236}">
                <a16:creationId xmlns:a16="http://schemas.microsoft.com/office/drawing/2014/main" id="{6E0282C4-624B-9294-C142-C509957A4F8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84480" y="134995"/>
            <a:ext cx="1523999" cy="798095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Vigilance</a:t>
            </a:r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219456"/>
            <a:ext cx="1700784" cy="8046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035040" cy="42062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2800" b="1" i="0" u="none">
                <a:solidFill>
                  <a:srgbClr val="123D6E"/>
                </a:solidFill>
                <a:latin typeface="Arial"/>
              </a:defRPr>
            </a:pPr>
            <a:r>
              <a:t>RESEARCH &amp; REFERENCES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52144"/>
            <a:ext cx="10012680" cy="694944"/>
          </a:xfrm>
          <a:prstGeom prst="roundRect">
            <a:avLst/>
          </a:prstGeom>
          <a:solidFill>
            <a:srgbClr val="F2F4F7"/>
          </a:solidFill>
          <a:ln w="1397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261872"/>
            <a:ext cx="2148840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120" b="1" i="0" u="none">
                <a:solidFill>
                  <a:srgbClr val="123D6E"/>
                </a:solidFill>
                <a:latin typeface="Arial"/>
              </a:defRPr>
            </a:pPr>
            <a:r>
              <a:t>1. SIH26124 — Official Problem 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72384" y="1234440"/>
            <a:ext cx="516636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060" b="0" i="0" u="none">
                <a:solidFill>
                  <a:srgbClr val="1C232A"/>
                </a:solidFill>
                <a:latin typeface="Arial"/>
              </a:defRPr>
            </a:pPr>
            <a:r>
              <a:rPr dirty="0"/>
              <a:t>Public-transport buses become mobile urban sensing units for road-hazard detection, traffic analytics, GIS aggregation and incident intelligence.</a:t>
            </a:r>
          </a:p>
        </p:txBody>
      </p:sp>
      <p:sp>
        <p:nvSpPr>
          <p:cNvPr id="10" name="TextBox 9">
            <a:hlinkClick r:id="rId4"/>
          </p:cNvPr>
          <p:cNvSpPr txBox="1"/>
          <p:nvPr/>
        </p:nvSpPr>
        <p:spPr>
          <a:xfrm>
            <a:off x="7955279" y="1316736"/>
            <a:ext cx="22860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defRPr sz="869" b="0" i="0" u="none">
                <a:solidFill>
                  <a:srgbClr val="006DBD"/>
                </a:solidFill>
                <a:latin typeface="Arial"/>
              </a:defRPr>
            </a:pPr>
            <a:r>
              <a:t>https://sih.gov.in/sih2026PS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993392"/>
            <a:ext cx="10012680" cy="694944"/>
          </a:xfrm>
          <a:prstGeom prst="roundRect">
            <a:avLst/>
          </a:prstGeom>
          <a:solidFill>
            <a:srgbClr val="F2F4F7"/>
          </a:solidFill>
          <a:ln w="1397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3232" y="2103120"/>
            <a:ext cx="2148840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120" b="1" i="0" u="none">
                <a:solidFill>
                  <a:srgbClr val="123D6E"/>
                </a:solidFill>
                <a:latin typeface="Arial"/>
              </a:defRPr>
            </a:pPr>
            <a:r>
              <a:t>2. RDD2022 — Arya et 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2075688"/>
            <a:ext cx="516636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060" b="0" i="0" u="none">
                <a:solidFill>
                  <a:srgbClr val="1C232A"/>
                </a:solidFill>
                <a:latin typeface="Arial"/>
              </a:defRPr>
            </a:pPr>
            <a:r>
              <a:t>Road-damage image dataset supporting automated road-defect detection research.</a:t>
            </a:r>
          </a:p>
        </p:txBody>
      </p:sp>
      <p:sp>
        <p:nvSpPr>
          <p:cNvPr id="14" name="TextBox 13">
            <a:hlinkClick r:id="rId5"/>
          </p:cNvPr>
          <p:cNvSpPr txBox="1"/>
          <p:nvPr/>
        </p:nvSpPr>
        <p:spPr>
          <a:xfrm>
            <a:off x="7955279" y="2157984"/>
            <a:ext cx="22860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defRPr sz="869" b="0" i="0" u="none">
                <a:solidFill>
                  <a:srgbClr val="006DBD"/>
                </a:solidFill>
                <a:latin typeface="Arial"/>
              </a:defRPr>
            </a:pPr>
            <a:r>
              <a:t>https://doi.org/10.1002/gdj3.260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834640"/>
            <a:ext cx="10012680" cy="694944"/>
          </a:xfrm>
          <a:prstGeom prst="roundRect">
            <a:avLst/>
          </a:prstGeom>
          <a:solidFill>
            <a:srgbClr val="F2F4F7"/>
          </a:solidFill>
          <a:ln w="1397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" y="2944368"/>
            <a:ext cx="2148840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120" b="1" i="0" u="none">
                <a:solidFill>
                  <a:srgbClr val="123D6E"/>
                </a:solidFill>
                <a:latin typeface="Arial"/>
              </a:defRPr>
            </a:pPr>
            <a:r>
              <a:t>3. Ultralytics YOLO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2916936"/>
            <a:ext cx="516636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060" b="0" i="0" u="none">
                <a:solidFill>
                  <a:srgbClr val="1C232A"/>
                </a:solidFill>
                <a:latin typeface="Arial"/>
              </a:defRPr>
            </a:pPr>
            <a:r>
              <a:t>Real-time object detection, training, validation and edge-oriented deployment workflows.</a:t>
            </a:r>
          </a:p>
        </p:txBody>
      </p:sp>
      <p:sp>
        <p:nvSpPr>
          <p:cNvPr id="18" name="TextBox 17">
            <a:hlinkClick r:id="rId6"/>
          </p:cNvPr>
          <p:cNvSpPr txBox="1"/>
          <p:nvPr/>
        </p:nvSpPr>
        <p:spPr>
          <a:xfrm>
            <a:off x="7955279" y="2999232"/>
            <a:ext cx="22860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defRPr sz="869" b="0" i="0" u="none">
                <a:solidFill>
                  <a:srgbClr val="006DBD"/>
                </a:solidFill>
                <a:latin typeface="Arial"/>
              </a:defRPr>
            </a:pPr>
            <a:r>
              <a:t>https://docs.ultralytics.com/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675887"/>
            <a:ext cx="10012680" cy="694944"/>
          </a:xfrm>
          <a:prstGeom prst="roundRect">
            <a:avLst/>
          </a:prstGeom>
          <a:solidFill>
            <a:srgbClr val="F2F4F7"/>
          </a:solidFill>
          <a:ln w="1397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13232" y="3785615"/>
            <a:ext cx="2148840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120" b="1" i="0" u="none">
                <a:solidFill>
                  <a:srgbClr val="123D6E"/>
                </a:solidFill>
                <a:latin typeface="Arial"/>
              </a:defRPr>
            </a:pPr>
            <a:r>
              <a:t>4. PostgreSQL 17 + PostGIS 3.3 (ST_ClusterDBSCAN 15m radius)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88920" y="3758183"/>
            <a:ext cx="516636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060" b="0" i="0" u="none">
                <a:solidFill>
                  <a:srgbClr val="1C232A"/>
                </a:solidFill>
                <a:latin typeface="Arial"/>
              </a:defRPr>
            </a:pPr>
            <a:r>
              <a:t>Spatial storage, indexing, clustering and GIS analytics.</a:t>
            </a:r>
          </a:p>
        </p:txBody>
      </p:sp>
      <p:sp>
        <p:nvSpPr>
          <p:cNvPr id="22" name="TextBox 21">
            <a:hlinkClick r:id="rId7"/>
          </p:cNvPr>
          <p:cNvSpPr txBox="1"/>
          <p:nvPr/>
        </p:nvSpPr>
        <p:spPr>
          <a:xfrm>
            <a:off x="7955279" y="3840479"/>
            <a:ext cx="22860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defRPr sz="869" b="0" i="0" u="none">
                <a:solidFill>
                  <a:srgbClr val="006DBD"/>
                </a:solidFill>
                <a:latin typeface="Arial"/>
              </a:defRPr>
            </a:pPr>
            <a:r>
              <a:t>https://postgis.net/documentation/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517136"/>
            <a:ext cx="10012680" cy="694944"/>
          </a:xfrm>
          <a:prstGeom prst="roundRect">
            <a:avLst/>
          </a:prstGeom>
          <a:solidFill>
            <a:srgbClr val="F2F4F7"/>
          </a:solidFill>
          <a:ln w="1397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13232" y="4626864"/>
            <a:ext cx="2148840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120" b="1" i="0" u="none">
                <a:solidFill>
                  <a:srgbClr val="123D6E"/>
                </a:solidFill>
                <a:latin typeface="Arial"/>
              </a:defRPr>
            </a:pPr>
            <a:r>
              <a:t>5. OGC API – Features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88920" y="4599432"/>
            <a:ext cx="516636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060" b="0" i="0" u="none">
                <a:solidFill>
                  <a:srgbClr val="1C232A"/>
                </a:solidFill>
                <a:latin typeface="Arial"/>
              </a:defRPr>
            </a:pPr>
            <a:r>
              <a:t>Interoperable geospatial feature access through Web APIs.</a:t>
            </a:r>
          </a:p>
        </p:txBody>
      </p:sp>
      <p:sp>
        <p:nvSpPr>
          <p:cNvPr id="26" name="TextBox 25">
            <a:hlinkClick r:id="rId8"/>
          </p:cNvPr>
          <p:cNvSpPr txBox="1"/>
          <p:nvPr/>
        </p:nvSpPr>
        <p:spPr>
          <a:xfrm>
            <a:off x="7955279" y="4681728"/>
            <a:ext cx="22860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defRPr sz="869" b="0" i="0" u="none">
                <a:solidFill>
                  <a:srgbClr val="006DBD"/>
                </a:solidFill>
                <a:latin typeface="Arial"/>
              </a:defRPr>
            </a:pPr>
            <a:r>
              <a:t>https://www.ogc.org/standards/ogcapi-features/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5358384"/>
            <a:ext cx="10012680" cy="493776"/>
          </a:xfrm>
          <a:prstGeom prst="roundRect">
            <a:avLst/>
          </a:prstGeom>
          <a:solidFill>
            <a:srgbClr val="F7FAFD"/>
          </a:solidFill>
          <a:ln w="13970">
            <a:solidFill>
              <a:srgbClr val="C1D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13232" y="5468112"/>
            <a:ext cx="9144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080" b="1" i="0" u="none">
                <a:solidFill>
                  <a:srgbClr val="EC741F"/>
                </a:solidFill>
                <a:latin typeface="Arial"/>
              </a:defRPr>
            </a:pPr>
            <a:r>
              <a:t>Design basis: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27632" y="5440680"/>
            <a:ext cx="84582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040" b="0" i="0" u="none">
                <a:solidFill>
                  <a:srgbClr val="1C232A"/>
                </a:solidFill>
                <a:latin typeface="Arial"/>
              </a:defRPr>
            </a:pPr>
            <a:r>
              <a:t>Edge AI + fleet aggregation + GIS analytics + secure incident handling form the end-to-end urban intelligence workflow.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382512"/>
            <a:ext cx="12192000" cy="475488"/>
          </a:xfrm>
          <a:prstGeom prst="rect">
            <a:avLst/>
          </a:prstGeom>
          <a:solidFill>
            <a:srgbClr val="006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65760" y="6455664"/>
            <a:ext cx="914400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defRPr sz="950" b="0" i="0" u="none">
                <a:solidFill>
                  <a:srgbClr val="FFFFFF"/>
                </a:solidFill>
                <a:latin typeface="Arial"/>
              </a:defRPr>
            </a:pPr>
            <a:r>
              <a:t>TEAM VIGILANCE  •  SMART INDIA HACKATHON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61320" y="6455664"/>
            <a:ext cx="41148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defRPr sz="1000" b="1" i="0" u="none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34" name="Oval 33" descr="Your startup LOGO">
            <a:extLst>
              <a:ext uri="{FF2B5EF4-FFF2-40B4-BE49-F238E27FC236}">
                <a16:creationId xmlns:a16="http://schemas.microsoft.com/office/drawing/2014/main" id="{27F21D9D-7D1F-3A55-438E-53793DCCA10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84480" y="134995"/>
            <a:ext cx="1523999" cy="798095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Vigilance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9536570"/>
      </p:ext>
    </p:ext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400" b="1">
                <a:solidFill>
                  <a:srgbClr val="123D6E"/>
                </a:solidFill>
                <a:latin typeface="Arial"/>
              </a:defRPr>
            </a:pPr>
            <a:r>
              <a:t>SOVEREIGN GOVERNMENT PLATFORM INTEGRATION</a:t>
            </a:r>
          </a:p>
          <a:p>
            <a:pPr>
              <a:defRPr sz="1200">
                <a:solidFill>
                  <a:srgbClr val="EC741F"/>
                </a:solidFill>
                <a:latin typeface="Arial"/>
              </a:defRPr>
            </a:pPr>
            <a:r>
              <a:t>Embedded in India's Digital Public Infrastructure (DPI) &amp; Bharat Electronics Limited (BEL) Mission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2514600" cy="4663440"/>
          </a:xfrm>
          <a:prstGeom prst="roundRect">
            <a:avLst/>
          </a:prstGeom>
          <a:solidFill>
            <a:srgbClr val="F0F4F8"/>
          </a:solidFill>
          <a:ln w="1524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1600200"/>
            <a:ext cx="2185416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123D6E"/>
                </a:solidFill>
                <a:latin typeface="Arial"/>
              </a:defRPr>
            </a:pPr>
            <a:r>
              <a:t>ISRO Bhuvan</a:t>
            </a:r>
          </a:p>
          <a:p>
            <a:pPr>
              <a:spcAft>
                <a:spcPts val="800"/>
              </a:spcAft>
              <a:defRPr sz="1000" b="1">
                <a:solidFill>
                  <a:srgbClr val="006DBD"/>
                </a:solidFill>
                <a:latin typeface="Arial"/>
              </a:defRPr>
            </a:pPr>
            <a:r>
              <a:t>Sovereign Geospatial Core</a:t>
            </a:r>
          </a:p>
          <a:p>
            <a:pPr>
              <a:spcAft>
                <a:spcPts val="400"/>
              </a:spcAft>
              <a:defRPr sz="950">
                <a:solidFill>
                  <a:srgbClr val="1C232A"/>
                </a:solidFill>
                <a:latin typeface="Arial"/>
              </a:defRPr>
            </a:pPr>
            <a:r>
              <a:t>•  High-resolution Indian satellite imagery via NRSC WMS web service.</a:t>
            </a:r>
          </a:p>
          <a:p>
            <a:pPr>
              <a:spcAft>
                <a:spcPts val="400"/>
              </a:spcAft>
              <a:defRPr sz="950">
                <a:solidFill>
                  <a:srgbClr val="1C232A"/>
                </a:solidFill>
                <a:latin typeface="Arial"/>
              </a:defRPr>
            </a:pPr>
            <a:r>
              <a:t>•  Eliminates dependency on foreign commercial map tile CDNs for defense/BEL deployments.</a:t>
            </a:r>
          </a:p>
          <a:p>
            <a:pPr>
              <a:spcAft>
                <a:spcPts val="400"/>
              </a:spcAft>
              <a:defRPr sz="950">
                <a:solidFill>
                  <a:srgbClr val="1C232A"/>
                </a:solidFill>
                <a:latin typeface="Arial"/>
              </a:defRPr>
            </a:pPr>
            <a:r>
              <a:t>•  Integrates CartoDem elevation layers for road gradient &amp; slope modeling.</a:t>
            </a:r>
          </a:p>
          <a:p>
            <a:pPr>
              <a:spcAft>
                <a:spcPts val="400"/>
              </a:spcAft>
              <a:defRPr sz="950">
                <a:solidFill>
                  <a:srgbClr val="1C232A"/>
                </a:solidFill>
                <a:latin typeface="Arial"/>
              </a:defRPr>
            </a:pPr>
            <a:r>
              <a:t>•  Fully complies with National Geospatial Policy (NGP 2022).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463040"/>
            <a:ext cx="2514600" cy="4663440"/>
          </a:xfrm>
          <a:prstGeom prst="roundRect">
            <a:avLst/>
          </a:prstGeom>
          <a:solidFill>
            <a:srgbClr val="F0F4F8"/>
          </a:solidFill>
          <a:ln w="1524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593592" y="1600200"/>
            <a:ext cx="2185416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123D6E"/>
                </a:solidFill>
                <a:latin typeface="Arial"/>
              </a:defRPr>
            </a:pPr>
            <a:r>
              <a:t>API Setu (MoRTH)</a:t>
            </a:r>
          </a:p>
          <a:p>
            <a:pPr>
              <a:spcAft>
                <a:spcPts val="800"/>
              </a:spcAft>
              <a:defRPr sz="1000" b="1">
                <a:solidFill>
                  <a:srgbClr val="EC741F"/>
                </a:solidFill>
                <a:latin typeface="Arial"/>
              </a:defRPr>
            </a:pPr>
            <a:r>
              <a:t>Automated Vehicle Registry</a:t>
            </a:r>
          </a:p>
          <a:p>
            <a:pPr>
              <a:spcAft>
                <a:spcPts val="400"/>
              </a:spcAft>
              <a:defRPr sz="950">
                <a:solidFill>
                  <a:srgbClr val="1C232A"/>
                </a:solidFill>
                <a:latin typeface="Arial"/>
              </a:defRPr>
            </a:pPr>
            <a:r>
              <a:t>•  Real-time ANPR verification against National Parivahan Vahan registry.</a:t>
            </a:r>
          </a:p>
          <a:p>
            <a:pPr>
              <a:spcAft>
                <a:spcPts val="400"/>
              </a:spcAft>
              <a:defRPr sz="950">
                <a:solidFill>
                  <a:srgbClr val="1C232A"/>
                </a:solidFill>
                <a:latin typeface="Arial"/>
              </a:defRPr>
            </a:pPr>
            <a:r>
              <a:t>•  OAuth2.0 token-gated consent architecture for automated enforcement.</a:t>
            </a:r>
          </a:p>
          <a:p>
            <a:pPr>
              <a:spcAft>
                <a:spcPts val="400"/>
              </a:spcAft>
              <a:defRPr sz="950">
                <a:solidFill>
                  <a:srgbClr val="1C232A"/>
                </a:solidFill>
                <a:latin typeface="Arial"/>
              </a:defRPr>
            </a:pPr>
            <a:r>
              <a:t>•  Retrieves registered vehicle owner, class, insurance, &amp; fitness validity.</a:t>
            </a:r>
          </a:p>
          <a:p>
            <a:pPr>
              <a:spcAft>
                <a:spcPts val="400"/>
              </a:spcAft>
              <a:defRPr sz="950">
                <a:solidFill>
                  <a:srgbClr val="1C232A"/>
                </a:solidFill>
                <a:latin typeface="Arial"/>
              </a:defRPr>
            </a:pPr>
            <a:r>
              <a:t>•  Enables swift municipal action on rogue &amp; overloaded transport trucks.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463040"/>
            <a:ext cx="2514600" cy="4663440"/>
          </a:xfrm>
          <a:prstGeom prst="roundRect">
            <a:avLst/>
          </a:prstGeom>
          <a:solidFill>
            <a:srgbClr val="F0F4F8"/>
          </a:solidFill>
          <a:ln w="1524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91072" y="1600200"/>
            <a:ext cx="2185416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123D6E"/>
                </a:solidFill>
                <a:latin typeface="Arial"/>
              </a:defRPr>
            </a:pPr>
            <a:r>
              <a:t>data.gov.in (OGD)</a:t>
            </a:r>
          </a:p>
          <a:p>
            <a:pPr>
              <a:spcAft>
                <a:spcPts val="800"/>
              </a:spcAft>
              <a:defRPr sz="1000" b="1">
                <a:solidFill>
                  <a:srgbClr val="006DBD"/>
                </a:solidFill>
                <a:latin typeface="Arial"/>
              </a:defRPr>
            </a:pPr>
            <a:r>
              <a:t>Official Road Benchmarks</a:t>
            </a:r>
          </a:p>
          <a:p>
            <a:pPr>
              <a:spcAft>
                <a:spcPts val="400"/>
              </a:spcAft>
              <a:defRPr sz="950">
                <a:solidFill>
                  <a:srgbClr val="1C232A"/>
                </a:solidFill>
                <a:latin typeface="Arial"/>
              </a:defRPr>
            </a:pPr>
            <a:r>
              <a:t>•  Open Government Data (OGD) Platform India dataset integration.</a:t>
            </a:r>
          </a:p>
          <a:p>
            <a:pPr>
              <a:spcAft>
                <a:spcPts val="400"/>
              </a:spcAft>
              <a:defRPr sz="950">
                <a:solidFill>
                  <a:srgbClr val="1C232A"/>
                </a:solidFill>
                <a:latin typeface="Arial"/>
              </a:defRPr>
            </a:pPr>
            <a:r>
              <a:t>•  State-level road network statistics (NH, SH, and rural road length).</a:t>
            </a:r>
          </a:p>
          <a:p>
            <a:pPr>
              <a:spcAft>
                <a:spcPts val="400"/>
              </a:spcAft>
              <a:defRPr sz="950">
                <a:solidFill>
                  <a:srgbClr val="1C232A"/>
                </a:solidFill>
                <a:latin typeface="Arial"/>
              </a:defRPr>
            </a:pPr>
            <a:r>
              <a:t>•  Embeds annual road accident &amp; casualty figures into executive PWD PDF audit reports.</a:t>
            </a:r>
          </a:p>
          <a:p>
            <a:pPr>
              <a:spcAft>
                <a:spcPts val="400"/>
              </a:spcAft>
              <a:defRPr sz="950">
                <a:solidFill>
                  <a:srgbClr val="1C232A"/>
                </a:solidFill>
                <a:latin typeface="Arial"/>
              </a:defRPr>
            </a:pPr>
            <a:r>
              <a:t>•  Quantifies infrastructure repair ROI against state mortality benchmarks.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1463040"/>
            <a:ext cx="2514600" cy="4663440"/>
          </a:xfrm>
          <a:prstGeom prst="roundRect">
            <a:avLst/>
          </a:prstGeom>
          <a:solidFill>
            <a:srgbClr val="F0F4F8"/>
          </a:solidFill>
          <a:ln w="1524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88552" y="1600200"/>
            <a:ext cx="2185416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123D6E"/>
                </a:solidFill>
                <a:latin typeface="Arial"/>
              </a:defRPr>
            </a:pPr>
            <a:r>
              <a:t>AIKosh &amp; IndiaAI</a:t>
            </a:r>
          </a:p>
          <a:p>
            <a:pPr>
              <a:spcAft>
                <a:spcPts val="800"/>
              </a:spcAft>
              <a:defRPr sz="1000" b="1">
                <a:solidFill>
                  <a:srgbClr val="EC741F"/>
                </a:solidFill>
                <a:latin typeface="Arial"/>
              </a:defRPr>
            </a:pPr>
            <a:r>
              <a:t>Sovereign Model Retraining</a:t>
            </a:r>
          </a:p>
          <a:p>
            <a:pPr>
              <a:spcAft>
                <a:spcPts val="400"/>
              </a:spcAft>
              <a:defRPr sz="950">
                <a:solidFill>
                  <a:srgbClr val="1C232A"/>
                </a:solidFill>
                <a:latin typeface="Arial"/>
              </a:defRPr>
            </a:pPr>
            <a:r>
              <a:t>•  Retraining pipeline roadmap leveraging AIKosh road safety data repositories.</a:t>
            </a:r>
          </a:p>
          <a:p>
            <a:pPr>
              <a:spcAft>
                <a:spcPts val="400"/>
              </a:spcAft>
              <a:defRPr sz="950">
                <a:solidFill>
                  <a:srgbClr val="1C232A"/>
                </a:solidFill>
                <a:latin typeface="Arial"/>
              </a:defRPr>
            </a:pPr>
            <a:r>
              <a:t>•  Trained on AIRAWAT / Yotta Shakti GPU supercluster under IndiaAI Mission.</a:t>
            </a:r>
          </a:p>
          <a:p>
            <a:pPr>
              <a:spcAft>
                <a:spcPts val="400"/>
              </a:spcAft>
              <a:defRPr sz="950">
                <a:solidFill>
                  <a:srgbClr val="1C232A"/>
                </a:solidFill>
                <a:latin typeface="Arial"/>
              </a:defRPr>
            </a:pPr>
            <a:r>
              <a:t>•  Path to scale from RDD2022 (39.89% mAP@50) to 65%+ with diverse Indian road datasets.</a:t>
            </a:r>
          </a:p>
          <a:p>
            <a:pPr>
              <a:spcAft>
                <a:spcPts val="400"/>
              </a:spcAft>
              <a:defRPr sz="950">
                <a:solidFill>
                  <a:srgbClr val="1C232A"/>
                </a:solidFill>
                <a:latin typeface="Arial"/>
              </a:defRPr>
            </a:pPr>
            <a:r>
              <a:t>•  Zero foreign API dependency; quantized INT8 weights deployed directly on edge.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A6B7C"/>
                </a:solidFill>
                <a:latin typeface="Arial"/>
              </a:defRPr>
            </a:pPr>
            <a:r>
              <a:t>VIGILANCE  •  SMART INDIA HACKATHON 2026 GRAND FINALE  •  BEL PROBLEM STATEMENT SIH26124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400" b="1">
                <a:solidFill>
                  <a:srgbClr val="123D6E"/>
                </a:solidFill>
                <a:latin typeface="Arial"/>
              </a:defRPr>
            </a:pPr>
            <a:r>
              <a:t>SCALABILITY, SECURITY &amp; DEFENSE READINESS</a:t>
            </a:r>
          </a:p>
          <a:p>
            <a:pPr>
              <a:defRPr sz="1200">
                <a:solidFill>
                  <a:srgbClr val="EC741F"/>
                </a:solidFill>
                <a:latin typeface="Arial"/>
              </a:defRPr>
            </a:pPr>
            <a:r>
              <a:t>Architected for Sovereign Municipal Scale, Tactical Fleets &amp; Critical Road Networks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383280" cy="4663440"/>
          </a:xfrm>
          <a:prstGeom prst="roundRect">
            <a:avLst/>
          </a:prstGeom>
          <a:solidFill>
            <a:srgbClr val="F0F4F8"/>
          </a:solidFill>
          <a:ln w="1524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1600200"/>
            <a:ext cx="3054096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123D6E"/>
                </a:solidFill>
                <a:latin typeface="Arial"/>
              </a:defRPr>
            </a:pPr>
            <a:r>
              <a:t>Low-Cost Edge Ubiquity</a:t>
            </a:r>
          </a:p>
          <a:p>
            <a:pPr>
              <a:spcAft>
                <a:spcPts val="800"/>
              </a:spcAft>
              <a:defRPr sz="1000" b="1">
                <a:solidFill>
                  <a:srgbClr val="006DBD"/>
                </a:solidFill>
                <a:latin typeface="Arial"/>
              </a:defRPr>
            </a:pPr>
            <a:r>
              <a:t>Pan-City Transit Fleet Mesh</a:t>
            </a:r>
          </a:p>
          <a:p>
            <a:pPr>
              <a:spcAft>
                <a:spcPts val="400"/>
              </a:spcAft>
              <a:defRPr sz="950">
                <a:solidFill>
                  <a:srgbClr val="1C232A"/>
                </a:solidFill>
                <a:latin typeface="Arial"/>
              </a:defRPr>
            </a:pPr>
            <a:r>
              <a:t>•  Sub-₹3,000 edge hardware BOM (Raspberry Pi Zero 2W or existing driver Android phones).</a:t>
            </a:r>
          </a:p>
          <a:p>
            <a:pPr>
              <a:spcAft>
                <a:spcPts val="400"/>
              </a:spcAft>
              <a:defRPr sz="950">
                <a:solidFill>
                  <a:srgbClr val="1C232A"/>
                </a:solidFill>
                <a:latin typeface="Arial"/>
              </a:defRPr>
            </a:pPr>
            <a:r>
              <a:t>•  5Hz continuous perception with INT8 quantization (28.4ms latency, 110MB RAM).</a:t>
            </a:r>
          </a:p>
          <a:p>
            <a:pPr>
              <a:spcAft>
                <a:spcPts val="400"/>
              </a:spcAft>
              <a:defRPr sz="950">
                <a:solidFill>
                  <a:srgbClr val="1C232A"/>
                </a:solidFill>
                <a:latin typeface="Arial"/>
              </a:defRPr>
            </a:pPr>
            <a:r>
              <a:t>•  99.8% bandwidth reduction via 200-byte OASIS MQTT v5 telemetry packets.</a:t>
            </a:r>
          </a:p>
          <a:p>
            <a:pPr>
              <a:spcAft>
                <a:spcPts val="400"/>
              </a:spcAft>
              <a:defRPr sz="950">
                <a:solidFill>
                  <a:srgbClr val="1C232A"/>
                </a:solidFill>
                <a:latin typeface="Arial"/>
              </a:defRPr>
            </a:pPr>
            <a:r>
              <a:t>•  Zero extra vehicle power requirement; runs directly off 5V/2A bus USB ports.</a:t>
            </a:r>
          </a:p>
          <a:p>
            <a:pPr>
              <a:spcAft>
                <a:spcPts val="400"/>
              </a:spcAft>
              <a:defRPr sz="950">
                <a:solidFill>
                  <a:srgbClr val="1C232A"/>
                </a:solidFill>
                <a:latin typeface="Arial"/>
              </a:defRPr>
            </a:pPr>
            <a:r>
              <a:t>•  Offline-first store-and-forward architecture caches telemetry in no-network zones.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463040"/>
            <a:ext cx="3383280" cy="4663440"/>
          </a:xfrm>
          <a:prstGeom prst="roundRect">
            <a:avLst/>
          </a:prstGeom>
          <a:solidFill>
            <a:srgbClr val="F0F4F8"/>
          </a:solidFill>
          <a:ln w="1524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07992" y="1600200"/>
            <a:ext cx="3054096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123D6E"/>
                </a:solidFill>
                <a:latin typeface="Arial"/>
              </a:defRPr>
            </a:pPr>
            <a:r>
              <a:t>Sovereign Security &amp; Zero-Trust</a:t>
            </a:r>
          </a:p>
          <a:p>
            <a:pPr>
              <a:spcAft>
                <a:spcPts val="800"/>
              </a:spcAft>
              <a:defRPr sz="1000" b="1">
                <a:solidFill>
                  <a:srgbClr val="EC741F"/>
                </a:solidFill>
                <a:latin typeface="Arial"/>
              </a:defRPr>
            </a:pPr>
            <a:r>
              <a:t>Air-Gapped &amp; BEL Tactical Ready</a:t>
            </a:r>
          </a:p>
          <a:p>
            <a:pPr>
              <a:spcAft>
                <a:spcPts val="400"/>
              </a:spcAft>
              <a:defRPr sz="950">
                <a:solidFill>
                  <a:srgbClr val="1C232A"/>
                </a:solidFill>
                <a:latin typeface="Arial"/>
              </a:defRPr>
            </a:pPr>
            <a:r>
              <a:t>•  Full on-premise deployment: PostGIS, Redis, Mosquitto MQTT &amp; FastAPI running offline.</a:t>
            </a:r>
          </a:p>
          <a:p>
            <a:pPr>
              <a:spcAft>
                <a:spcPts val="400"/>
              </a:spcAft>
              <a:defRPr sz="950">
                <a:solidFill>
                  <a:srgbClr val="1C232A"/>
                </a:solidFill>
                <a:latin typeface="Arial"/>
              </a:defRPr>
            </a:pPr>
            <a:r>
              <a:t>•  Zero cloud telemetry leakage; zero foreign CDN dependency for map tiles or fonts.</a:t>
            </a:r>
          </a:p>
          <a:p>
            <a:pPr>
              <a:spcAft>
                <a:spcPts val="400"/>
              </a:spcAft>
              <a:defRPr sz="950">
                <a:solidFill>
                  <a:srgbClr val="1C232A"/>
                </a:solidFill>
                <a:latin typeface="Arial"/>
              </a:defRPr>
            </a:pPr>
            <a:r>
              <a:t>•  Role-based API key authentication on all mutation and dispatch endpoints.</a:t>
            </a:r>
          </a:p>
          <a:p>
            <a:pPr>
              <a:spcAft>
                <a:spcPts val="400"/>
              </a:spcAft>
              <a:defRPr sz="950">
                <a:solidFill>
                  <a:srgbClr val="1C232A"/>
                </a:solidFill>
                <a:latin typeface="Arial"/>
              </a:defRPr>
            </a:pPr>
            <a:r>
              <a:t>•  Tamper-resistant database audit trails with cryptographic hash verification.</a:t>
            </a:r>
          </a:p>
          <a:p>
            <a:pPr>
              <a:spcAft>
                <a:spcPts val="400"/>
              </a:spcAft>
              <a:defRPr sz="950">
                <a:solidFill>
                  <a:srgbClr val="1C232A"/>
                </a:solidFill>
                <a:latin typeface="Arial"/>
              </a:defRPr>
            </a:pPr>
            <a:r>
              <a:t>•  Can operate on secure tactical intranet networks for defense logistics corridors.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463040"/>
            <a:ext cx="3383280" cy="4663440"/>
          </a:xfrm>
          <a:prstGeom prst="roundRect">
            <a:avLst/>
          </a:prstGeom>
          <a:solidFill>
            <a:srgbClr val="F0F4F8"/>
          </a:solidFill>
          <a:ln w="1524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19872" y="1600200"/>
            <a:ext cx="3054096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123D6E"/>
                </a:solidFill>
                <a:latin typeface="Arial"/>
              </a:defRPr>
            </a:pPr>
            <a:r>
              <a:t>Multi-City Federation</a:t>
            </a:r>
          </a:p>
          <a:p>
            <a:pPr>
              <a:spcAft>
                <a:spcPts val="800"/>
              </a:spcAft>
              <a:defRPr sz="1000" b="1">
                <a:solidFill>
                  <a:srgbClr val="006DBD"/>
                </a:solidFill>
                <a:latin typeface="Arial"/>
              </a:defRPr>
            </a:pPr>
            <a:r>
              <a:t>Closed-Loop PWD SLA Governance</a:t>
            </a:r>
          </a:p>
          <a:p>
            <a:pPr>
              <a:spcAft>
                <a:spcPts val="400"/>
              </a:spcAft>
              <a:defRPr sz="950">
                <a:solidFill>
                  <a:srgbClr val="1C232A"/>
                </a:solidFill>
                <a:latin typeface="Arial"/>
              </a:defRPr>
            </a:pPr>
            <a:r>
              <a:t>•  Seamless multi-city switching: Chennai (GCC), Bengaluru (BBMP), Delhi (MCD).</a:t>
            </a:r>
          </a:p>
          <a:p>
            <a:pPr>
              <a:spcAft>
                <a:spcPts val="400"/>
              </a:spcAft>
              <a:defRPr sz="950">
                <a:solidFill>
                  <a:srgbClr val="1C232A"/>
                </a:solidFill>
                <a:latin typeface="Arial"/>
              </a:defRPr>
            </a:pPr>
            <a:r>
              <a:t>•  PostGIS ST_ClusterDBSCAN merges multi-bus passes with 15-meter consensus.</a:t>
            </a:r>
          </a:p>
          <a:p>
            <a:pPr>
              <a:spcAft>
                <a:spcPts val="400"/>
              </a:spcAft>
              <a:defRPr sz="950">
                <a:solidFill>
                  <a:srgbClr val="1C232A"/>
                </a:solidFill>
                <a:latin typeface="Arial"/>
              </a:defRPr>
            </a:pPr>
            <a:r>
              <a:t>•  Automated Repair Prioritization Index (RPI = 0.40S + 0.25D + 0.20R + 0.15P).</a:t>
            </a:r>
          </a:p>
          <a:p>
            <a:pPr>
              <a:spcAft>
                <a:spcPts val="400"/>
              </a:spcAft>
              <a:defRPr sz="950">
                <a:solidFill>
                  <a:srgbClr val="1C232A"/>
                </a:solidFill>
                <a:latin typeface="Arial"/>
              </a:defRPr>
            </a:pPr>
            <a:r>
              <a:t>•  Automatic contractor dispatch with IRC SP:20 repair budgeting &amp; 48h SLA countdowns.</a:t>
            </a:r>
          </a:p>
          <a:p>
            <a:pPr>
              <a:spcAft>
                <a:spcPts val="400"/>
              </a:spcAft>
              <a:defRPr sz="950">
                <a:solidFill>
                  <a:srgbClr val="1C232A"/>
                </a:solidFill>
                <a:latin typeface="Arial"/>
              </a:defRPr>
            </a:pPr>
            <a:r>
              <a:t>•  Generates Chief Engineer Monday Morning PDF Municipal Audits automatically.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A6B7C"/>
                </a:solidFill>
                <a:latin typeface="Arial"/>
              </a:defRPr>
            </a:pPr>
            <a:r>
              <a:t>VIGILANCE  •  SMART INDIA HACKATHON 2026 GRAND FINALE  •  BEL PROBLEM STATEMENT SIH26124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8231</TotalTime>
  <Words>2241</Words>
  <Application>Microsoft Office PowerPoint</Application>
  <PresentationFormat>Widescreen</PresentationFormat>
  <Paragraphs>324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Harish Jain</cp:lastModifiedBy>
  <cp:revision>169</cp:revision>
  <dcterms:created xsi:type="dcterms:W3CDTF">2013-12-12T18:46:50Z</dcterms:created>
  <dcterms:modified xsi:type="dcterms:W3CDTF">2026-09-21T13:02:40Z</dcterms:modified>
  <cp:category/>
</cp:coreProperties>
</file>