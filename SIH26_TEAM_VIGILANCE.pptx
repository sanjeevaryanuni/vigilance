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300" r:id="rId2"/>
    <p:sldId id="301" r:id="rId3"/>
    <p:sldId id="257" r:id="rId4"/>
    <p:sldId id="258" r:id="rId5"/>
    <p:sldId id="259" r:id="rId6"/>
    <p:sldId id="256" r:id="rId7"/>
    <p:sldId id="299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6" d="100"/>
          <a:sy n="46" d="100"/>
        </p:scale>
        <p:origin x="43" y="6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sh Jain" userId="830b26ebf093da50" providerId="LiveId" clId="{8DC1E187-E42A-4D57-BC2F-E1F33D2FFACD}"/>
    <pc:docChg chg="custSel modSld">
      <pc:chgData name="Harish Jain" userId="830b26ebf093da50" providerId="LiveId" clId="{8DC1E187-E42A-4D57-BC2F-E1F33D2FFACD}" dt="2026-09-21T13:02:30.452" v="2" actId="14100"/>
      <pc:docMkLst>
        <pc:docMk/>
      </pc:docMkLst>
      <pc:sldChg chg="modSp mod">
        <pc:chgData name="Harish Jain" userId="830b26ebf093da50" providerId="LiveId" clId="{8DC1E187-E42A-4D57-BC2F-E1F33D2FFACD}" dt="2026-09-21T13:02:30.452" v="2" actId="14100"/>
        <pc:sldMkLst>
          <pc:docMk/>
          <pc:sldMk cId="0" sldId="300"/>
        </pc:sldMkLst>
        <pc:spChg chg="mod">
          <ac:chgData name="Harish Jain" userId="830b26ebf093da50" providerId="LiveId" clId="{8DC1E187-E42A-4D57-BC2F-E1F33D2FFACD}" dt="2026-09-21T13:02:30.452" v="2" actId="14100"/>
          <ac:spMkLst>
            <pc:docMk/>
            <pc:sldMk cId="0" sldId="300"/>
            <ac:spMk id="7" creationId="{B362492D-1B0E-2756-EED0-715870AAAEB8}"/>
          </ac:spMkLst>
        </pc:spChg>
      </pc:sldChg>
      <pc:sldChg chg="addSp delSp mod">
        <pc:chgData name="Harish Jain" userId="830b26ebf093da50" providerId="LiveId" clId="{8DC1E187-E42A-4D57-BC2F-E1F33D2FFACD}" dt="2026-09-21T12:56:08.497" v="1" actId="478"/>
        <pc:sldMkLst>
          <pc:docMk/>
          <pc:sldMk cId="0" sldId="301"/>
        </pc:sldMkLst>
        <pc:picChg chg="add del">
          <ac:chgData name="Harish Jain" userId="830b26ebf093da50" providerId="LiveId" clId="{8DC1E187-E42A-4D57-BC2F-E1F33D2FFACD}" dt="2026-09-21T12:56:08.497" v="1" actId="478"/>
          <ac:picMkLst>
            <pc:docMk/>
            <pc:sldMk cId="0" sldId="301"/>
            <ac:picMk id="111" creationId="{31CF0E7A-544D-45D5-4472-94256E74F73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Editable recreation of the Vigilance Research &amp; References slide. All visible text, row boxes, title, footer, and design-basis elements are editable PowerPoint objects. The SIH 2026 logo is retained as an image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8763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5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26" Type="http://schemas.openxmlformats.org/officeDocument/2006/relationships/image" Target="../media/image65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5" Type="http://schemas.openxmlformats.org/officeDocument/2006/relationships/image" Target="../media/image6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24" Type="http://schemas.openxmlformats.org/officeDocument/2006/relationships/image" Target="../media/image63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23" Type="http://schemas.openxmlformats.org/officeDocument/2006/relationships/image" Target="../media/image62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3" Type="http://schemas.openxmlformats.org/officeDocument/2006/relationships/image" Target="../media/image67.png"/><Relationship Id="rId21" Type="http://schemas.openxmlformats.org/officeDocument/2006/relationships/image" Target="../media/image83.png"/><Relationship Id="rId7" Type="http://schemas.openxmlformats.org/officeDocument/2006/relationships/image" Target="../media/image71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78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png"/><Relationship Id="rId11" Type="http://schemas.openxmlformats.org/officeDocument/2006/relationships/image" Target="../media/image73.png"/><Relationship Id="rId24" Type="http://schemas.openxmlformats.org/officeDocument/2006/relationships/image" Target="../media/image86.png"/><Relationship Id="rId5" Type="http://schemas.openxmlformats.org/officeDocument/2006/relationships/image" Target="../media/image69.png"/><Relationship Id="rId15" Type="http://schemas.openxmlformats.org/officeDocument/2006/relationships/image" Target="../media/image77.png"/><Relationship Id="rId23" Type="http://schemas.openxmlformats.org/officeDocument/2006/relationships/image" Target="../media/image85.png"/><Relationship Id="rId10" Type="http://schemas.openxmlformats.org/officeDocument/2006/relationships/image" Target="../media/image63.png"/><Relationship Id="rId19" Type="http://schemas.openxmlformats.org/officeDocument/2006/relationships/image" Target="../media/image81.png"/><Relationship Id="rId4" Type="http://schemas.openxmlformats.org/officeDocument/2006/relationships/image" Target="../media/image68.png"/><Relationship Id="rId9" Type="http://schemas.openxmlformats.org/officeDocument/2006/relationships/image" Target="../media/image62.png"/><Relationship Id="rId14" Type="http://schemas.openxmlformats.org/officeDocument/2006/relationships/image" Target="../media/image76.png"/><Relationship Id="rId22" Type="http://schemas.openxmlformats.org/officeDocument/2006/relationships/image" Target="../media/image8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gc.org/standards/ogcapi-features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postgis.net/documentatio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ultralytics.com/" TargetMode="External"/><Relationship Id="rId5" Type="http://schemas.openxmlformats.org/officeDocument/2006/relationships/hyperlink" Target="https://doi.org/10.1002/gdj3.260" TargetMode="External"/><Relationship Id="rId4" Type="http://schemas.openxmlformats.org/officeDocument/2006/relationships/hyperlink" Target="https://sih.gov.in/sih2026P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988491" y="1335209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349631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VIGILANCE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287" y="1376142"/>
            <a:ext cx="60960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SIH26124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IN" b="1" dirty="0"/>
              <a:t>AI-Powered Mobile Urban Intelligence Platform Using Public Transport Fleet</a:t>
            </a:r>
            <a:br>
              <a:rPr lang="en-IN" b="1" dirty="0"/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Theme - </a:t>
            </a:r>
            <a:r>
              <a:rPr lang="en-IN" b="1" dirty="0"/>
              <a:t>Smart Automation</a:t>
            </a:r>
            <a:br>
              <a:rPr lang="en-IN" dirty="0"/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PS Category - Software</a:t>
            </a:r>
            <a:b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CE8BB3-0557-5712-999E-4D88A097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7514" y="3962400"/>
            <a:ext cx="8042726" cy="28758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60DE77-667D-0E78-B5A4-ABD7E814357F}"/>
              </a:ext>
            </a:extLst>
          </p:cNvPr>
          <p:cNvSpPr txBox="1"/>
          <p:nvPr/>
        </p:nvSpPr>
        <p:spPr>
          <a:xfrm>
            <a:off x="4598486" y="369087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TEAM MEMBERS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62492D-1B0E-2756-EED0-715870AAAEB8}"/>
              </a:ext>
            </a:extLst>
          </p:cNvPr>
          <p:cNvSpPr txBox="1"/>
          <p:nvPr/>
        </p:nvSpPr>
        <p:spPr>
          <a:xfrm>
            <a:off x="11608886" y="881108"/>
            <a:ext cx="52909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Project and problem statement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Smart India Hackathon 2026 (SIH), Team Vigilance, SIH26124, AI-Powered Mobile Urban Intelligence Platform, Public Transport Fleet, Smart Automation, Software category, Urban Intelligence, Smart City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Core concepts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Edge-AI, Real-Time Detection, Road Anomaly Detection, Spatial Repair Prioritization, Proactive Maintenance, Predictive/Preventive Maintenance, Mobile Road Inspection, Road-Condition Map, Repair Priority Index (RPI)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Detection targets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Potholes, cracks, ravelling, damaged manholes, garbage overflow, missing dividers, zebra crossings, damaged signs, waterlogging, traffic conditions, pedestrian detection (school children crossing), vehicle detection/counting, vehicle density estimation, traffic bottlenecks, hit-and-run, rash driving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AI and computer vision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Computer Vision, YOLOv8-Nano, YOLOv11-Nano, </a:t>
            </a:r>
            <a:r>
              <a:rPr lang="en-IN" sz="100" dirty="0" err="1">
                <a:solidFill>
                  <a:schemeClr val="bg1"/>
                </a:solidFill>
              </a:rPr>
              <a:t>Ultralytics</a:t>
            </a:r>
            <a:r>
              <a:rPr lang="en-IN" sz="100" dirty="0">
                <a:solidFill>
                  <a:schemeClr val="bg1"/>
                </a:solidFill>
              </a:rPr>
              <a:t> YOLO, ONNX Runtime, </a:t>
            </a:r>
            <a:r>
              <a:rPr lang="en-IN" sz="100" dirty="0" err="1">
                <a:solidFill>
                  <a:schemeClr val="bg1"/>
                </a:solidFill>
              </a:rPr>
              <a:t>PyTorch</a:t>
            </a:r>
            <a:r>
              <a:rPr lang="en-IN" sz="100" dirty="0">
                <a:solidFill>
                  <a:schemeClr val="bg1"/>
                </a:solidFill>
              </a:rPr>
              <a:t>, OpenCV, Python, ANPR (Automatic Number Plate Recognition), confidence score, model validation, periodic retraining, data augmentation, night/wet-road augmentation, image enhancement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Data and geospatial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GPS, geotagging, timestamp, severity, DBSCAN, spatial clustering, spatial deduplication (15 m), PostgreSQL, </a:t>
            </a:r>
            <a:r>
              <a:rPr lang="en-IN" sz="100" dirty="0" err="1">
                <a:solidFill>
                  <a:schemeClr val="bg1"/>
                </a:solidFill>
              </a:rPr>
              <a:t>PostGIS</a:t>
            </a:r>
            <a:r>
              <a:rPr lang="en-IN" sz="100" dirty="0">
                <a:solidFill>
                  <a:schemeClr val="bg1"/>
                </a:solidFill>
              </a:rPr>
              <a:t>, GIS Dashboard, OGC API – Features, telemetry, data aggregation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Backend, frontend and connectivity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 err="1">
                <a:solidFill>
                  <a:schemeClr val="bg1"/>
                </a:solidFill>
              </a:rPr>
              <a:t>FastAPI</a:t>
            </a:r>
            <a:r>
              <a:rPr lang="en-IN" sz="100" dirty="0">
                <a:solidFill>
                  <a:schemeClr val="bg1"/>
                </a:solidFill>
              </a:rPr>
              <a:t>, </a:t>
            </a:r>
            <a:r>
              <a:rPr lang="en-IN" sz="100" dirty="0" err="1">
                <a:solidFill>
                  <a:schemeClr val="bg1"/>
                </a:solidFill>
              </a:rPr>
              <a:t>WebSockets</a:t>
            </a:r>
            <a:r>
              <a:rPr lang="en-IN" sz="100" dirty="0">
                <a:solidFill>
                  <a:schemeClr val="bg1"/>
                </a:solidFill>
              </a:rPr>
              <a:t>, React, Next.js, Leaflet.js, </a:t>
            </a:r>
            <a:r>
              <a:rPr lang="en-IN" sz="100" dirty="0" err="1">
                <a:solidFill>
                  <a:schemeClr val="bg1"/>
                </a:solidFill>
              </a:rPr>
              <a:t>Mapbox</a:t>
            </a:r>
            <a:r>
              <a:rPr lang="en-IN" sz="100" dirty="0">
                <a:solidFill>
                  <a:schemeClr val="bg1"/>
                </a:solidFill>
              </a:rPr>
              <a:t>, Flutter, React Native, PWA, MQTT, SQLite (offline caching), lightweight sync, secure transmission, offline operation, low connectivity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Analytics outputs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Congestion Heat Maps, OD (Origin–Destination) Analysis, Route Delay Estimation, mobility insights, traffic hotspots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Architecture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Onboard Layer (Edge), Centralized Layer (Cloud), multi-camera capture (front, rear, left, right, cabin), event classification, incident extraction, central command system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Challenges and mitigation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Data limitations, lighting/weather variation, environmental factors, connectivity issues, duplicate detections, false positives, vibration-based frame gating (accelerometer), robust preprocessing, efficient data sync, continuous model validation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Datasets and references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RDD2022 (Arya et al.), CRDDC2022, </a:t>
            </a:r>
            <a:r>
              <a:rPr lang="en-IN" sz="100" dirty="0" err="1">
                <a:solidFill>
                  <a:schemeClr val="bg1"/>
                </a:solidFill>
              </a:rPr>
              <a:t>PostGIS</a:t>
            </a:r>
            <a:r>
              <a:rPr lang="en-IN" sz="100" dirty="0">
                <a:solidFill>
                  <a:schemeClr val="bg1"/>
                </a:solidFill>
              </a:rPr>
              <a:t> documentation, OGC standards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Impact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Safer roads/cities, two-wheeler safety, faster response, lower inspection costs, cost efficiency, data-driven planning, prioritized repairs, inclusive mobility, sustainable maintenance, reduced carbon emissions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294" y="122464"/>
            <a:ext cx="1563597" cy="6429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7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70" dirty="0"/>
          </a:p>
        </p:txBody>
      </p:sp>
      <p:sp>
        <p:nvSpPr>
          <p:cNvPr id="3" name="Text 1"/>
          <p:cNvSpPr txBox="1"/>
          <p:nvPr/>
        </p:nvSpPr>
        <p:spPr>
          <a:xfrm>
            <a:off x="1553378" y="204107"/>
            <a:ext cx="8175671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58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</a:t>
            </a:r>
            <a:endParaRPr lang="en-US" sz="3058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636" y="30616"/>
            <a:ext cx="2125674" cy="9695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554897" y="673554"/>
            <a:ext cx="7766888" cy="6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1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Mobile Urban Intelligence Platform</a:t>
            </a:r>
            <a:endParaRPr lang="en-US" sz="1851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851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Public Transport Fleet</a:t>
            </a:r>
            <a:endParaRPr lang="en-US" sz="1851" dirty="0"/>
          </a:p>
        </p:txBody>
      </p:sp>
      <p:sp>
        <p:nvSpPr>
          <p:cNvPr id="6" name="Text 3"/>
          <p:cNvSpPr txBox="1"/>
          <p:nvPr/>
        </p:nvSpPr>
        <p:spPr>
          <a:xfrm>
            <a:off x="224831" y="1296080"/>
            <a:ext cx="4496619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90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Proposed Solution — Core Idea &amp; Workflow</a:t>
            </a:r>
            <a:endParaRPr lang="en-US" sz="1690" dirty="0"/>
          </a:p>
        </p:txBody>
      </p:sp>
      <p:sp>
        <p:nvSpPr>
          <p:cNvPr id="7" name="Shape 4"/>
          <p:cNvSpPr/>
          <p:nvPr/>
        </p:nvSpPr>
        <p:spPr>
          <a:xfrm>
            <a:off x="153294" y="1561420"/>
            <a:ext cx="4292227" cy="0"/>
          </a:xfrm>
          <a:prstGeom prst="line">
            <a:avLst/>
          </a:prstGeom>
          <a:noFill/>
          <a:ln w="19050">
            <a:solidFill>
              <a:srgbClr val="1B3A9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4831" y="1673679"/>
            <a:ext cx="531419" cy="530679"/>
          </a:xfrm>
          <a:prstGeom prst="ellipse">
            <a:avLst/>
          </a:prstGeom>
          <a:solidFill>
            <a:srgbClr val="DCEBFB"/>
          </a:solidFill>
          <a:ln w="19050">
            <a:solidFill>
              <a:srgbClr val="1E6FD9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86" y="1806348"/>
            <a:ext cx="265709" cy="26533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89104" y="1683884"/>
            <a:ext cx="3576856" cy="816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Multi-Camera Detection:</a:t>
            </a:r>
            <a:endParaRPr lang="en-US" sz="1046" dirty="0"/>
          </a:p>
          <a:p>
            <a:pPr marL="0" indent="0" algn="l">
              <a:buNone/>
            </a:pP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streams (front, rear, sides, cabin) with AI detecting potholes, cracks, garbage, overflow, missing dividers, zebra crossings, damaged signs, waterlogging, and traffic conditions.</a:t>
            </a:r>
            <a:endParaRPr lang="en-US" sz="1046" dirty="0"/>
          </a:p>
        </p:txBody>
      </p:sp>
      <p:sp>
        <p:nvSpPr>
          <p:cNvPr id="11" name="Shape 7"/>
          <p:cNvSpPr/>
          <p:nvPr/>
        </p:nvSpPr>
        <p:spPr>
          <a:xfrm>
            <a:off x="224831" y="2561545"/>
            <a:ext cx="531419" cy="530679"/>
          </a:xfrm>
          <a:prstGeom prst="ellipse">
            <a:avLst/>
          </a:prstGeom>
          <a:solidFill>
            <a:srgbClr val="E3F4E5"/>
          </a:solidFill>
          <a:ln w="19050">
            <a:solidFill>
              <a:srgbClr val="2E9E3B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686" y="2694214"/>
            <a:ext cx="265709" cy="2653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89104" y="2673804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Geotagging: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event tagged with GPS location, timestamp, severity, confidence score and vehicle details.</a:t>
            </a:r>
            <a:endParaRPr lang="en-US" sz="1046" dirty="0"/>
          </a:p>
        </p:txBody>
      </p:sp>
      <p:sp>
        <p:nvSpPr>
          <p:cNvPr id="14" name="Shape 9"/>
          <p:cNvSpPr/>
          <p:nvPr/>
        </p:nvSpPr>
        <p:spPr>
          <a:xfrm>
            <a:off x="224831" y="3204482"/>
            <a:ext cx="531419" cy="530679"/>
          </a:xfrm>
          <a:prstGeom prst="ellipse">
            <a:avLst/>
          </a:prstGeom>
          <a:solidFill>
            <a:srgbClr val="EADFF5"/>
          </a:solidFill>
          <a:ln w="19050">
            <a:solidFill>
              <a:srgbClr val="6B3FA0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686" y="3337152"/>
            <a:ext cx="265709" cy="26533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9104" y="3337152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Duplicate-Free Mapping: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Spatial clustering merges repeated detections into one verified urban issue (DBSCAN).</a:t>
            </a:r>
            <a:endParaRPr lang="en-US" sz="1046" dirty="0"/>
          </a:p>
        </p:txBody>
      </p:sp>
      <p:sp>
        <p:nvSpPr>
          <p:cNvPr id="17" name="Shape 11"/>
          <p:cNvSpPr/>
          <p:nvPr/>
        </p:nvSpPr>
        <p:spPr>
          <a:xfrm>
            <a:off x="224831" y="3796393"/>
            <a:ext cx="531419" cy="530679"/>
          </a:xfrm>
          <a:prstGeom prst="ellipse">
            <a:avLst/>
          </a:prstGeom>
          <a:solidFill>
            <a:srgbClr val="FDE9D5"/>
          </a:solidFill>
          <a:ln w="19050">
            <a:solidFill>
              <a:srgbClr val="F07A1A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686" y="3929063"/>
            <a:ext cx="265709" cy="2653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89104" y="3929063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Repair: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Priority Index (RPI) for road defects, infrastructure issues, and safety incidents.</a:t>
            </a:r>
            <a:endParaRPr lang="en-US" sz="1046" dirty="0"/>
          </a:p>
        </p:txBody>
      </p:sp>
      <p:sp>
        <p:nvSpPr>
          <p:cNvPr id="20" name="Shape 13"/>
          <p:cNvSpPr/>
          <p:nvPr/>
        </p:nvSpPr>
        <p:spPr>
          <a:xfrm>
            <a:off x="224831" y="4510768"/>
            <a:ext cx="531419" cy="530679"/>
          </a:xfrm>
          <a:prstGeom prst="ellipse">
            <a:avLst/>
          </a:prstGeom>
          <a:solidFill>
            <a:srgbClr val="D9F3EF"/>
          </a:solidFill>
          <a:ln w="19050">
            <a:solidFill>
              <a:srgbClr val="1AA79A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86" y="4643438"/>
            <a:ext cx="265709" cy="265339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89104" y="4541384"/>
            <a:ext cx="3576856" cy="51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Connected: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Offline &amp; low-cost operation with secure alert sharing to central command system via lightweight sync (MQTT).</a:t>
            </a:r>
            <a:endParaRPr lang="en-US" sz="1046" dirty="0"/>
          </a:p>
        </p:txBody>
      </p:sp>
      <p:sp>
        <p:nvSpPr>
          <p:cNvPr id="23" name="Shape 15"/>
          <p:cNvSpPr/>
          <p:nvPr/>
        </p:nvSpPr>
        <p:spPr>
          <a:xfrm>
            <a:off x="132855" y="5184321"/>
            <a:ext cx="4169592" cy="653143"/>
          </a:xfrm>
          <a:prstGeom prst="roundRect">
            <a:avLst>
              <a:gd name="adj" fmla="val 12517"/>
            </a:avLst>
          </a:prstGeom>
          <a:solidFill>
            <a:srgbClr val="F4F8FF"/>
          </a:solidFill>
          <a:ln w="15875">
            <a:solidFill>
              <a:srgbClr val="3B6FD6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807" y="5357813"/>
            <a:ext cx="306588" cy="306161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38006" y="5255759"/>
            <a:ext cx="3423562" cy="530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Innovation:</a:t>
            </a:r>
            <a:r>
              <a:rPr lang="en-US" sz="100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Combines computer vision, vehicle analytics, geospatial intelligence and real-time communication for a safer, smarter and more efficient urban transport ecosystem.</a:t>
            </a:r>
            <a:endParaRPr lang="en-US" sz="1006" dirty="0"/>
          </a:p>
        </p:txBody>
      </p:sp>
      <p:sp>
        <p:nvSpPr>
          <p:cNvPr id="26" name="Shape 17"/>
          <p:cNvSpPr/>
          <p:nvPr/>
        </p:nvSpPr>
        <p:spPr>
          <a:xfrm>
            <a:off x="4476180" y="1530804"/>
            <a:ext cx="7634033" cy="2510518"/>
          </a:xfrm>
          <a:prstGeom prst="roundRect">
            <a:avLst>
              <a:gd name="adj" fmla="val 3257"/>
            </a:avLst>
          </a:prstGeom>
          <a:solidFill>
            <a:srgbClr val="EAF3FD"/>
          </a:solidFill>
          <a:ln w="15875">
            <a:solidFill>
              <a:srgbClr val="4A90E2"/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4476180" y="1530804"/>
            <a:ext cx="3934542" cy="255134"/>
          </a:xfrm>
          <a:prstGeom prst="roundRect">
            <a:avLst>
              <a:gd name="adj" fmla="val 32045"/>
            </a:avLst>
          </a:prstGeom>
          <a:solidFill>
            <a:srgbClr val="2F6FDB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4557937" y="1530804"/>
            <a:ext cx="3832346" cy="255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LAYER (EDGE) — REAL-TIME PROCESSING ON BUS</a:t>
            </a:r>
            <a:endParaRPr lang="en-US" sz="1006" dirty="0"/>
          </a:p>
        </p:txBody>
      </p:sp>
      <p:sp>
        <p:nvSpPr>
          <p:cNvPr id="29" name="Shape 20"/>
          <p:cNvSpPr/>
          <p:nvPr/>
        </p:nvSpPr>
        <p:spPr>
          <a:xfrm>
            <a:off x="4527278" y="1836964"/>
            <a:ext cx="1635134" cy="2163536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6233949" y="1836964"/>
            <a:ext cx="1553378" cy="216353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7869083" y="1836964"/>
            <a:ext cx="1359205" cy="2163536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9299826" y="1836964"/>
            <a:ext cx="1328547" cy="2163536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679470" y="1836964"/>
            <a:ext cx="1410303" cy="216353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</p:sp>
      <p:sp>
        <p:nvSpPr>
          <p:cNvPr id="34" name="Text 25"/>
          <p:cNvSpPr/>
          <p:nvPr/>
        </p:nvSpPr>
        <p:spPr>
          <a:xfrm>
            <a:off x="4598815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18" dirty="0"/>
          </a:p>
        </p:txBody>
      </p:sp>
      <p:sp>
        <p:nvSpPr>
          <p:cNvPr id="35" name="Text 26"/>
          <p:cNvSpPr/>
          <p:nvPr/>
        </p:nvSpPr>
        <p:spPr>
          <a:xfrm>
            <a:off x="6285047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18" dirty="0"/>
          </a:p>
        </p:txBody>
      </p:sp>
      <p:sp>
        <p:nvSpPr>
          <p:cNvPr id="36" name="Text 27"/>
          <p:cNvSpPr/>
          <p:nvPr/>
        </p:nvSpPr>
        <p:spPr>
          <a:xfrm>
            <a:off x="7807766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18" dirty="0"/>
          </a:p>
        </p:txBody>
      </p:sp>
      <p:sp>
        <p:nvSpPr>
          <p:cNvPr id="37" name="Text 28"/>
          <p:cNvSpPr/>
          <p:nvPr/>
        </p:nvSpPr>
        <p:spPr>
          <a:xfrm>
            <a:off x="9258948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18" dirty="0"/>
          </a:p>
        </p:txBody>
      </p:sp>
      <p:sp>
        <p:nvSpPr>
          <p:cNvPr id="38" name="Text 29"/>
          <p:cNvSpPr/>
          <p:nvPr/>
        </p:nvSpPr>
        <p:spPr>
          <a:xfrm>
            <a:off x="10720349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18" dirty="0"/>
          </a:p>
        </p:txBody>
      </p:sp>
      <p:sp>
        <p:nvSpPr>
          <p:cNvPr id="39" name="Text 30"/>
          <p:cNvSpPr txBox="1"/>
          <p:nvPr/>
        </p:nvSpPr>
        <p:spPr>
          <a:xfrm>
            <a:off x="4946281" y="1847170"/>
            <a:ext cx="1124155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845" dirty="0"/>
          </a:p>
        </p:txBody>
      </p:sp>
      <p:sp>
        <p:nvSpPr>
          <p:cNvPr id="40" name="Text 31"/>
          <p:cNvSpPr txBox="1"/>
          <p:nvPr/>
        </p:nvSpPr>
        <p:spPr>
          <a:xfrm>
            <a:off x="6560976" y="1887991"/>
            <a:ext cx="117525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EDGE-AI INFERENCE</a:t>
            </a:r>
            <a:endParaRPr lang="en-US" sz="845" dirty="0"/>
          </a:p>
        </p:txBody>
      </p:sp>
      <p:sp>
        <p:nvSpPr>
          <p:cNvPr id="41" name="Text 32"/>
          <p:cNvSpPr txBox="1"/>
          <p:nvPr/>
        </p:nvSpPr>
        <p:spPr>
          <a:xfrm>
            <a:off x="8083695" y="1867580"/>
            <a:ext cx="1144594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CLASSIFICATION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GEO-TAGGING</a:t>
            </a:r>
            <a:endParaRPr lang="en-US" sz="845" dirty="0"/>
          </a:p>
        </p:txBody>
      </p:sp>
      <p:sp>
        <p:nvSpPr>
          <p:cNvPr id="42" name="Text 33"/>
          <p:cNvSpPr txBox="1"/>
          <p:nvPr/>
        </p:nvSpPr>
        <p:spPr>
          <a:xfrm>
            <a:off x="9565535" y="1867580"/>
            <a:ext cx="1021959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&amp; INCIDENT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845" dirty="0"/>
          </a:p>
        </p:txBody>
      </p:sp>
      <p:sp>
        <p:nvSpPr>
          <p:cNvPr id="43" name="Text 34"/>
          <p:cNvSpPr txBox="1"/>
          <p:nvPr/>
        </p:nvSpPr>
        <p:spPr>
          <a:xfrm>
            <a:off x="10996278" y="1887991"/>
            <a:ext cx="1083276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TRANSMISSION</a:t>
            </a:r>
            <a:endParaRPr lang="en-US" sz="845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68156" y="2143125"/>
            <a:ext cx="1481840" cy="1306286"/>
          </a:xfrm>
          <a:prstGeom prst="rect">
            <a:avLst/>
          </a:prstGeom>
        </p:spPr>
      </p:pic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9000" y="2071688"/>
            <a:ext cx="909543" cy="918482"/>
          </a:xfrm>
          <a:prstGeom prst="rect">
            <a:avLst/>
          </a:prstGeom>
        </p:spPr>
      </p:pic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938" y="2224768"/>
            <a:ext cx="1052618" cy="836839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81583" y="2265589"/>
            <a:ext cx="1165033" cy="816429"/>
          </a:xfrm>
          <a:prstGeom prst="rect">
            <a:avLst/>
          </a:prstGeom>
        </p:spPr>
      </p:pic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86058" y="2163536"/>
            <a:ext cx="786908" cy="979714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4568156" y="3531054"/>
            <a:ext cx="1512499" cy="46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Bus-mounted cameras (front, rear, sides, cabin) capture continuous video streams.</a:t>
            </a:r>
            <a:endParaRPr lang="en-US" sz="925" dirty="0"/>
          </a:p>
        </p:txBody>
      </p:sp>
      <p:sp>
        <p:nvSpPr>
          <p:cNvPr id="50" name="Text 36"/>
          <p:cNvSpPr txBox="1"/>
          <p:nvPr/>
        </p:nvSpPr>
        <p:spPr>
          <a:xfrm>
            <a:off x="6305486" y="3122839"/>
            <a:ext cx="1430742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AI processes streams in real time:</a:t>
            </a:r>
            <a:endParaRPr lang="en-US" sz="925" dirty="0"/>
          </a:p>
        </p:txBody>
      </p:sp>
      <p:sp>
        <p:nvSpPr>
          <p:cNvPr id="51" name="Text 37"/>
          <p:cNvSpPr txBox="1"/>
          <p:nvPr/>
        </p:nvSpPr>
        <p:spPr>
          <a:xfrm>
            <a:off x="6305486" y="3418795"/>
            <a:ext cx="1451182" cy="61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defect detection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detection/counting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detection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925" dirty="0"/>
          </a:p>
        </p:txBody>
      </p:sp>
      <p:sp>
        <p:nvSpPr>
          <p:cNvPr id="52" name="Text 38"/>
          <p:cNvSpPr txBox="1"/>
          <p:nvPr/>
        </p:nvSpPr>
        <p:spPr>
          <a:xfrm>
            <a:off x="7909962" y="3184071"/>
            <a:ext cx="1287668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tagged with GPS location, timestamp, severity, confidence score and vehicle details.</a:t>
            </a:r>
            <a:endParaRPr lang="en-US" sz="925" dirty="0"/>
          </a:p>
        </p:txBody>
      </p:sp>
      <p:sp>
        <p:nvSpPr>
          <p:cNvPr id="53" name="Text 39"/>
          <p:cNvSpPr txBox="1"/>
          <p:nvPr/>
        </p:nvSpPr>
        <p:spPr>
          <a:xfrm>
            <a:off x="9330485" y="3204482"/>
            <a:ext cx="1308107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hit-and-run / rash driving:</a:t>
            </a:r>
            <a:endParaRPr lang="en-US" sz="845" dirty="0"/>
          </a:p>
        </p:txBody>
      </p:sp>
      <p:sp>
        <p:nvSpPr>
          <p:cNvPr id="54" name="Text 40"/>
          <p:cNvSpPr txBox="1"/>
          <p:nvPr/>
        </p:nvSpPr>
        <p:spPr>
          <a:xfrm>
            <a:off x="9330485" y="3377973"/>
            <a:ext cx="1308107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offending vehicle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registration number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&amp; GPS</a:t>
            </a:r>
            <a:endParaRPr lang="en-US" sz="845" dirty="0"/>
          </a:p>
        </p:txBody>
      </p:sp>
      <p:sp>
        <p:nvSpPr>
          <p:cNvPr id="55" name="Text 41"/>
          <p:cNvSpPr txBox="1"/>
          <p:nvPr/>
        </p:nvSpPr>
        <p:spPr>
          <a:xfrm>
            <a:off x="10730568" y="3184071"/>
            <a:ext cx="1328547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lightweight sync transmits alerts and aggregated data to central command.</a:t>
            </a:r>
            <a:endParaRPr lang="en-US" sz="925" dirty="0"/>
          </a:p>
        </p:txBody>
      </p:sp>
      <p:sp>
        <p:nvSpPr>
          <p:cNvPr id="56" name="Shape 42"/>
          <p:cNvSpPr/>
          <p:nvPr/>
        </p:nvSpPr>
        <p:spPr>
          <a:xfrm>
            <a:off x="6029557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</p:sp>
      <p:sp>
        <p:nvSpPr>
          <p:cNvPr id="57" name="Shape 43"/>
          <p:cNvSpPr/>
          <p:nvPr/>
        </p:nvSpPr>
        <p:spPr>
          <a:xfrm>
            <a:off x="7746448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</p:sp>
      <p:sp>
        <p:nvSpPr>
          <p:cNvPr id="58" name="Shape 44"/>
          <p:cNvSpPr/>
          <p:nvPr/>
        </p:nvSpPr>
        <p:spPr>
          <a:xfrm>
            <a:off x="9177191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</p:sp>
      <p:sp>
        <p:nvSpPr>
          <p:cNvPr id="59" name="Shape 45"/>
          <p:cNvSpPr/>
          <p:nvPr/>
        </p:nvSpPr>
        <p:spPr>
          <a:xfrm>
            <a:off x="10567055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</p:sp>
      <p:sp>
        <p:nvSpPr>
          <p:cNvPr id="60" name="Shape 46"/>
          <p:cNvSpPr/>
          <p:nvPr/>
        </p:nvSpPr>
        <p:spPr>
          <a:xfrm>
            <a:off x="4476180" y="4082143"/>
            <a:ext cx="7634033" cy="1683884"/>
          </a:xfrm>
          <a:prstGeom prst="roundRect">
            <a:avLst>
              <a:gd name="adj" fmla="val 4855"/>
            </a:avLst>
          </a:prstGeom>
          <a:solidFill>
            <a:srgbClr val="EFEBFA"/>
          </a:solidFill>
          <a:ln w="15875">
            <a:solidFill>
              <a:srgbClr val="7B5EA7"/>
            </a:solidFill>
            <a:prstDash val="solid"/>
          </a:ln>
        </p:spPr>
      </p:sp>
      <p:sp>
        <p:nvSpPr>
          <p:cNvPr id="61" name="Shape 47"/>
          <p:cNvSpPr/>
          <p:nvPr/>
        </p:nvSpPr>
        <p:spPr>
          <a:xfrm>
            <a:off x="4476180" y="4082143"/>
            <a:ext cx="4108275" cy="244929"/>
          </a:xfrm>
          <a:prstGeom prst="roundRect">
            <a:avLst>
              <a:gd name="adj" fmla="val 33380"/>
            </a:avLst>
          </a:prstGeom>
          <a:solidFill>
            <a:srgbClr val="6D48C8"/>
          </a:solidFill>
          <a:ln/>
        </p:spPr>
      </p:sp>
      <p:sp>
        <p:nvSpPr>
          <p:cNvPr id="62" name="Text 48"/>
          <p:cNvSpPr txBox="1"/>
          <p:nvPr/>
        </p:nvSpPr>
        <p:spPr>
          <a:xfrm>
            <a:off x="4557937" y="4082143"/>
            <a:ext cx="4006079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LAYER (CLOUD) — URBAN INTELLIGENCE &amp; ANALYTICS</a:t>
            </a:r>
            <a:endParaRPr lang="en-US" sz="1006" dirty="0"/>
          </a:p>
        </p:txBody>
      </p:sp>
      <p:sp>
        <p:nvSpPr>
          <p:cNvPr id="63" name="Shape 49"/>
          <p:cNvSpPr/>
          <p:nvPr/>
        </p:nvSpPr>
        <p:spPr>
          <a:xfrm>
            <a:off x="4527278" y="4357688"/>
            <a:ext cx="163513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6233949" y="4357688"/>
            <a:ext cx="137964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7644252" y="4357688"/>
            <a:ext cx="137964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9074995" y="4357688"/>
            <a:ext cx="1348986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67" name="Shape 53"/>
          <p:cNvSpPr/>
          <p:nvPr/>
        </p:nvSpPr>
        <p:spPr>
          <a:xfrm>
            <a:off x="10475079" y="4357688"/>
            <a:ext cx="1614695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68" name="Text 54"/>
          <p:cNvSpPr/>
          <p:nvPr/>
        </p:nvSpPr>
        <p:spPr>
          <a:xfrm>
            <a:off x="4598815" y="4347482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18" dirty="0"/>
          </a:p>
        </p:txBody>
      </p:sp>
      <p:sp>
        <p:nvSpPr>
          <p:cNvPr id="69" name="Text 55"/>
          <p:cNvSpPr/>
          <p:nvPr/>
        </p:nvSpPr>
        <p:spPr>
          <a:xfrm>
            <a:off x="6141973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18" dirty="0"/>
          </a:p>
        </p:txBody>
      </p:sp>
      <p:sp>
        <p:nvSpPr>
          <p:cNvPr id="70" name="Text 56"/>
          <p:cNvSpPr/>
          <p:nvPr/>
        </p:nvSpPr>
        <p:spPr>
          <a:xfrm>
            <a:off x="7613594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18" dirty="0"/>
          </a:p>
        </p:txBody>
      </p:sp>
      <p:sp>
        <p:nvSpPr>
          <p:cNvPr id="71" name="Text 57"/>
          <p:cNvSpPr/>
          <p:nvPr/>
        </p:nvSpPr>
        <p:spPr>
          <a:xfrm>
            <a:off x="9177191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18" dirty="0"/>
          </a:p>
        </p:txBody>
      </p:sp>
      <p:sp>
        <p:nvSpPr>
          <p:cNvPr id="72" name="Text 58"/>
          <p:cNvSpPr/>
          <p:nvPr/>
        </p:nvSpPr>
        <p:spPr>
          <a:xfrm>
            <a:off x="10659031" y="4347482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18" dirty="0"/>
          </a:p>
        </p:txBody>
      </p:sp>
      <p:sp>
        <p:nvSpPr>
          <p:cNvPr id="73" name="Text 59"/>
          <p:cNvSpPr txBox="1"/>
          <p:nvPr/>
        </p:nvSpPr>
        <p:spPr>
          <a:xfrm>
            <a:off x="4905403" y="4388304"/>
            <a:ext cx="1226351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AGGREGATION</a:t>
            </a:r>
            <a:endParaRPr lang="en-US" sz="845" dirty="0"/>
          </a:p>
        </p:txBody>
      </p:sp>
      <p:sp>
        <p:nvSpPr>
          <p:cNvPr id="74" name="Text 60"/>
          <p:cNvSpPr txBox="1"/>
          <p:nvPr/>
        </p:nvSpPr>
        <p:spPr>
          <a:xfrm>
            <a:off x="6438341" y="4418920"/>
            <a:ext cx="1124155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</a:t>
            </a:r>
            <a:endParaRPr lang="en-US" sz="845" dirty="0"/>
          </a:p>
        </p:txBody>
      </p:sp>
      <p:sp>
        <p:nvSpPr>
          <p:cNvPr id="75" name="Text 61"/>
          <p:cNvSpPr txBox="1"/>
          <p:nvPr/>
        </p:nvSpPr>
        <p:spPr>
          <a:xfrm>
            <a:off x="7889523" y="4418920"/>
            <a:ext cx="117525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HEAT MAPS</a:t>
            </a:r>
            <a:endParaRPr lang="en-US" sz="845" dirty="0"/>
          </a:p>
        </p:txBody>
      </p:sp>
      <p:sp>
        <p:nvSpPr>
          <p:cNvPr id="76" name="Text 62"/>
          <p:cNvSpPr txBox="1"/>
          <p:nvPr/>
        </p:nvSpPr>
        <p:spPr>
          <a:xfrm>
            <a:off x="9483778" y="4418920"/>
            <a:ext cx="91976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ANALYSIS</a:t>
            </a:r>
            <a:endParaRPr lang="en-US" sz="845" dirty="0"/>
          </a:p>
        </p:txBody>
      </p:sp>
      <p:sp>
        <p:nvSpPr>
          <p:cNvPr id="77" name="Text 63"/>
          <p:cNvSpPr txBox="1"/>
          <p:nvPr/>
        </p:nvSpPr>
        <p:spPr>
          <a:xfrm>
            <a:off x="10914521" y="4388304"/>
            <a:ext cx="1185472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4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DELAY ESTIMATION</a:t>
            </a:r>
            <a:endParaRPr lang="en-US" sz="764" dirty="0"/>
          </a:p>
        </p:txBody>
      </p:sp>
      <p:pic>
        <p:nvPicPr>
          <p:cNvPr id="78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9254" y="4572000"/>
            <a:ext cx="950422" cy="602116"/>
          </a:xfrm>
          <a:prstGeom prst="rect">
            <a:avLst/>
          </a:prstGeom>
        </p:spPr>
      </p:pic>
      <p:pic>
        <p:nvPicPr>
          <p:cNvPr id="79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6145" y="4572000"/>
            <a:ext cx="1001520" cy="602116"/>
          </a:xfrm>
          <a:prstGeom prst="rect">
            <a:avLst/>
          </a:prstGeom>
        </p:spPr>
      </p:pic>
      <p:pic>
        <p:nvPicPr>
          <p:cNvPr id="80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87327" y="4572000"/>
            <a:ext cx="1083276" cy="612321"/>
          </a:xfrm>
          <a:prstGeom prst="rect">
            <a:avLst/>
          </a:prstGeom>
        </p:spPr>
      </p:pic>
      <p:pic>
        <p:nvPicPr>
          <p:cNvPr id="81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50924" y="4592411"/>
            <a:ext cx="1021959" cy="591911"/>
          </a:xfrm>
          <a:prstGeom prst="rect">
            <a:avLst/>
          </a:prstGeom>
        </p:spPr>
      </p:pic>
      <p:pic>
        <p:nvPicPr>
          <p:cNvPr id="82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53203" y="4572000"/>
            <a:ext cx="1052618" cy="612321"/>
          </a:xfrm>
          <a:prstGeom prst="rect">
            <a:avLst/>
          </a:prstGeom>
        </p:spPr>
      </p:pic>
      <p:sp>
        <p:nvSpPr>
          <p:cNvPr id="83" name="Text 64"/>
          <p:cNvSpPr txBox="1"/>
          <p:nvPr/>
        </p:nvSpPr>
        <p:spPr>
          <a:xfrm>
            <a:off x="4568156" y="5214938"/>
            <a:ext cx="1553378" cy="38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aggregation of events, images and telemetry from all buses.</a:t>
            </a:r>
            <a:endParaRPr lang="en-US" sz="925" dirty="0"/>
          </a:p>
        </p:txBody>
      </p:sp>
      <p:sp>
        <p:nvSpPr>
          <p:cNvPr id="84" name="Text 65"/>
          <p:cNvSpPr txBox="1"/>
          <p:nvPr/>
        </p:nvSpPr>
        <p:spPr>
          <a:xfrm>
            <a:off x="6295267" y="5194527"/>
            <a:ext cx="1287668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with events, vehicle locations and incident details.</a:t>
            </a:r>
            <a:endParaRPr lang="en-US" sz="925" dirty="0"/>
          </a:p>
        </p:txBody>
      </p:sp>
      <p:sp>
        <p:nvSpPr>
          <p:cNvPr id="85" name="Text 66"/>
          <p:cNvSpPr txBox="1"/>
          <p:nvPr/>
        </p:nvSpPr>
        <p:spPr>
          <a:xfrm>
            <a:off x="7705570" y="5245554"/>
            <a:ext cx="1287668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traffic hotspots and bottlenecks.</a:t>
            </a:r>
            <a:endParaRPr lang="en-US" sz="925" dirty="0"/>
          </a:p>
        </p:txBody>
      </p:sp>
      <p:sp>
        <p:nvSpPr>
          <p:cNvPr id="86" name="Text 67"/>
          <p:cNvSpPr txBox="1"/>
          <p:nvPr/>
        </p:nvSpPr>
        <p:spPr>
          <a:xfrm>
            <a:off x="9228289" y="5245554"/>
            <a:ext cx="1205911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patterns, demand and mobility insights.</a:t>
            </a:r>
            <a:endParaRPr lang="en-US" sz="885" dirty="0"/>
          </a:p>
        </p:txBody>
      </p:sp>
      <p:sp>
        <p:nvSpPr>
          <p:cNvPr id="87" name="Text 68"/>
          <p:cNvSpPr txBox="1"/>
          <p:nvPr/>
        </p:nvSpPr>
        <p:spPr>
          <a:xfrm>
            <a:off x="10812325" y="5245554"/>
            <a:ext cx="1226351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delays and suggest optimal routes.</a:t>
            </a:r>
            <a:endParaRPr lang="en-US" sz="925" dirty="0"/>
          </a:p>
        </p:txBody>
      </p:sp>
      <p:sp>
        <p:nvSpPr>
          <p:cNvPr id="88" name="Shape 69"/>
          <p:cNvSpPr/>
          <p:nvPr/>
        </p:nvSpPr>
        <p:spPr>
          <a:xfrm>
            <a:off x="5988679" y="4796518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</p:sp>
      <p:sp>
        <p:nvSpPr>
          <p:cNvPr id="89" name="Shape 70"/>
          <p:cNvSpPr/>
          <p:nvPr/>
        </p:nvSpPr>
        <p:spPr>
          <a:xfrm>
            <a:off x="7480739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</p:sp>
      <p:sp>
        <p:nvSpPr>
          <p:cNvPr id="90" name="Shape 71"/>
          <p:cNvSpPr/>
          <p:nvPr/>
        </p:nvSpPr>
        <p:spPr>
          <a:xfrm>
            <a:off x="8931921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</p:sp>
      <p:sp>
        <p:nvSpPr>
          <p:cNvPr id="91" name="Shape 72"/>
          <p:cNvSpPr/>
          <p:nvPr/>
        </p:nvSpPr>
        <p:spPr>
          <a:xfrm>
            <a:off x="10321785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</p:sp>
      <p:sp>
        <p:nvSpPr>
          <p:cNvPr id="92" name="Shape 73"/>
          <p:cNvSpPr/>
          <p:nvPr/>
        </p:nvSpPr>
        <p:spPr>
          <a:xfrm>
            <a:off x="4476180" y="5776232"/>
            <a:ext cx="7634033" cy="673554"/>
          </a:xfrm>
          <a:prstGeom prst="roundRect">
            <a:avLst>
              <a:gd name="adj" fmla="val 12138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</p:sp>
      <p:pic>
        <p:nvPicPr>
          <p:cNvPr id="93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1551" y="5827259"/>
            <a:ext cx="286148" cy="285750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4639693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66" dirty="0"/>
          </a:p>
        </p:txBody>
      </p:sp>
      <p:pic>
        <p:nvPicPr>
          <p:cNvPr id="95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01854" y="5827259"/>
            <a:ext cx="286148" cy="285750"/>
          </a:xfrm>
          <a:prstGeom prst="rect">
            <a:avLst/>
          </a:prstGeom>
        </p:spPr>
      </p:pic>
      <p:sp>
        <p:nvSpPr>
          <p:cNvPr id="96" name="Text 75"/>
          <p:cNvSpPr txBox="1"/>
          <p:nvPr/>
        </p:nvSpPr>
        <p:spPr>
          <a:xfrm>
            <a:off x="6049997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66" dirty="0"/>
          </a:p>
        </p:txBody>
      </p:sp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981499" y="5827259"/>
            <a:ext cx="286148" cy="285750"/>
          </a:xfrm>
          <a:prstGeom prst="rect">
            <a:avLst/>
          </a:prstGeom>
        </p:spPr>
      </p:pic>
      <p:sp>
        <p:nvSpPr>
          <p:cNvPr id="98" name="Text 76"/>
          <p:cNvSpPr txBox="1"/>
          <p:nvPr/>
        </p:nvSpPr>
        <p:spPr>
          <a:xfrm>
            <a:off x="7429641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Cities,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Incidents</a:t>
            </a:r>
            <a:endParaRPr lang="en-US" sz="966" dirty="0"/>
          </a:p>
        </p:txBody>
      </p:sp>
      <p:pic>
        <p:nvPicPr>
          <p:cNvPr id="99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12241" y="5827259"/>
            <a:ext cx="286148" cy="285750"/>
          </a:xfrm>
          <a:prstGeom prst="rect">
            <a:avLst/>
          </a:prstGeom>
        </p:spPr>
      </p:pic>
      <p:sp>
        <p:nvSpPr>
          <p:cNvPr id="100" name="Text 77"/>
          <p:cNvSpPr txBox="1"/>
          <p:nvPr/>
        </p:nvSpPr>
        <p:spPr>
          <a:xfrm>
            <a:off x="8860384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</a:t>
            </a:r>
            <a:endParaRPr lang="en-US" sz="966" dirty="0"/>
          </a:p>
        </p:txBody>
      </p:sp>
      <p:pic>
        <p:nvPicPr>
          <p:cNvPr id="101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65619" y="5827259"/>
            <a:ext cx="286148" cy="285750"/>
          </a:xfrm>
          <a:prstGeom prst="rect">
            <a:avLst/>
          </a:prstGeom>
        </p:spPr>
      </p:pic>
      <p:sp>
        <p:nvSpPr>
          <p:cNvPr id="102" name="Text 78"/>
          <p:cNvSpPr txBox="1"/>
          <p:nvPr/>
        </p:nvSpPr>
        <p:spPr>
          <a:xfrm>
            <a:off x="10413761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&amp;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Maintenance</a:t>
            </a:r>
            <a:endParaRPr lang="en-US" sz="966" dirty="0"/>
          </a:p>
        </p:txBody>
      </p:sp>
      <p:sp>
        <p:nvSpPr>
          <p:cNvPr id="103" name="Shape 79"/>
          <p:cNvSpPr/>
          <p:nvPr/>
        </p:nvSpPr>
        <p:spPr>
          <a:xfrm>
            <a:off x="6101095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</p:sp>
      <p:sp>
        <p:nvSpPr>
          <p:cNvPr id="104" name="Shape 80"/>
          <p:cNvSpPr/>
          <p:nvPr/>
        </p:nvSpPr>
        <p:spPr>
          <a:xfrm>
            <a:off x="7429641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</p:sp>
      <p:sp>
        <p:nvSpPr>
          <p:cNvPr id="105" name="Shape 81"/>
          <p:cNvSpPr/>
          <p:nvPr/>
        </p:nvSpPr>
        <p:spPr>
          <a:xfrm>
            <a:off x="8809286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</p:sp>
      <p:sp>
        <p:nvSpPr>
          <p:cNvPr id="106" name="Shape 82"/>
          <p:cNvSpPr/>
          <p:nvPr/>
        </p:nvSpPr>
        <p:spPr>
          <a:xfrm>
            <a:off x="10301346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</p:sp>
      <p:sp>
        <p:nvSpPr>
          <p:cNvPr id="107" name="Shape 83"/>
          <p:cNvSpPr/>
          <p:nvPr/>
        </p:nvSpPr>
        <p:spPr>
          <a:xfrm>
            <a:off x="0" y="6511018"/>
            <a:ext cx="12191970" cy="346982"/>
          </a:xfrm>
          <a:prstGeom prst="rect">
            <a:avLst/>
          </a:prstGeom>
          <a:solidFill>
            <a:srgbClr val="0B6BBE"/>
          </a:solidFill>
          <a:ln/>
        </p:spPr>
      </p:sp>
      <p:sp>
        <p:nvSpPr>
          <p:cNvPr id="108" name="Text 84"/>
          <p:cNvSpPr txBox="1"/>
          <p:nvPr/>
        </p:nvSpPr>
        <p:spPr>
          <a:xfrm>
            <a:off x="0" y="6551839"/>
            <a:ext cx="12191970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6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6" dirty="0"/>
          </a:p>
        </p:txBody>
      </p:sp>
      <p:sp>
        <p:nvSpPr>
          <p:cNvPr id="109" name="Text 85"/>
          <p:cNvSpPr txBox="1"/>
          <p:nvPr/>
        </p:nvSpPr>
        <p:spPr>
          <a:xfrm>
            <a:off x="11476598" y="6551839"/>
            <a:ext cx="408784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6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121381"/>
            <a:ext cx="1625596" cy="61701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60" dirty="0"/>
          </a:p>
        </p:txBody>
      </p:sp>
      <p:sp>
        <p:nvSpPr>
          <p:cNvPr id="3" name="Text 1"/>
          <p:cNvSpPr txBox="1"/>
          <p:nvPr/>
        </p:nvSpPr>
        <p:spPr>
          <a:xfrm>
            <a:off x="1849115" y="202301"/>
            <a:ext cx="8127980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36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975" y="50575"/>
            <a:ext cx="2204714" cy="9406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2400" y="880009"/>
            <a:ext cx="3149592" cy="4582115"/>
          </a:xfrm>
          <a:prstGeom prst="roundRect">
            <a:avLst>
              <a:gd name="adj" fmla="val 1935"/>
            </a:avLst>
          </a:prstGeom>
          <a:solidFill>
            <a:srgbClr val="F3F8FF"/>
          </a:solidFill>
          <a:ln w="12700">
            <a:solidFill>
              <a:srgbClr val="C5DCF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" y="880009"/>
            <a:ext cx="3149592" cy="283221"/>
          </a:xfrm>
          <a:prstGeom prst="roundRect">
            <a:avLst>
              <a:gd name="adj" fmla="val 14349"/>
            </a:avLst>
          </a:prstGeom>
          <a:solidFill>
            <a:srgbClr val="0F4C9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00" y="880009"/>
            <a:ext cx="3149592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223519" y="1213805"/>
            <a:ext cx="3007352" cy="1062080"/>
          </a:xfrm>
          <a:prstGeom prst="roundRect">
            <a:avLst>
              <a:gd name="adj" fmla="val 7653"/>
            </a:avLst>
          </a:prstGeom>
          <a:solidFill>
            <a:srgbClr val="DDEBFB"/>
          </a:solidFill>
          <a:ln/>
        </p:spPr>
      </p:sp>
      <p:sp>
        <p:nvSpPr>
          <p:cNvPr id="9" name="Shape 6"/>
          <p:cNvSpPr/>
          <p:nvPr/>
        </p:nvSpPr>
        <p:spPr>
          <a:xfrm>
            <a:off x="253999" y="1481854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6FD9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079" y="1613350"/>
            <a:ext cx="264159" cy="2629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15997" y="1264381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&amp; Computer Vision</a:t>
            </a:r>
            <a:endParaRPr lang="en-US" sz="1080" dirty="0"/>
          </a:p>
        </p:txBody>
      </p:sp>
      <p:sp>
        <p:nvSpPr>
          <p:cNvPr id="12" name="Text 8"/>
          <p:cNvSpPr txBox="1"/>
          <p:nvPr/>
        </p:nvSpPr>
        <p:spPr>
          <a:xfrm>
            <a:off x="1015997" y="1497027"/>
            <a:ext cx="2184395" cy="758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PyTorch, OpenCV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YOLOv8-Nano / YOLOv11-Nano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for optimized edge inference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23519" y="2326460"/>
            <a:ext cx="3007352" cy="960929"/>
          </a:xfrm>
          <a:prstGeom prst="roundRect">
            <a:avLst>
              <a:gd name="adj" fmla="val 8458"/>
            </a:avLst>
          </a:prstGeom>
          <a:solidFill>
            <a:srgbClr val="E4F4E1"/>
          </a:solidFill>
          <a:ln/>
        </p:spPr>
      </p:sp>
      <p:sp>
        <p:nvSpPr>
          <p:cNvPr id="14" name="Shape 10"/>
          <p:cNvSpPr/>
          <p:nvPr/>
        </p:nvSpPr>
        <p:spPr>
          <a:xfrm>
            <a:off x="253999" y="2543934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9E3B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079" y="2675429"/>
            <a:ext cx="264159" cy="26299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15997" y="2377035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2E9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Spatial Processing</a:t>
            </a:r>
            <a:endParaRPr lang="en-US" sz="1080" dirty="0"/>
          </a:p>
        </p:txBody>
      </p:sp>
      <p:sp>
        <p:nvSpPr>
          <p:cNvPr id="17" name="Text 12"/>
          <p:cNvSpPr txBox="1"/>
          <p:nvPr/>
        </p:nvSpPr>
        <p:spPr>
          <a:xfrm>
            <a:off x="1015997" y="2609681"/>
            <a:ext cx="2184395" cy="657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WebSockets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PostGIS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for spatial deduplication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23519" y="3358195"/>
            <a:ext cx="3007352" cy="890124"/>
          </a:xfrm>
          <a:prstGeom prst="roundRect">
            <a:avLst>
              <a:gd name="adj" fmla="val 9131"/>
            </a:avLst>
          </a:prstGeom>
          <a:solidFill>
            <a:srgbClr val="EDE7F8"/>
          </a:solidFill>
          <a:ln/>
        </p:spPr>
      </p:sp>
      <p:sp>
        <p:nvSpPr>
          <p:cNvPr id="19" name="Shape 14"/>
          <p:cNvSpPr/>
          <p:nvPr/>
        </p:nvSpPr>
        <p:spPr>
          <a:xfrm>
            <a:off x="253999" y="3540265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3FA0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079" y="3671761"/>
            <a:ext cx="264159" cy="26299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5997" y="3408770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Mobile</a:t>
            </a:r>
            <a:endParaRPr lang="en-US" sz="1080" dirty="0"/>
          </a:p>
        </p:txBody>
      </p:sp>
      <p:sp>
        <p:nvSpPr>
          <p:cNvPr id="22" name="Text 16"/>
          <p:cNvSpPr txBox="1"/>
          <p:nvPr/>
        </p:nvSpPr>
        <p:spPr>
          <a:xfrm>
            <a:off x="1015997" y="3641416"/>
            <a:ext cx="2184395" cy="586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Next.js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/ Mapbox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React Native / PWA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23519" y="4329239"/>
            <a:ext cx="3007352" cy="930584"/>
          </a:xfrm>
          <a:prstGeom prst="roundRect">
            <a:avLst>
              <a:gd name="adj" fmla="val 8734"/>
            </a:avLst>
          </a:prstGeom>
          <a:solidFill>
            <a:srgbClr val="FDEEDD"/>
          </a:solidFill>
          <a:ln/>
        </p:spPr>
      </p:sp>
      <p:sp>
        <p:nvSpPr>
          <p:cNvPr id="24" name="Shape 18"/>
          <p:cNvSpPr/>
          <p:nvPr/>
        </p:nvSpPr>
        <p:spPr>
          <a:xfrm>
            <a:off x="253999" y="4531540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07A1A"/>
            </a:solidFill>
            <a:prstDash val="solid"/>
          </a:ln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79" y="4663035"/>
            <a:ext cx="264159" cy="26299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15997" y="4379814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F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Connectivity</a:t>
            </a:r>
            <a:endParaRPr lang="en-US" sz="1080" dirty="0"/>
          </a:p>
        </p:txBody>
      </p:sp>
      <p:sp>
        <p:nvSpPr>
          <p:cNvPr id="27" name="Text 20"/>
          <p:cNvSpPr txBox="1"/>
          <p:nvPr/>
        </p:nvSpPr>
        <p:spPr>
          <a:xfrm>
            <a:off x="1015997" y="4612460"/>
            <a:ext cx="2184395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for geotagging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for lightweight transmission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offline caching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3403591" y="880009"/>
            <a:ext cx="8686778" cy="283221"/>
          </a:xfrm>
          <a:prstGeom prst="roundRect">
            <a:avLst>
              <a:gd name="adj" fmla="val 14349"/>
            </a:avLst>
          </a:prstGeom>
          <a:solidFill>
            <a:srgbClr val="0F4C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3525511" y="880009"/>
            <a:ext cx="4063990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1080" dirty="0"/>
          </a:p>
        </p:txBody>
      </p:sp>
      <p:sp>
        <p:nvSpPr>
          <p:cNvPr id="30" name="Shape 23"/>
          <p:cNvSpPr/>
          <p:nvPr/>
        </p:nvSpPr>
        <p:spPr>
          <a:xfrm>
            <a:off x="3434071" y="1213805"/>
            <a:ext cx="8605498" cy="2407381"/>
          </a:xfrm>
          <a:prstGeom prst="roundRect">
            <a:avLst>
              <a:gd name="adj" fmla="val 3376"/>
            </a:avLst>
          </a:prstGeom>
          <a:solidFill>
            <a:srgbClr val="EDF5FF"/>
          </a:solidFill>
          <a:ln w="12700">
            <a:solidFill>
              <a:srgbClr val="9CC4EE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474711" y="1234035"/>
            <a:ext cx="4297669" cy="242761"/>
          </a:xfrm>
          <a:prstGeom prst="roundRect">
            <a:avLst>
              <a:gd name="adj" fmla="val 50222"/>
            </a:avLst>
          </a:prstGeom>
          <a:solidFill>
            <a:srgbClr val="2F6FDB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3576311" y="1234035"/>
            <a:ext cx="4165590" cy="242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LAYER (EDGE) — REAL-TIME PROCESSING ON BUS</a:t>
            </a:r>
            <a:endParaRPr lang="en-US" sz="960" dirty="0"/>
          </a:p>
        </p:txBody>
      </p:sp>
      <p:sp>
        <p:nvSpPr>
          <p:cNvPr id="33" name="Shape 26"/>
          <p:cNvSpPr/>
          <p:nvPr/>
        </p:nvSpPr>
        <p:spPr>
          <a:xfrm>
            <a:off x="3474711" y="1537487"/>
            <a:ext cx="1706876" cy="1982549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9CC4EE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3555991" y="1618407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4" dirty="0"/>
          </a:p>
        </p:txBody>
      </p:sp>
      <p:sp>
        <p:nvSpPr>
          <p:cNvPr id="35" name="Text 28"/>
          <p:cNvSpPr txBox="1"/>
          <p:nvPr/>
        </p:nvSpPr>
        <p:spPr>
          <a:xfrm>
            <a:off x="3942070" y="1598177"/>
            <a:ext cx="120903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840" dirty="0"/>
          </a:p>
        </p:txBody>
      </p:sp>
      <p:sp>
        <p:nvSpPr>
          <p:cNvPr id="36" name="Shape 29"/>
          <p:cNvSpPr/>
          <p:nvPr/>
        </p:nvSpPr>
        <p:spPr>
          <a:xfrm>
            <a:off x="5283187" y="1537487"/>
            <a:ext cx="1676396" cy="1982549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7CC48A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374627" y="1618407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4" dirty="0"/>
          </a:p>
        </p:txBody>
      </p:sp>
      <p:sp>
        <p:nvSpPr>
          <p:cNvPr id="38" name="Text 31"/>
          <p:cNvSpPr txBox="1"/>
          <p:nvPr/>
        </p:nvSpPr>
        <p:spPr>
          <a:xfrm>
            <a:off x="5669266" y="1658867"/>
            <a:ext cx="12598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EDGE-AI INFERENCE</a:t>
            </a:r>
            <a:endParaRPr lang="en-US" sz="840" dirty="0"/>
          </a:p>
        </p:txBody>
      </p:sp>
      <p:sp>
        <p:nvSpPr>
          <p:cNvPr id="39" name="Shape 32"/>
          <p:cNvSpPr/>
          <p:nvPr/>
        </p:nvSpPr>
        <p:spPr>
          <a:xfrm>
            <a:off x="7051022" y="1537487"/>
            <a:ext cx="1686556" cy="1982549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B7A0E0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7132302" y="1618407"/>
            <a:ext cx="243839" cy="242761"/>
          </a:xfrm>
          <a:prstGeom prst="ellipse">
            <a:avLst/>
          </a:prstGeom>
          <a:solidFill>
            <a:srgbClr val="6A3DB5"/>
          </a:solidFill>
          <a:ln>
            <a:solidFill>
              <a:srgbClr val="6A3DB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4" dirty="0"/>
          </a:p>
        </p:txBody>
      </p:sp>
      <p:sp>
        <p:nvSpPr>
          <p:cNvPr id="41" name="Text 34"/>
          <p:cNvSpPr txBox="1"/>
          <p:nvPr/>
        </p:nvSpPr>
        <p:spPr>
          <a:xfrm>
            <a:off x="7437101" y="1598177"/>
            <a:ext cx="126999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CLASSIFICATION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GEO-TAGGING</a:t>
            </a:r>
            <a:endParaRPr lang="en-US" sz="840" dirty="0"/>
          </a:p>
        </p:txBody>
      </p:sp>
      <p:sp>
        <p:nvSpPr>
          <p:cNvPr id="42" name="Shape 35"/>
          <p:cNvSpPr/>
          <p:nvPr/>
        </p:nvSpPr>
        <p:spPr>
          <a:xfrm>
            <a:off x="8829018" y="1537487"/>
            <a:ext cx="1605276" cy="1982549"/>
          </a:xfrm>
          <a:prstGeom prst="roundRect">
            <a:avLst>
              <a:gd name="adj" fmla="val 3797"/>
            </a:avLst>
          </a:prstGeom>
          <a:solidFill>
            <a:srgbClr val="FFF3E3"/>
          </a:solidFill>
          <a:ln w="12700">
            <a:solidFill>
              <a:srgbClr val="F0B36A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920458" y="1618407"/>
            <a:ext cx="243839" cy="242761"/>
          </a:xfrm>
          <a:prstGeom prst="ellipse">
            <a:avLst/>
          </a:prstGeom>
          <a:solidFill>
            <a:srgbClr val="E27414"/>
          </a:solidFill>
          <a:ln>
            <a:solidFill>
              <a:srgbClr val="E274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4" dirty="0"/>
          </a:p>
        </p:txBody>
      </p:sp>
      <p:sp>
        <p:nvSpPr>
          <p:cNvPr id="44" name="Text 37"/>
          <p:cNvSpPr txBox="1"/>
          <p:nvPr/>
        </p:nvSpPr>
        <p:spPr>
          <a:xfrm>
            <a:off x="9265897" y="1598177"/>
            <a:ext cx="113791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&amp; INCIDENT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840" dirty="0"/>
          </a:p>
        </p:txBody>
      </p:sp>
      <p:sp>
        <p:nvSpPr>
          <p:cNvPr id="45" name="Shape 38"/>
          <p:cNvSpPr/>
          <p:nvPr/>
        </p:nvSpPr>
        <p:spPr>
          <a:xfrm>
            <a:off x="10535894" y="1537487"/>
            <a:ext cx="1483356" cy="1982549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2700">
            <a:solidFill>
              <a:srgbClr val="9CC4EE"/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10617173" y="1618407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4" dirty="0"/>
          </a:p>
        </p:txBody>
      </p:sp>
      <p:sp>
        <p:nvSpPr>
          <p:cNvPr id="47" name="Text 40"/>
          <p:cNvSpPr txBox="1"/>
          <p:nvPr/>
        </p:nvSpPr>
        <p:spPr>
          <a:xfrm>
            <a:off x="10942293" y="1658867"/>
            <a:ext cx="104647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TRANSMISSION</a:t>
            </a:r>
            <a:endParaRPr lang="en-US" sz="840" dirty="0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311" y="1901628"/>
            <a:ext cx="1564636" cy="930584"/>
          </a:xfrm>
          <a:prstGeom prst="rect">
            <a:avLst/>
          </a:prstGeom>
        </p:spPr>
      </p:pic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38786" y="1901628"/>
            <a:ext cx="965198" cy="768743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2782" y="1982549"/>
            <a:ext cx="914398" cy="728283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81418" y="1921858"/>
            <a:ext cx="1402076" cy="667593"/>
          </a:xfrm>
          <a:prstGeom prst="rect">
            <a:avLst/>
          </a:prstGeom>
        </p:spPr>
      </p:pic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373" y="1901628"/>
            <a:ext cx="914398" cy="880009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8046700" y="2023009"/>
            <a:ext cx="121920" cy="121381"/>
          </a:xfrm>
          <a:prstGeom prst="ellipse">
            <a:avLst/>
          </a:prstGeom>
          <a:solidFill>
            <a:srgbClr val="E8352B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209259" y="2002779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</a:t>
            </a:r>
            <a:endParaRPr lang="en-US" sz="840" dirty="0"/>
          </a:p>
        </p:txBody>
      </p:sp>
      <p:sp>
        <p:nvSpPr>
          <p:cNvPr id="55" name="Shape 43"/>
          <p:cNvSpPr/>
          <p:nvPr/>
        </p:nvSpPr>
        <p:spPr>
          <a:xfrm>
            <a:off x="8046700" y="2225310"/>
            <a:ext cx="121920" cy="121381"/>
          </a:xfrm>
          <a:prstGeom prst="ellipse">
            <a:avLst/>
          </a:prstGeom>
          <a:solidFill>
            <a:srgbClr val="F09A1F"/>
          </a:solidFill>
          <a:ln/>
        </p:spPr>
      </p:sp>
      <p:sp>
        <p:nvSpPr>
          <p:cNvPr id="56" name="Text 44"/>
          <p:cNvSpPr txBox="1"/>
          <p:nvPr/>
        </p:nvSpPr>
        <p:spPr>
          <a:xfrm>
            <a:off x="8209259" y="2205080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</a:t>
            </a:r>
            <a:endParaRPr lang="en-US" sz="840" dirty="0"/>
          </a:p>
        </p:txBody>
      </p:sp>
      <p:sp>
        <p:nvSpPr>
          <p:cNvPr id="57" name="Shape 45"/>
          <p:cNvSpPr/>
          <p:nvPr/>
        </p:nvSpPr>
        <p:spPr>
          <a:xfrm>
            <a:off x="8046700" y="2397265"/>
            <a:ext cx="121920" cy="121381"/>
          </a:xfrm>
          <a:prstGeom prst="ellipse">
            <a:avLst/>
          </a:prstGeom>
          <a:solidFill>
            <a:srgbClr val="2E9E3B"/>
          </a:solidFill>
          <a:ln/>
        </p:spPr>
      </p:sp>
      <p:sp>
        <p:nvSpPr>
          <p:cNvPr id="58" name="Text 46"/>
          <p:cNvSpPr txBox="1"/>
          <p:nvPr/>
        </p:nvSpPr>
        <p:spPr>
          <a:xfrm>
            <a:off x="8209259" y="2377035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</a:t>
            </a:r>
            <a:endParaRPr lang="en-US" sz="840" dirty="0"/>
          </a:p>
        </p:txBody>
      </p:sp>
      <p:sp>
        <p:nvSpPr>
          <p:cNvPr id="59" name="Shape 47"/>
          <p:cNvSpPr/>
          <p:nvPr/>
        </p:nvSpPr>
        <p:spPr>
          <a:xfrm>
            <a:off x="8046700" y="2569221"/>
            <a:ext cx="121920" cy="121381"/>
          </a:xfrm>
          <a:prstGeom prst="ellipse">
            <a:avLst/>
          </a:prstGeom>
          <a:solidFill>
            <a:srgbClr val="E8352B"/>
          </a:solidFill>
          <a:ln/>
        </p:spPr>
      </p:sp>
      <p:sp>
        <p:nvSpPr>
          <p:cNvPr id="60" name="Text 48"/>
          <p:cNvSpPr txBox="1"/>
          <p:nvPr/>
        </p:nvSpPr>
        <p:spPr>
          <a:xfrm>
            <a:off x="8209259" y="2548991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840" dirty="0"/>
          </a:p>
        </p:txBody>
      </p:sp>
      <p:sp>
        <p:nvSpPr>
          <p:cNvPr id="61" name="Text 49"/>
          <p:cNvSpPr txBox="1"/>
          <p:nvPr/>
        </p:nvSpPr>
        <p:spPr>
          <a:xfrm>
            <a:off x="3616951" y="2872673"/>
            <a:ext cx="1473196" cy="455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Bus-mounted cameras capture continuous video streams.</a:t>
            </a:r>
            <a:endParaRPr lang="en-US" sz="960" dirty="0"/>
          </a:p>
        </p:txBody>
      </p:sp>
      <p:sp>
        <p:nvSpPr>
          <p:cNvPr id="62" name="Text 50"/>
          <p:cNvSpPr txBox="1"/>
          <p:nvPr/>
        </p:nvSpPr>
        <p:spPr>
          <a:xfrm>
            <a:off x="5354307" y="2751292"/>
            <a:ext cx="1523996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AI processes streams in real time:</a:t>
            </a:r>
            <a:endParaRPr lang="en-US" sz="920" dirty="0"/>
          </a:p>
        </p:txBody>
      </p:sp>
      <p:sp>
        <p:nvSpPr>
          <p:cNvPr id="63" name="Text 51"/>
          <p:cNvSpPr txBox="1"/>
          <p:nvPr/>
        </p:nvSpPr>
        <p:spPr>
          <a:xfrm>
            <a:off x="5354307" y="3014283"/>
            <a:ext cx="1544316" cy="606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defect detection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detection/counting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detection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920" dirty="0"/>
          </a:p>
        </p:txBody>
      </p:sp>
      <p:sp>
        <p:nvSpPr>
          <p:cNvPr id="64" name="Text 52"/>
          <p:cNvSpPr txBox="1"/>
          <p:nvPr/>
        </p:nvSpPr>
        <p:spPr>
          <a:xfrm>
            <a:off x="7132302" y="2862558"/>
            <a:ext cx="1523996" cy="657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tagged with GPS location, timestamp, severity, confidence score and vehicle details.</a:t>
            </a:r>
            <a:endParaRPr lang="en-US" sz="960" dirty="0"/>
          </a:p>
        </p:txBody>
      </p:sp>
      <p:sp>
        <p:nvSpPr>
          <p:cNvPr id="65" name="Text 53"/>
          <p:cNvSpPr txBox="1"/>
          <p:nvPr/>
        </p:nvSpPr>
        <p:spPr>
          <a:xfrm>
            <a:off x="8940778" y="2660257"/>
            <a:ext cx="1422396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hit-and-run / rash driving:</a:t>
            </a:r>
            <a:endParaRPr lang="en-US" sz="920" dirty="0"/>
          </a:p>
        </p:txBody>
      </p:sp>
      <p:sp>
        <p:nvSpPr>
          <p:cNvPr id="66" name="Text 54"/>
          <p:cNvSpPr txBox="1"/>
          <p:nvPr/>
        </p:nvSpPr>
        <p:spPr>
          <a:xfrm>
            <a:off x="8940778" y="2832212"/>
            <a:ext cx="1473196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offending vehicle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registration number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&amp; GPS</a:t>
            </a:r>
            <a:endParaRPr lang="en-US" sz="920" dirty="0"/>
          </a:p>
        </p:txBody>
      </p:sp>
      <p:sp>
        <p:nvSpPr>
          <p:cNvPr id="67" name="Text 55"/>
          <p:cNvSpPr txBox="1"/>
          <p:nvPr/>
        </p:nvSpPr>
        <p:spPr>
          <a:xfrm>
            <a:off x="10667973" y="2862558"/>
            <a:ext cx="1320797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lightweight sync transmits alerts and aggregated data to central server.</a:t>
            </a:r>
            <a:endParaRPr lang="en-US" sz="960" dirty="0"/>
          </a:p>
        </p:txBody>
      </p:sp>
      <p:sp>
        <p:nvSpPr>
          <p:cNvPr id="68" name="Shape 56"/>
          <p:cNvSpPr/>
          <p:nvPr/>
        </p:nvSpPr>
        <p:spPr>
          <a:xfrm>
            <a:off x="5161267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69" name="Shape 57"/>
          <p:cNvSpPr/>
          <p:nvPr/>
        </p:nvSpPr>
        <p:spPr>
          <a:xfrm>
            <a:off x="6939263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70" name="Shape 58"/>
          <p:cNvSpPr/>
          <p:nvPr/>
        </p:nvSpPr>
        <p:spPr>
          <a:xfrm>
            <a:off x="8717258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71" name="Shape 59"/>
          <p:cNvSpPr/>
          <p:nvPr/>
        </p:nvSpPr>
        <p:spPr>
          <a:xfrm>
            <a:off x="10413974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72" name="Shape 60"/>
          <p:cNvSpPr/>
          <p:nvPr/>
        </p:nvSpPr>
        <p:spPr>
          <a:xfrm>
            <a:off x="11186132" y="3540265"/>
            <a:ext cx="111760" cy="141611"/>
          </a:xfrm>
          <a:prstGeom prst="downArrow">
            <a:avLst/>
          </a:prstGeom>
          <a:solidFill>
            <a:srgbClr val="1D5FBF"/>
          </a:solidFill>
          <a:ln/>
        </p:spPr>
      </p:sp>
      <p:sp>
        <p:nvSpPr>
          <p:cNvPr id="73" name="Shape 61"/>
          <p:cNvSpPr/>
          <p:nvPr/>
        </p:nvSpPr>
        <p:spPr>
          <a:xfrm>
            <a:off x="3434071" y="3661646"/>
            <a:ext cx="8605498" cy="1800478"/>
          </a:xfrm>
          <a:prstGeom prst="roundRect">
            <a:avLst>
              <a:gd name="adj" fmla="val 4514"/>
            </a:avLst>
          </a:prstGeom>
          <a:solidFill>
            <a:srgbClr val="F1EDFB"/>
          </a:solidFill>
          <a:ln w="12700">
            <a:solidFill>
              <a:srgbClr val="B7A0E0"/>
            </a:solidFill>
            <a:prstDash val="solid"/>
          </a:ln>
        </p:spPr>
      </p:sp>
      <p:sp>
        <p:nvSpPr>
          <p:cNvPr id="74" name="Shape 62"/>
          <p:cNvSpPr/>
          <p:nvPr/>
        </p:nvSpPr>
        <p:spPr>
          <a:xfrm>
            <a:off x="3474711" y="3691991"/>
            <a:ext cx="4754868" cy="232646"/>
          </a:xfrm>
          <a:prstGeom prst="roundRect">
            <a:avLst>
              <a:gd name="adj" fmla="val 52406"/>
            </a:avLst>
          </a:prstGeom>
          <a:solidFill>
            <a:srgbClr val="6D48C8"/>
          </a:solidFill>
          <a:ln/>
        </p:spPr>
      </p:sp>
      <p:sp>
        <p:nvSpPr>
          <p:cNvPr id="75" name="Text 63"/>
          <p:cNvSpPr txBox="1"/>
          <p:nvPr/>
        </p:nvSpPr>
        <p:spPr>
          <a:xfrm>
            <a:off x="3576311" y="3691991"/>
            <a:ext cx="4622788" cy="232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LAYER (CLOUD) — URBAN INTELLIGENCE &amp; ANALYTICS</a:t>
            </a:r>
            <a:endParaRPr lang="en-US" sz="960" dirty="0"/>
          </a:p>
        </p:txBody>
      </p:sp>
      <p:sp>
        <p:nvSpPr>
          <p:cNvPr id="76" name="Shape 64"/>
          <p:cNvSpPr/>
          <p:nvPr/>
        </p:nvSpPr>
        <p:spPr>
          <a:xfrm>
            <a:off x="3474711" y="3995442"/>
            <a:ext cx="170687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77" name="Text 65"/>
          <p:cNvSpPr/>
          <p:nvPr/>
        </p:nvSpPr>
        <p:spPr>
          <a:xfrm>
            <a:off x="3555991" y="4005558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4" dirty="0"/>
          </a:p>
        </p:txBody>
      </p:sp>
      <p:sp>
        <p:nvSpPr>
          <p:cNvPr id="78" name="Text 66"/>
          <p:cNvSpPr txBox="1"/>
          <p:nvPr/>
        </p:nvSpPr>
        <p:spPr>
          <a:xfrm>
            <a:off x="3942070" y="4046018"/>
            <a:ext cx="12090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AGGREGATION</a:t>
            </a:r>
            <a:endParaRPr lang="en-US" sz="840" dirty="0"/>
          </a:p>
        </p:txBody>
      </p:sp>
      <p:sp>
        <p:nvSpPr>
          <p:cNvPr id="79" name="Shape 67"/>
          <p:cNvSpPr/>
          <p:nvPr/>
        </p:nvSpPr>
        <p:spPr>
          <a:xfrm>
            <a:off x="5283187" y="3995442"/>
            <a:ext cx="167639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80" name="Text 68"/>
          <p:cNvSpPr/>
          <p:nvPr/>
        </p:nvSpPr>
        <p:spPr>
          <a:xfrm>
            <a:off x="5374627" y="4005558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4" dirty="0"/>
          </a:p>
        </p:txBody>
      </p:sp>
      <p:sp>
        <p:nvSpPr>
          <p:cNvPr id="81" name="Text 69"/>
          <p:cNvSpPr txBox="1"/>
          <p:nvPr/>
        </p:nvSpPr>
        <p:spPr>
          <a:xfrm>
            <a:off x="5669266" y="4046018"/>
            <a:ext cx="12598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</a:t>
            </a:r>
            <a:endParaRPr lang="en-US" sz="840" dirty="0"/>
          </a:p>
        </p:txBody>
      </p:sp>
      <p:sp>
        <p:nvSpPr>
          <p:cNvPr id="82" name="Shape 70"/>
          <p:cNvSpPr/>
          <p:nvPr/>
        </p:nvSpPr>
        <p:spPr>
          <a:xfrm>
            <a:off x="7051022" y="3995442"/>
            <a:ext cx="168655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83" name="Text 71"/>
          <p:cNvSpPr/>
          <p:nvPr/>
        </p:nvSpPr>
        <p:spPr>
          <a:xfrm>
            <a:off x="7132302" y="4005558"/>
            <a:ext cx="243839" cy="242761"/>
          </a:xfrm>
          <a:prstGeom prst="ellipse">
            <a:avLst/>
          </a:prstGeom>
          <a:solidFill>
            <a:srgbClr val="6A3DB5"/>
          </a:solidFill>
          <a:ln>
            <a:solidFill>
              <a:srgbClr val="6A3DB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4" dirty="0"/>
          </a:p>
        </p:txBody>
      </p:sp>
      <p:sp>
        <p:nvSpPr>
          <p:cNvPr id="84" name="Text 72"/>
          <p:cNvSpPr txBox="1"/>
          <p:nvPr/>
        </p:nvSpPr>
        <p:spPr>
          <a:xfrm>
            <a:off x="7467581" y="4046018"/>
            <a:ext cx="123951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HEAT MAPS</a:t>
            </a:r>
            <a:endParaRPr lang="en-US" sz="840" dirty="0"/>
          </a:p>
        </p:txBody>
      </p:sp>
      <p:sp>
        <p:nvSpPr>
          <p:cNvPr id="85" name="Shape 73"/>
          <p:cNvSpPr/>
          <p:nvPr/>
        </p:nvSpPr>
        <p:spPr>
          <a:xfrm>
            <a:off x="8829018" y="3995442"/>
            <a:ext cx="148335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86" name="Text 74"/>
          <p:cNvSpPr/>
          <p:nvPr/>
        </p:nvSpPr>
        <p:spPr>
          <a:xfrm>
            <a:off x="8859498" y="4005558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4" dirty="0"/>
          </a:p>
        </p:txBody>
      </p:sp>
      <p:sp>
        <p:nvSpPr>
          <p:cNvPr id="87" name="Text 75"/>
          <p:cNvSpPr txBox="1"/>
          <p:nvPr/>
        </p:nvSpPr>
        <p:spPr>
          <a:xfrm>
            <a:off x="9164297" y="4046018"/>
            <a:ext cx="111759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ANALYSIS</a:t>
            </a:r>
            <a:endParaRPr lang="en-US" sz="840" dirty="0"/>
          </a:p>
        </p:txBody>
      </p:sp>
      <p:sp>
        <p:nvSpPr>
          <p:cNvPr id="88" name="Shape 76"/>
          <p:cNvSpPr/>
          <p:nvPr/>
        </p:nvSpPr>
        <p:spPr>
          <a:xfrm>
            <a:off x="10413974" y="3995442"/>
            <a:ext cx="160527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</p:sp>
      <p:sp>
        <p:nvSpPr>
          <p:cNvPr id="89" name="Text 77"/>
          <p:cNvSpPr/>
          <p:nvPr/>
        </p:nvSpPr>
        <p:spPr>
          <a:xfrm>
            <a:off x="10474934" y="4005558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4" dirty="0"/>
          </a:p>
        </p:txBody>
      </p:sp>
      <p:sp>
        <p:nvSpPr>
          <p:cNvPr id="90" name="Text 78"/>
          <p:cNvSpPr txBox="1"/>
          <p:nvPr/>
        </p:nvSpPr>
        <p:spPr>
          <a:xfrm>
            <a:off x="10789893" y="4046018"/>
            <a:ext cx="119887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DELAY ESTIMATION</a:t>
            </a:r>
            <a:endParaRPr lang="en-US" sz="840" dirty="0"/>
          </a:p>
        </p:txBody>
      </p:sp>
      <p:pic>
        <p:nvPicPr>
          <p:cNvPr id="91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11590" y="4268549"/>
            <a:ext cx="822958" cy="687823"/>
          </a:xfrm>
          <a:prstGeom prst="rect">
            <a:avLst/>
          </a:prstGeom>
        </p:spPr>
      </p:pic>
      <p:pic>
        <p:nvPicPr>
          <p:cNvPr id="92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18466" y="4288779"/>
            <a:ext cx="1056637" cy="667593"/>
          </a:xfrm>
          <a:prstGeom prst="rect">
            <a:avLst/>
          </a:prstGeom>
        </p:spPr>
      </p:pic>
      <p:pic>
        <p:nvPicPr>
          <p:cNvPr id="93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35502" y="4288779"/>
            <a:ext cx="1117597" cy="647363"/>
          </a:xfrm>
          <a:prstGeom prst="rect">
            <a:avLst/>
          </a:prstGeom>
        </p:spPr>
      </p:pic>
      <p:pic>
        <p:nvPicPr>
          <p:cNvPr id="94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42377" y="4288779"/>
            <a:ext cx="1076957" cy="586673"/>
          </a:xfrm>
          <a:prstGeom prst="rect">
            <a:avLst/>
          </a:prstGeom>
        </p:spPr>
      </p:pic>
      <p:pic>
        <p:nvPicPr>
          <p:cNvPr id="95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47653" y="4288779"/>
            <a:ext cx="1097277" cy="627133"/>
          </a:xfrm>
          <a:prstGeom prst="rect">
            <a:avLst/>
          </a:prstGeom>
        </p:spPr>
      </p:pic>
      <p:sp>
        <p:nvSpPr>
          <p:cNvPr id="96" name="Text 79"/>
          <p:cNvSpPr txBox="1"/>
          <p:nvPr/>
        </p:nvSpPr>
        <p:spPr>
          <a:xfrm>
            <a:off x="3606791" y="4976602"/>
            <a:ext cx="1523996" cy="4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aggregation of events, images and telemetry from all buses.</a:t>
            </a:r>
            <a:endParaRPr lang="en-US" sz="960" dirty="0"/>
          </a:p>
        </p:txBody>
      </p:sp>
      <p:sp>
        <p:nvSpPr>
          <p:cNvPr id="97" name="Text 80"/>
          <p:cNvSpPr txBox="1"/>
          <p:nvPr/>
        </p:nvSpPr>
        <p:spPr>
          <a:xfrm>
            <a:off x="5455906" y="4976602"/>
            <a:ext cx="1422396" cy="4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with events, vehicle locations and incident details.</a:t>
            </a:r>
            <a:endParaRPr lang="en-US" sz="960" dirty="0"/>
          </a:p>
        </p:txBody>
      </p:sp>
      <p:sp>
        <p:nvSpPr>
          <p:cNvPr id="98" name="Text 81"/>
          <p:cNvSpPr txBox="1"/>
          <p:nvPr/>
        </p:nvSpPr>
        <p:spPr>
          <a:xfrm>
            <a:off x="7213582" y="4976602"/>
            <a:ext cx="1422396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traffic hotspots and bottlenecks.</a:t>
            </a:r>
            <a:endParaRPr lang="en-US" sz="960" dirty="0"/>
          </a:p>
        </p:txBody>
      </p:sp>
      <p:sp>
        <p:nvSpPr>
          <p:cNvPr id="99" name="Text 82"/>
          <p:cNvSpPr txBox="1"/>
          <p:nvPr/>
        </p:nvSpPr>
        <p:spPr>
          <a:xfrm>
            <a:off x="8940778" y="4976602"/>
            <a:ext cx="1269997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patterns, demand and mobility insights.</a:t>
            </a:r>
            <a:endParaRPr lang="en-US" sz="960" dirty="0"/>
          </a:p>
        </p:txBody>
      </p:sp>
      <p:sp>
        <p:nvSpPr>
          <p:cNvPr id="100" name="Text 83"/>
          <p:cNvSpPr txBox="1"/>
          <p:nvPr/>
        </p:nvSpPr>
        <p:spPr>
          <a:xfrm>
            <a:off x="10617173" y="4976602"/>
            <a:ext cx="1320797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delays and suggest optimal routes.</a:t>
            </a:r>
            <a:endParaRPr lang="en-US" sz="960" dirty="0"/>
          </a:p>
        </p:txBody>
      </p:sp>
      <p:sp>
        <p:nvSpPr>
          <p:cNvPr id="101" name="Shape 84"/>
          <p:cNvSpPr/>
          <p:nvPr/>
        </p:nvSpPr>
        <p:spPr>
          <a:xfrm>
            <a:off x="5161267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102" name="Shape 85"/>
          <p:cNvSpPr/>
          <p:nvPr/>
        </p:nvSpPr>
        <p:spPr>
          <a:xfrm>
            <a:off x="6939263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103" name="Shape 86"/>
          <p:cNvSpPr/>
          <p:nvPr/>
        </p:nvSpPr>
        <p:spPr>
          <a:xfrm>
            <a:off x="8666458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104" name="Shape 87"/>
          <p:cNvSpPr/>
          <p:nvPr/>
        </p:nvSpPr>
        <p:spPr>
          <a:xfrm>
            <a:off x="10292054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</p:sp>
      <p:sp>
        <p:nvSpPr>
          <p:cNvPr id="105" name="Shape 88"/>
          <p:cNvSpPr/>
          <p:nvPr/>
        </p:nvSpPr>
        <p:spPr>
          <a:xfrm>
            <a:off x="152400" y="5522814"/>
            <a:ext cx="11917650" cy="627133"/>
          </a:xfrm>
          <a:prstGeom prst="roundRect">
            <a:avLst>
              <a:gd name="adj" fmla="val 12961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</p:sp>
      <p:pic>
        <p:nvPicPr>
          <p:cNvPr id="106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5439" y="5715000"/>
            <a:ext cx="365759" cy="364142"/>
          </a:xfrm>
          <a:prstGeom prst="rect">
            <a:avLst/>
          </a:prstGeom>
        </p:spPr>
      </p:pic>
      <p:sp>
        <p:nvSpPr>
          <p:cNvPr id="107" name="Text 89"/>
          <p:cNvSpPr txBox="1"/>
          <p:nvPr/>
        </p:nvSpPr>
        <p:spPr>
          <a:xfrm>
            <a:off x="863598" y="5664425"/>
            <a:ext cx="126999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</a:t>
            </a:r>
            <a:endParaRPr lang="en-US" sz="1120" dirty="0"/>
          </a:p>
          <a:p>
            <a:pPr marL="0" indent="0" algn="l">
              <a:buNone/>
            </a:pPr>
            <a:r>
              <a:rPr lang="en-US" sz="11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20" dirty="0"/>
          </a:p>
        </p:txBody>
      </p:sp>
      <p:sp>
        <p:nvSpPr>
          <p:cNvPr id="108" name="Shape 90"/>
          <p:cNvSpPr/>
          <p:nvPr/>
        </p:nvSpPr>
        <p:spPr>
          <a:xfrm>
            <a:off x="2367274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09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23154" y="5730173"/>
            <a:ext cx="111760" cy="111265"/>
          </a:xfrm>
          <a:prstGeom prst="rect">
            <a:avLst/>
          </a:prstGeom>
        </p:spPr>
      </p:pic>
      <p:sp>
        <p:nvSpPr>
          <p:cNvPr id="110" name="Text 91"/>
          <p:cNvSpPr txBox="1"/>
          <p:nvPr/>
        </p:nvSpPr>
        <p:spPr>
          <a:xfrm>
            <a:off x="2712713" y="5664425"/>
            <a:ext cx="130047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streams (front, rear, sides, cabin) for comprehensive coverage.</a:t>
            </a:r>
            <a:endParaRPr lang="en-US" sz="840" dirty="0"/>
          </a:p>
        </p:txBody>
      </p:sp>
      <p:sp>
        <p:nvSpPr>
          <p:cNvPr id="111" name="Shape 92"/>
          <p:cNvSpPr/>
          <p:nvPr/>
        </p:nvSpPr>
        <p:spPr>
          <a:xfrm>
            <a:off x="4277349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12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33229" y="5730173"/>
            <a:ext cx="111760" cy="111265"/>
          </a:xfrm>
          <a:prstGeom prst="rect">
            <a:avLst/>
          </a:prstGeom>
        </p:spPr>
      </p:pic>
      <p:sp>
        <p:nvSpPr>
          <p:cNvPr id="113" name="Text 93"/>
          <p:cNvSpPr txBox="1"/>
          <p:nvPr/>
        </p:nvSpPr>
        <p:spPr>
          <a:xfrm>
            <a:off x="4602468" y="5664425"/>
            <a:ext cx="1402076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density estimation via detection, classification and counting.</a:t>
            </a:r>
            <a:endParaRPr lang="en-US" sz="840" dirty="0"/>
          </a:p>
        </p:txBody>
      </p:sp>
      <p:sp>
        <p:nvSpPr>
          <p:cNvPr id="114" name="Shape 94"/>
          <p:cNvSpPr/>
          <p:nvPr/>
        </p:nvSpPr>
        <p:spPr>
          <a:xfrm>
            <a:off x="6116305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15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72185" y="5730173"/>
            <a:ext cx="111760" cy="111265"/>
          </a:xfrm>
          <a:prstGeom prst="rect">
            <a:avLst/>
          </a:prstGeom>
        </p:spPr>
      </p:pic>
      <p:sp>
        <p:nvSpPr>
          <p:cNvPr id="116" name="Text 95"/>
          <p:cNvSpPr txBox="1"/>
          <p:nvPr/>
        </p:nvSpPr>
        <p:spPr>
          <a:xfrm>
            <a:off x="6441424" y="5664425"/>
            <a:ext cx="975358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bottleneck identification.</a:t>
            </a:r>
            <a:endParaRPr lang="en-US" sz="840" dirty="0"/>
          </a:p>
        </p:txBody>
      </p:sp>
      <p:sp>
        <p:nvSpPr>
          <p:cNvPr id="117" name="Shape 96"/>
          <p:cNvSpPr/>
          <p:nvPr/>
        </p:nvSpPr>
        <p:spPr>
          <a:xfrm>
            <a:off x="7538701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18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94581" y="5730173"/>
            <a:ext cx="111760" cy="111265"/>
          </a:xfrm>
          <a:prstGeom prst="rect">
            <a:avLst/>
          </a:prstGeom>
        </p:spPr>
      </p:pic>
      <p:sp>
        <p:nvSpPr>
          <p:cNvPr id="119" name="Text 97"/>
          <p:cNvSpPr txBox="1"/>
          <p:nvPr/>
        </p:nvSpPr>
        <p:spPr>
          <a:xfrm>
            <a:off x="7802860" y="5664425"/>
            <a:ext cx="119887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pedestrian detection (school children crossing).</a:t>
            </a:r>
            <a:endParaRPr lang="en-US" sz="840" dirty="0"/>
          </a:p>
        </p:txBody>
      </p:sp>
      <p:sp>
        <p:nvSpPr>
          <p:cNvPr id="120" name="Shape 98"/>
          <p:cNvSpPr/>
          <p:nvPr/>
        </p:nvSpPr>
        <p:spPr>
          <a:xfrm>
            <a:off x="9143977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21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99857" y="5730173"/>
            <a:ext cx="111760" cy="111265"/>
          </a:xfrm>
          <a:prstGeom prst="rect">
            <a:avLst/>
          </a:prstGeom>
        </p:spPr>
      </p:pic>
      <p:sp>
        <p:nvSpPr>
          <p:cNvPr id="122" name="Text 99"/>
          <p:cNvSpPr txBox="1"/>
          <p:nvPr/>
        </p:nvSpPr>
        <p:spPr>
          <a:xfrm>
            <a:off x="9428456" y="5664425"/>
            <a:ext cx="113791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Hit-and-run / rash driving detection with ANPR, confidence score, timestamp, GPS.</a:t>
            </a:r>
            <a:endParaRPr lang="en-US" sz="840" dirty="0"/>
          </a:p>
        </p:txBody>
      </p:sp>
      <p:sp>
        <p:nvSpPr>
          <p:cNvPr id="123" name="Shape 100"/>
          <p:cNvSpPr/>
          <p:nvPr/>
        </p:nvSpPr>
        <p:spPr>
          <a:xfrm>
            <a:off x="10769573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124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5453" y="5730173"/>
            <a:ext cx="111760" cy="111265"/>
          </a:xfrm>
          <a:prstGeom prst="rect">
            <a:avLst/>
          </a:prstGeom>
        </p:spPr>
      </p:pic>
      <p:sp>
        <p:nvSpPr>
          <p:cNvPr id="125" name="Text 101"/>
          <p:cNvSpPr txBox="1"/>
          <p:nvPr/>
        </p:nvSpPr>
        <p:spPr>
          <a:xfrm>
            <a:off x="11074372" y="5664425"/>
            <a:ext cx="965198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alert sharing with central command system.</a:t>
            </a:r>
            <a:endParaRPr lang="en-US" sz="840" dirty="0"/>
          </a:p>
        </p:txBody>
      </p:sp>
      <p:sp>
        <p:nvSpPr>
          <p:cNvPr id="126" name="Shape 102"/>
          <p:cNvSpPr/>
          <p:nvPr/>
        </p:nvSpPr>
        <p:spPr>
          <a:xfrm>
            <a:off x="2153915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27" name="Shape 103"/>
          <p:cNvSpPr/>
          <p:nvPr/>
        </p:nvSpPr>
        <p:spPr>
          <a:xfrm>
            <a:off x="4013190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28" name="Shape 104"/>
          <p:cNvSpPr/>
          <p:nvPr/>
        </p:nvSpPr>
        <p:spPr>
          <a:xfrm>
            <a:off x="5943585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29" name="Shape 105"/>
          <p:cNvSpPr/>
          <p:nvPr/>
        </p:nvSpPr>
        <p:spPr>
          <a:xfrm>
            <a:off x="7426941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30" name="Shape 106"/>
          <p:cNvSpPr/>
          <p:nvPr/>
        </p:nvSpPr>
        <p:spPr>
          <a:xfrm>
            <a:off x="8991578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31" name="Shape 107"/>
          <p:cNvSpPr/>
          <p:nvPr/>
        </p:nvSpPr>
        <p:spPr>
          <a:xfrm>
            <a:off x="10607013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32" name="Shape 108"/>
          <p:cNvSpPr/>
          <p:nvPr/>
        </p:nvSpPr>
        <p:spPr>
          <a:xfrm>
            <a:off x="0" y="6271327"/>
            <a:ext cx="12191970" cy="586673"/>
          </a:xfrm>
          <a:prstGeom prst="rect">
            <a:avLst/>
          </a:prstGeom>
          <a:solidFill>
            <a:srgbClr val="0B6BBE"/>
          </a:solidFill>
          <a:ln/>
        </p:spPr>
      </p:sp>
      <p:sp>
        <p:nvSpPr>
          <p:cNvPr id="133" name="Text 109"/>
          <p:cNvSpPr txBox="1"/>
          <p:nvPr/>
        </p:nvSpPr>
        <p:spPr>
          <a:xfrm>
            <a:off x="0" y="6311788"/>
            <a:ext cx="12191970" cy="505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0" dirty="0"/>
          </a:p>
        </p:txBody>
      </p:sp>
      <p:sp>
        <p:nvSpPr>
          <p:cNvPr id="134" name="Text 110"/>
          <p:cNvSpPr txBox="1"/>
          <p:nvPr/>
        </p:nvSpPr>
        <p:spPr>
          <a:xfrm>
            <a:off x="11480771" y="6311788"/>
            <a:ext cx="406399" cy="505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920" y="50650"/>
            <a:ext cx="1686556" cy="63818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60" dirty="0"/>
          </a:p>
        </p:txBody>
      </p:sp>
      <p:sp>
        <p:nvSpPr>
          <p:cNvPr id="3" name="Text 1"/>
          <p:cNvSpPr txBox="1"/>
          <p:nvPr/>
        </p:nvSpPr>
        <p:spPr>
          <a:xfrm>
            <a:off x="1879595" y="101300"/>
            <a:ext cx="8127980" cy="465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4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0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975" y="30390"/>
            <a:ext cx="2204714" cy="9522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31995" y="567279"/>
            <a:ext cx="8127980" cy="26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Urban Intelligence Platform Using Public Transport Fleet</a:t>
            </a:r>
            <a:endParaRPr lang="en-US" sz="1520" dirty="0"/>
          </a:p>
        </p:txBody>
      </p:sp>
      <p:sp>
        <p:nvSpPr>
          <p:cNvPr id="6" name="Shape 3"/>
          <p:cNvSpPr/>
          <p:nvPr/>
        </p:nvSpPr>
        <p:spPr>
          <a:xfrm>
            <a:off x="152400" y="891439"/>
            <a:ext cx="3911590" cy="4558493"/>
          </a:xfrm>
          <a:prstGeom prst="roundRect">
            <a:avLst>
              <a:gd name="adj" fmla="val 2078"/>
            </a:avLst>
          </a:prstGeom>
          <a:solidFill>
            <a:srgbClr val="F1FAF1"/>
          </a:solidFill>
          <a:ln w="19050">
            <a:solidFill>
              <a:srgbClr val="2E9E3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2720" y="911699"/>
            <a:ext cx="3870950" cy="425459"/>
          </a:xfrm>
          <a:prstGeom prst="roundRect">
            <a:avLst>
              <a:gd name="adj" fmla="val 19104"/>
            </a:avLst>
          </a:prstGeom>
          <a:solidFill>
            <a:srgbClr val="1E8E2E"/>
          </a:solidFill>
          <a:ln/>
        </p:spPr>
      </p:sp>
      <p:sp>
        <p:nvSpPr>
          <p:cNvPr id="8" name="Shape 5"/>
          <p:cNvSpPr/>
          <p:nvPr/>
        </p:nvSpPr>
        <p:spPr>
          <a:xfrm>
            <a:off x="41655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79" y="1023129"/>
            <a:ext cx="203199" cy="202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3598" y="911699"/>
            <a:ext cx="3098792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680" dirty="0"/>
          </a:p>
        </p:txBody>
      </p:sp>
      <p:sp>
        <p:nvSpPr>
          <p:cNvPr id="11" name="Shape 7"/>
          <p:cNvSpPr/>
          <p:nvPr/>
        </p:nvSpPr>
        <p:spPr>
          <a:xfrm>
            <a:off x="233679" y="1397938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</p:sp>
      <p:sp>
        <p:nvSpPr>
          <p:cNvPr id="12" name="Shape 8"/>
          <p:cNvSpPr/>
          <p:nvPr/>
        </p:nvSpPr>
        <p:spPr>
          <a:xfrm>
            <a:off x="325119" y="1468848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79" y="1630928"/>
            <a:ext cx="264159" cy="2633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8077" y="1438458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Data Sources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existing public transport fleet cameras and open datasets (e.g., RDD2022, CRDDC2022) for model training.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33679" y="2167817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</p:sp>
      <p:sp>
        <p:nvSpPr>
          <p:cNvPr id="16" name="Shape 11"/>
          <p:cNvSpPr/>
          <p:nvPr/>
        </p:nvSpPr>
        <p:spPr>
          <a:xfrm>
            <a:off x="325119" y="2238727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79" y="2400806"/>
            <a:ext cx="264159" cy="2633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8077" y="2208337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 Efficient AI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YOLOv8-Nano and ONNX enable real-time detection on edge devices with low computational load.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233679" y="2937696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</p:sp>
      <p:sp>
        <p:nvSpPr>
          <p:cNvPr id="20" name="Shape 14"/>
          <p:cNvSpPr/>
          <p:nvPr/>
        </p:nvSpPr>
        <p:spPr>
          <a:xfrm>
            <a:off x="325119" y="3008606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679" y="3170685"/>
            <a:ext cx="264159" cy="2633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8077" y="2978216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+ Metadata Availability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GPS, timestamp and road metadata are readily available from fleet systems.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33679" y="3707575"/>
            <a:ext cx="3749031" cy="769879"/>
          </a:xfrm>
          <a:prstGeom prst="roundRect">
            <a:avLst>
              <a:gd name="adj" fmla="val 7918"/>
            </a:avLst>
          </a:prstGeom>
          <a:solidFill>
            <a:srgbClr val="E3F3E3"/>
          </a:solidFill>
          <a:ln/>
        </p:spPr>
      </p:sp>
      <p:sp>
        <p:nvSpPr>
          <p:cNvPr id="24" name="Shape 17"/>
          <p:cNvSpPr/>
          <p:nvPr/>
        </p:nvSpPr>
        <p:spPr>
          <a:xfrm>
            <a:off x="325119" y="3798744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79" y="3960824"/>
            <a:ext cx="264159" cy="2633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148077" y="3748095"/>
            <a:ext cx="279399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Low-Cost Operation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caching and lightweight MQTT ensure operation even in low-connectivity areas and reduce infrastructure costs.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233679" y="4507843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</p:sp>
      <p:sp>
        <p:nvSpPr>
          <p:cNvPr id="28" name="Shape 20"/>
          <p:cNvSpPr/>
          <p:nvPr/>
        </p:nvSpPr>
        <p:spPr>
          <a:xfrm>
            <a:off x="325119" y="4578753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679" y="4740833"/>
            <a:ext cx="264159" cy="2633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148077" y="4548363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Architecture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scale from a single vehicle to a full fleet and multiple cities.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4185910" y="891439"/>
            <a:ext cx="3799831" cy="4558493"/>
          </a:xfrm>
          <a:prstGeom prst="roundRect">
            <a:avLst>
              <a:gd name="adj" fmla="val 2139"/>
            </a:avLst>
          </a:prstGeom>
          <a:solidFill>
            <a:srgbClr val="FEF4EA"/>
          </a:solidFill>
          <a:ln w="19050">
            <a:solidFill>
              <a:srgbClr val="F08A2A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4206229" y="911699"/>
            <a:ext cx="3759191" cy="425459"/>
          </a:xfrm>
          <a:prstGeom prst="roundRect">
            <a:avLst>
              <a:gd name="adj" fmla="val 19104"/>
            </a:avLst>
          </a:prstGeom>
          <a:solidFill>
            <a:srgbClr val="E2740F"/>
          </a:solidFill>
          <a:ln/>
        </p:spPr>
      </p:sp>
      <p:sp>
        <p:nvSpPr>
          <p:cNvPr id="33" name="Shape 24"/>
          <p:cNvSpPr/>
          <p:nvPr/>
        </p:nvSpPr>
        <p:spPr>
          <a:xfrm>
            <a:off x="445006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1189" y="1023129"/>
            <a:ext cx="203199" cy="20260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897108" y="911699"/>
            <a:ext cx="2987033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680" dirty="0"/>
          </a:p>
        </p:txBody>
      </p:sp>
      <p:sp>
        <p:nvSpPr>
          <p:cNvPr id="36" name="Shape 26"/>
          <p:cNvSpPr/>
          <p:nvPr/>
        </p:nvSpPr>
        <p:spPr>
          <a:xfrm>
            <a:off x="4267189" y="1397938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</p:sp>
      <p:sp>
        <p:nvSpPr>
          <p:cNvPr id="37" name="Shape 27"/>
          <p:cNvSpPr/>
          <p:nvPr/>
        </p:nvSpPr>
        <p:spPr>
          <a:xfrm>
            <a:off x="4368789" y="1468848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1349" y="1630928"/>
            <a:ext cx="264159" cy="2633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222227" y="1438458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road images vary in lighting, weather and road conditions, affecting detection accuracy.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4267189" y="2167817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</p:sp>
      <p:sp>
        <p:nvSpPr>
          <p:cNvPr id="41" name="Shape 30"/>
          <p:cNvSpPr/>
          <p:nvPr/>
        </p:nvSpPr>
        <p:spPr>
          <a:xfrm>
            <a:off x="4368789" y="2238727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1349" y="2400806"/>
            <a:ext cx="264159" cy="26338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5222227" y="2208337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Factors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Rain, night-time, and shadows can reduce model performance and cause false detections.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4267189" y="2937696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</p:sp>
      <p:sp>
        <p:nvSpPr>
          <p:cNvPr id="45" name="Shape 33"/>
          <p:cNvSpPr/>
          <p:nvPr/>
        </p:nvSpPr>
        <p:spPr>
          <a:xfrm>
            <a:off x="4368789" y="3008606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31349" y="3170685"/>
            <a:ext cx="264159" cy="263380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222227" y="2978216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Issues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network coverage in some areas may delay data transmission.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4267189" y="3707575"/>
            <a:ext cx="3637271" cy="769879"/>
          </a:xfrm>
          <a:prstGeom prst="roundRect">
            <a:avLst>
              <a:gd name="adj" fmla="val 7918"/>
            </a:avLst>
          </a:prstGeom>
          <a:solidFill>
            <a:srgbClr val="FCE8D6"/>
          </a:solidFill>
          <a:ln/>
        </p:spPr>
      </p:sp>
      <p:sp>
        <p:nvSpPr>
          <p:cNvPr id="49" name="Shape 36"/>
          <p:cNvSpPr/>
          <p:nvPr/>
        </p:nvSpPr>
        <p:spPr>
          <a:xfrm>
            <a:off x="4368789" y="3798744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31349" y="3960824"/>
            <a:ext cx="264159" cy="263380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5222227" y="3748095"/>
            <a:ext cx="264159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 defect may be detected multiple times across frames/vehicles.</a:t>
            </a:r>
            <a:endParaRPr lang="en-US" sz="1000" dirty="0"/>
          </a:p>
        </p:txBody>
      </p:sp>
      <p:sp>
        <p:nvSpPr>
          <p:cNvPr id="52" name="Shape 38"/>
          <p:cNvSpPr/>
          <p:nvPr/>
        </p:nvSpPr>
        <p:spPr>
          <a:xfrm>
            <a:off x="4267189" y="4507843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</p:sp>
      <p:sp>
        <p:nvSpPr>
          <p:cNvPr id="53" name="Shape 39"/>
          <p:cNvSpPr/>
          <p:nvPr/>
        </p:nvSpPr>
        <p:spPr>
          <a:xfrm>
            <a:off x="4368789" y="4578753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31349" y="4740833"/>
            <a:ext cx="264159" cy="263380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5222227" y="4548363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&amp; False Positives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continuous tuning and validation to maintain high accuracy and avoid false alerts.</a:t>
            </a:r>
            <a:endParaRPr lang="en-US" sz="1000" dirty="0"/>
          </a:p>
        </p:txBody>
      </p:sp>
      <p:sp>
        <p:nvSpPr>
          <p:cNvPr id="56" name="Shape 41"/>
          <p:cNvSpPr/>
          <p:nvPr/>
        </p:nvSpPr>
        <p:spPr>
          <a:xfrm>
            <a:off x="8107660" y="891439"/>
            <a:ext cx="3942070" cy="4558493"/>
          </a:xfrm>
          <a:prstGeom prst="roundRect">
            <a:avLst>
              <a:gd name="adj" fmla="val 2062"/>
            </a:avLst>
          </a:prstGeom>
          <a:solidFill>
            <a:srgbClr val="EEF5FD"/>
          </a:solidFill>
          <a:ln w="19050">
            <a:solidFill>
              <a:srgbClr val="1F6FC4"/>
            </a:solidFill>
            <a:prstDash val="solid"/>
          </a:ln>
        </p:spPr>
      </p:sp>
      <p:sp>
        <p:nvSpPr>
          <p:cNvPr id="57" name="Shape 42"/>
          <p:cNvSpPr/>
          <p:nvPr/>
        </p:nvSpPr>
        <p:spPr>
          <a:xfrm>
            <a:off x="8127980" y="911699"/>
            <a:ext cx="3901430" cy="425459"/>
          </a:xfrm>
          <a:prstGeom prst="roundRect">
            <a:avLst>
              <a:gd name="adj" fmla="val 19104"/>
            </a:avLst>
          </a:prstGeom>
          <a:solidFill>
            <a:srgbClr val="0F5AA8"/>
          </a:solidFill>
          <a:ln/>
        </p:spPr>
      </p:sp>
      <p:sp>
        <p:nvSpPr>
          <p:cNvPr id="58" name="Shape 43"/>
          <p:cNvSpPr/>
          <p:nvPr/>
        </p:nvSpPr>
        <p:spPr>
          <a:xfrm>
            <a:off x="837181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59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42939" y="1023129"/>
            <a:ext cx="203199" cy="202600"/>
          </a:xfrm>
          <a:prstGeom prst="rect">
            <a:avLst/>
          </a:prstGeom>
        </p:spPr>
      </p:pic>
      <p:sp>
        <p:nvSpPr>
          <p:cNvPr id="60" name="Text 44"/>
          <p:cNvSpPr txBox="1"/>
          <p:nvPr/>
        </p:nvSpPr>
        <p:spPr>
          <a:xfrm>
            <a:off x="8818858" y="911699"/>
            <a:ext cx="3129272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STRATEGIES</a:t>
            </a:r>
            <a:endParaRPr lang="en-US" sz="1680" dirty="0"/>
          </a:p>
        </p:txBody>
      </p:sp>
      <p:sp>
        <p:nvSpPr>
          <p:cNvPr id="61" name="Shape 45"/>
          <p:cNvSpPr/>
          <p:nvPr/>
        </p:nvSpPr>
        <p:spPr>
          <a:xfrm>
            <a:off x="8188940" y="1397938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</p:sp>
      <p:sp>
        <p:nvSpPr>
          <p:cNvPr id="62" name="Shape 46"/>
          <p:cNvSpPr/>
          <p:nvPr/>
        </p:nvSpPr>
        <p:spPr>
          <a:xfrm>
            <a:off x="8280379" y="1468848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42939" y="1630928"/>
            <a:ext cx="264159" cy="26338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93177" y="1438458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Vibration-Based Frame Gating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accelerometer data to capture frames only when needed, reducing redundancy.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>
            <a:off x="8188940" y="2167817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</p:sp>
      <p:sp>
        <p:nvSpPr>
          <p:cNvPr id="66" name="Shape 49"/>
          <p:cNvSpPr/>
          <p:nvPr/>
        </p:nvSpPr>
        <p:spPr>
          <a:xfrm>
            <a:off x="8280379" y="2238727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</p:sp>
      <p:pic>
        <p:nvPicPr>
          <p:cNvPr id="6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42939" y="2400806"/>
            <a:ext cx="264159" cy="26338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9093177" y="2208337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Preprocessing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Night/wet-road augmentation and image enhancement improve detection reliability.</a:t>
            </a:r>
            <a:endParaRPr lang="en-US" sz="1000" dirty="0"/>
          </a:p>
        </p:txBody>
      </p:sp>
      <p:sp>
        <p:nvSpPr>
          <p:cNvPr id="69" name="Shape 51"/>
          <p:cNvSpPr/>
          <p:nvPr/>
        </p:nvSpPr>
        <p:spPr>
          <a:xfrm>
            <a:off x="8188940" y="2937696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</p:sp>
      <p:sp>
        <p:nvSpPr>
          <p:cNvPr id="70" name="Shape 52"/>
          <p:cNvSpPr/>
          <p:nvPr/>
        </p:nvSpPr>
        <p:spPr>
          <a:xfrm>
            <a:off x="8280379" y="3008606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</p:sp>
      <p:pic>
        <p:nvPicPr>
          <p:cNvPr id="71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42939" y="3170685"/>
            <a:ext cx="264159" cy="263380"/>
          </a:xfrm>
          <a:prstGeom prst="rect">
            <a:avLst/>
          </a:prstGeom>
        </p:spPr>
      </p:pic>
      <p:sp>
        <p:nvSpPr>
          <p:cNvPr id="72" name="Text 53"/>
          <p:cNvSpPr txBox="1"/>
          <p:nvPr/>
        </p:nvSpPr>
        <p:spPr>
          <a:xfrm>
            <a:off x="9093177" y="2978216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Data Sync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with retries and local SQLite caching ensures reliable transmission and storage.</a:t>
            </a:r>
            <a:endParaRPr lang="en-US" sz="1000" dirty="0"/>
          </a:p>
        </p:txBody>
      </p:sp>
      <p:sp>
        <p:nvSpPr>
          <p:cNvPr id="73" name="Shape 54"/>
          <p:cNvSpPr/>
          <p:nvPr/>
        </p:nvSpPr>
        <p:spPr>
          <a:xfrm>
            <a:off x="8188940" y="3707575"/>
            <a:ext cx="3779511" cy="769879"/>
          </a:xfrm>
          <a:prstGeom prst="roundRect">
            <a:avLst>
              <a:gd name="adj" fmla="val 7918"/>
            </a:avLst>
          </a:prstGeom>
          <a:solidFill>
            <a:srgbClr val="DFEBF9"/>
          </a:solidFill>
          <a:ln/>
        </p:spPr>
      </p:sp>
      <p:sp>
        <p:nvSpPr>
          <p:cNvPr id="74" name="Shape 55"/>
          <p:cNvSpPr/>
          <p:nvPr/>
        </p:nvSpPr>
        <p:spPr>
          <a:xfrm>
            <a:off x="8280379" y="3798744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</p:sp>
      <p:pic>
        <p:nvPicPr>
          <p:cNvPr id="75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2939" y="3960824"/>
            <a:ext cx="264159" cy="263380"/>
          </a:xfrm>
          <a:prstGeom prst="rect">
            <a:avLst/>
          </a:prstGeom>
        </p:spPr>
      </p:pic>
      <p:sp>
        <p:nvSpPr>
          <p:cNvPr id="76" name="Text 56"/>
          <p:cNvSpPr txBox="1"/>
          <p:nvPr/>
        </p:nvSpPr>
        <p:spPr>
          <a:xfrm>
            <a:off x="9093177" y="3748095"/>
            <a:ext cx="283463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Spatial Clustering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duplicate detections within 15 m and time window for clean incident data.</a:t>
            </a:r>
            <a:endParaRPr lang="en-US" sz="1000" dirty="0"/>
          </a:p>
        </p:txBody>
      </p:sp>
      <p:sp>
        <p:nvSpPr>
          <p:cNvPr id="77" name="Shape 57"/>
          <p:cNvSpPr/>
          <p:nvPr/>
        </p:nvSpPr>
        <p:spPr>
          <a:xfrm>
            <a:off x="8188940" y="4507843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</p:sp>
      <p:sp>
        <p:nvSpPr>
          <p:cNvPr id="78" name="Shape 58"/>
          <p:cNvSpPr/>
          <p:nvPr/>
        </p:nvSpPr>
        <p:spPr>
          <a:xfrm>
            <a:off x="8280379" y="4578753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</p:sp>
      <p:pic>
        <p:nvPicPr>
          <p:cNvPr id="79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42939" y="4740833"/>
            <a:ext cx="264159" cy="263380"/>
          </a:xfrm>
          <a:prstGeom prst="rect">
            <a:avLst/>
          </a:prstGeom>
        </p:spPr>
      </p:pic>
      <p:sp>
        <p:nvSpPr>
          <p:cNvPr id="80" name="Text 59"/>
          <p:cNvSpPr txBox="1"/>
          <p:nvPr/>
        </p:nvSpPr>
        <p:spPr>
          <a:xfrm>
            <a:off x="9093177" y="4548363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Model Validation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evaluation on live data with periodic retraining to maintain accuracy and reduce false positives.</a:t>
            </a:r>
            <a:endParaRPr lang="en-US" sz="1000" dirty="0"/>
          </a:p>
        </p:txBody>
      </p:sp>
      <p:sp>
        <p:nvSpPr>
          <p:cNvPr id="81" name="Shape 60"/>
          <p:cNvSpPr/>
          <p:nvPr/>
        </p:nvSpPr>
        <p:spPr>
          <a:xfrm>
            <a:off x="132080" y="5520842"/>
            <a:ext cx="11937970" cy="739489"/>
          </a:xfrm>
          <a:prstGeom prst="roundRect">
            <a:avLst>
              <a:gd name="adj" fmla="val 10991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</p:sp>
      <p:pic>
        <p:nvPicPr>
          <p:cNvPr id="82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94639" y="5682922"/>
            <a:ext cx="426719" cy="425459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894078" y="5693052"/>
            <a:ext cx="1320797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 &amp;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84" name="Shape 62"/>
          <p:cNvSpPr/>
          <p:nvPr/>
        </p:nvSpPr>
        <p:spPr>
          <a:xfrm>
            <a:off x="2479034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85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70474" y="5743702"/>
            <a:ext cx="182880" cy="182340"/>
          </a:xfrm>
          <a:prstGeom prst="rect">
            <a:avLst/>
          </a:prstGeom>
        </p:spPr>
      </p:pic>
      <p:sp>
        <p:nvSpPr>
          <p:cNvPr id="86" name="Text 63"/>
          <p:cNvSpPr txBox="1"/>
          <p:nvPr/>
        </p:nvSpPr>
        <p:spPr>
          <a:xfrm>
            <a:off x="2936233" y="5652532"/>
            <a:ext cx="119887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Cities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road hazards and unsafe driving.</a:t>
            </a:r>
            <a:endParaRPr lang="en-US" sz="880" dirty="0"/>
          </a:p>
        </p:txBody>
      </p:sp>
      <p:sp>
        <p:nvSpPr>
          <p:cNvPr id="87" name="Shape 64"/>
          <p:cNvSpPr/>
          <p:nvPr/>
        </p:nvSpPr>
        <p:spPr>
          <a:xfrm>
            <a:off x="4236709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88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28149" y="5743702"/>
            <a:ext cx="182880" cy="182340"/>
          </a:xfrm>
          <a:prstGeom prst="rect">
            <a:avLst/>
          </a:prstGeom>
        </p:spPr>
      </p:pic>
      <p:sp>
        <p:nvSpPr>
          <p:cNvPr id="89" name="Text 65"/>
          <p:cNvSpPr txBox="1"/>
          <p:nvPr/>
        </p:nvSpPr>
        <p:spPr>
          <a:xfrm>
            <a:off x="4907268" y="5652532"/>
            <a:ext cx="119887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alerts enable quick maintenance and enforcement action.</a:t>
            </a:r>
            <a:endParaRPr lang="en-US" sz="880" dirty="0"/>
          </a:p>
        </p:txBody>
      </p:sp>
      <p:sp>
        <p:nvSpPr>
          <p:cNvPr id="90" name="Shape 66"/>
          <p:cNvSpPr/>
          <p:nvPr/>
        </p:nvSpPr>
        <p:spPr>
          <a:xfrm>
            <a:off x="6319504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91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10944" y="5743702"/>
            <a:ext cx="182880" cy="182340"/>
          </a:xfrm>
          <a:prstGeom prst="rect">
            <a:avLst/>
          </a:prstGeom>
        </p:spPr>
      </p:pic>
      <p:sp>
        <p:nvSpPr>
          <p:cNvPr id="92" name="Text 67"/>
          <p:cNvSpPr txBox="1"/>
          <p:nvPr/>
        </p:nvSpPr>
        <p:spPr>
          <a:xfrm>
            <a:off x="6827503" y="5652532"/>
            <a:ext cx="121919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Efficiency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resource use and reduced manual inspections.</a:t>
            </a:r>
            <a:endParaRPr lang="en-US" sz="880" dirty="0"/>
          </a:p>
        </p:txBody>
      </p:sp>
      <p:sp>
        <p:nvSpPr>
          <p:cNvPr id="93" name="Shape 68"/>
          <p:cNvSpPr/>
          <p:nvPr/>
        </p:nvSpPr>
        <p:spPr>
          <a:xfrm>
            <a:off x="8148300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94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39739" y="5743702"/>
            <a:ext cx="182880" cy="182340"/>
          </a:xfrm>
          <a:prstGeom prst="rect">
            <a:avLst/>
          </a:prstGeom>
        </p:spPr>
      </p:pic>
      <p:sp>
        <p:nvSpPr>
          <p:cNvPr id="95" name="Text 69"/>
          <p:cNvSpPr txBox="1"/>
          <p:nvPr/>
        </p:nvSpPr>
        <p:spPr>
          <a:xfrm>
            <a:off x="8737578" y="5652532"/>
            <a:ext cx="1402076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Planning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insights and analytics support better urban infrastructure decisions.</a:t>
            </a:r>
            <a:endParaRPr lang="en-US" sz="880" dirty="0"/>
          </a:p>
        </p:txBody>
      </p:sp>
      <p:sp>
        <p:nvSpPr>
          <p:cNvPr id="96" name="Shape 70"/>
          <p:cNvSpPr/>
          <p:nvPr/>
        </p:nvSpPr>
        <p:spPr>
          <a:xfrm>
            <a:off x="10180295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97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71734" y="5743702"/>
            <a:ext cx="182880" cy="182340"/>
          </a:xfrm>
          <a:prstGeom prst="rect">
            <a:avLst/>
          </a:prstGeom>
        </p:spPr>
      </p:pic>
      <p:sp>
        <p:nvSpPr>
          <p:cNvPr id="98" name="Text 71"/>
          <p:cNvSpPr txBox="1"/>
          <p:nvPr/>
        </p:nvSpPr>
        <p:spPr>
          <a:xfrm>
            <a:off x="10688293" y="5652532"/>
            <a:ext cx="132079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Mobility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pedestrian safety and accessible public transport infrastructure.</a:t>
            </a:r>
            <a:endParaRPr lang="en-US" sz="880" dirty="0"/>
          </a:p>
        </p:txBody>
      </p:sp>
      <p:sp>
        <p:nvSpPr>
          <p:cNvPr id="99" name="Shape 72"/>
          <p:cNvSpPr/>
          <p:nvPr/>
        </p:nvSpPr>
        <p:spPr>
          <a:xfrm>
            <a:off x="2357114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00" name="Shape 73"/>
          <p:cNvSpPr/>
          <p:nvPr/>
        </p:nvSpPr>
        <p:spPr>
          <a:xfrm>
            <a:off x="4185910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01" name="Shape 74"/>
          <p:cNvSpPr/>
          <p:nvPr/>
        </p:nvSpPr>
        <p:spPr>
          <a:xfrm>
            <a:off x="6248384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02" name="Shape 75"/>
          <p:cNvSpPr/>
          <p:nvPr/>
        </p:nvSpPr>
        <p:spPr>
          <a:xfrm>
            <a:off x="8127980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03" name="Shape 76"/>
          <p:cNvSpPr/>
          <p:nvPr/>
        </p:nvSpPr>
        <p:spPr>
          <a:xfrm>
            <a:off x="10159975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104" name="Shape 77"/>
          <p:cNvSpPr/>
          <p:nvPr/>
        </p:nvSpPr>
        <p:spPr>
          <a:xfrm>
            <a:off x="0" y="6361631"/>
            <a:ext cx="12191970" cy="496369"/>
          </a:xfrm>
          <a:prstGeom prst="rect">
            <a:avLst/>
          </a:prstGeom>
          <a:solidFill>
            <a:srgbClr val="0B6BBE"/>
          </a:solidFill>
          <a:ln/>
        </p:spPr>
      </p:sp>
      <p:sp>
        <p:nvSpPr>
          <p:cNvPr id="105" name="Text 78"/>
          <p:cNvSpPr txBox="1"/>
          <p:nvPr/>
        </p:nvSpPr>
        <p:spPr>
          <a:xfrm>
            <a:off x="0" y="6402151"/>
            <a:ext cx="12191970" cy="415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0" dirty="0"/>
          </a:p>
        </p:txBody>
      </p:sp>
      <p:sp>
        <p:nvSpPr>
          <p:cNvPr id="106" name="Text 79"/>
          <p:cNvSpPr txBox="1"/>
          <p:nvPr/>
        </p:nvSpPr>
        <p:spPr>
          <a:xfrm>
            <a:off x="11480771" y="6402151"/>
            <a:ext cx="406399" cy="415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4080" y="101300"/>
            <a:ext cx="1945419" cy="65844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4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Vigilance</a:t>
            </a:r>
            <a:endParaRPr lang="en-US" sz="1444" dirty="0"/>
          </a:p>
        </p:txBody>
      </p:sp>
      <p:sp>
        <p:nvSpPr>
          <p:cNvPr id="3" name="Text 1"/>
          <p:cNvSpPr txBox="1"/>
          <p:nvPr/>
        </p:nvSpPr>
        <p:spPr>
          <a:xfrm>
            <a:off x="2037088" y="162080"/>
            <a:ext cx="8148351" cy="506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48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048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6166" y="30390"/>
            <a:ext cx="2189869" cy="90156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4636" y="931959"/>
            <a:ext cx="5652918" cy="4386284"/>
          </a:xfrm>
          <a:prstGeom prst="roundRect">
            <a:avLst>
              <a:gd name="adj" fmla="val 1858"/>
            </a:avLst>
          </a:prstGeom>
          <a:solidFill>
            <a:srgbClr val="F3F8FE"/>
          </a:solidFill>
          <a:ln w="12700">
            <a:solidFill>
              <a:srgbClr val="D5E4F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5007" y="931959"/>
            <a:ext cx="5612176" cy="405199"/>
          </a:xfrm>
          <a:prstGeom prst="roundRect">
            <a:avLst>
              <a:gd name="adj" fmla="val 20110"/>
            </a:avLst>
          </a:prstGeom>
          <a:solidFill>
            <a:srgbClr val="0F5AA8"/>
          </a:solidFill>
          <a:ln/>
        </p:spPr>
      </p:sp>
      <p:sp>
        <p:nvSpPr>
          <p:cNvPr id="7" name="Shape 4"/>
          <p:cNvSpPr/>
          <p:nvPr/>
        </p:nvSpPr>
        <p:spPr>
          <a:xfrm>
            <a:off x="356490" y="952219"/>
            <a:ext cx="366676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788" y="1023129"/>
            <a:ext cx="224080" cy="2228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5007" y="931959"/>
            <a:ext cx="5612176" cy="405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</a:t>
            </a:r>
            <a:endParaRPr lang="en-US" sz="1684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861" y="1448588"/>
            <a:ext cx="2047273" cy="901569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61" y="2441326"/>
            <a:ext cx="2047273" cy="93195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861" y="3474585"/>
            <a:ext cx="2047273" cy="861049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861" y="4426804"/>
            <a:ext cx="2047273" cy="800269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617658" y="1509368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0625" y="1671448"/>
            <a:ext cx="305563" cy="30390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3412122" y="1428328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Roads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potholes and damaged infrastructure can help reduce accident risks, especially for two-wheelers.</a:t>
            </a:r>
            <a:endParaRPr lang="en-US" sz="1043" dirty="0"/>
          </a:p>
        </p:txBody>
      </p:sp>
      <p:sp>
        <p:nvSpPr>
          <p:cNvPr id="17" name="Shape 8"/>
          <p:cNvSpPr/>
          <p:nvPr/>
        </p:nvSpPr>
        <p:spPr>
          <a:xfrm>
            <a:off x="2617658" y="2471716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80625" y="2633796"/>
            <a:ext cx="305563" cy="30390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3412122" y="2532496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Authorities receive precise locations severity information and evidence (images/ANPR) instead of relying only on manual complaints.</a:t>
            </a:r>
            <a:endParaRPr lang="en-US" sz="1043" dirty="0"/>
          </a:p>
        </p:txBody>
      </p:sp>
      <p:sp>
        <p:nvSpPr>
          <p:cNvPr id="20" name="Shape 10"/>
          <p:cNvSpPr/>
          <p:nvPr/>
        </p:nvSpPr>
        <p:spPr>
          <a:xfrm>
            <a:off x="2617658" y="3504975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80625" y="3667055"/>
            <a:ext cx="305563" cy="30390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3412122" y="3535365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Public Infrastructure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supports proactive road maintenance and improved quality of life.</a:t>
            </a:r>
            <a:endParaRPr lang="en-US" sz="1043" dirty="0"/>
          </a:p>
        </p:txBody>
      </p:sp>
      <p:sp>
        <p:nvSpPr>
          <p:cNvPr id="23" name="Shape 12"/>
          <p:cNvSpPr/>
          <p:nvPr/>
        </p:nvSpPr>
        <p:spPr>
          <a:xfrm>
            <a:off x="2617658" y="4447064"/>
            <a:ext cx="631497" cy="628059"/>
          </a:xfrm>
          <a:prstGeom prst="ellipse">
            <a:avLst/>
          </a:prstGeom>
          <a:solidFill>
            <a:srgbClr val="FBE0E0"/>
          </a:solidFill>
          <a:ln/>
        </p:spPr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80625" y="4609143"/>
            <a:ext cx="305563" cy="30390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3412122" y="4426804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Detection &amp; Response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and tracks incidents, extracts registration numbers with confidence score, timestamp and GPS location, and shares alerts with the central command system.</a:t>
            </a:r>
            <a:endParaRPr lang="en-US" sz="1043" dirty="0"/>
          </a:p>
        </p:txBody>
      </p:sp>
      <p:sp>
        <p:nvSpPr>
          <p:cNvPr id="26" name="Shape 14"/>
          <p:cNvSpPr/>
          <p:nvPr/>
        </p:nvSpPr>
        <p:spPr>
          <a:xfrm>
            <a:off x="6090892" y="931959"/>
            <a:ext cx="5978852" cy="4031734"/>
          </a:xfrm>
          <a:prstGeom prst="roundRect">
            <a:avLst>
              <a:gd name="adj" fmla="val 2021"/>
            </a:avLst>
          </a:prstGeom>
          <a:solidFill>
            <a:srgbClr val="F3F8FE"/>
          </a:solidFill>
          <a:ln w="12700">
            <a:solidFill>
              <a:srgbClr val="D5E4F7"/>
            </a:solidFill>
            <a:prstDash val="solid"/>
          </a:ln>
        </p:spPr>
      </p:sp>
      <p:sp>
        <p:nvSpPr>
          <p:cNvPr id="27" name="Shape 15"/>
          <p:cNvSpPr/>
          <p:nvPr/>
        </p:nvSpPr>
        <p:spPr>
          <a:xfrm>
            <a:off x="6111263" y="931959"/>
            <a:ext cx="5856627" cy="405199"/>
          </a:xfrm>
          <a:prstGeom prst="roundRect">
            <a:avLst>
              <a:gd name="adj" fmla="val 20110"/>
            </a:avLst>
          </a:prstGeom>
          <a:solidFill>
            <a:srgbClr val="0F5AA8"/>
          </a:solidFill>
          <a:ln/>
        </p:spPr>
      </p:sp>
      <p:sp>
        <p:nvSpPr>
          <p:cNvPr id="28" name="Shape 16"/>
          <p:cNvSpPr/>
          <p:nvPr/>
        </p:nvSpPr>
        <p:spPr>
          <a:xfrm>
            <a:off x="6243674" y="952219"/>
            <a:ext cx="366676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4972" y="1023129"/>
            <a:ext cx="224080" cy="222860"/>
          </a:xfrm>
          <a:prstGeom prst="rect">
            <a:avLst/>
          </a:prstGeom>
        </p:spPr>
      </p:pic>
      <p:sp>
        <p:nvSpPr>
          <p:cNvPr id="30" name="Text 17"/>
          <p:cNvSpPr txBox="1"/>
          <p:nvPr/>
        </p:nvSpPr>
        <p:spPr>
          <a:xfrm>
            <a:off x="6671462" y="931959"/>
            <a:ext cx="5296428" cy="405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ECONOMIC, ENVIRONMENTAL &amp; OPERATIONAL IMPACT</a:t>
            </a:r>
            <a:endParaRPr lang="en-US" sz="1404" dirty="0"/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02932" y="1499238"/>
            <a:ext cx="2169498" cy="1033258"/>
          </a:xfrm>
          <a:prstGeom prst="rect">
            <a:avLst/>
          </a:prstGeom>
        </p:spPr>
      </p:pic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02932" y="2654056"/>
            <a:ext cx="2169498" cy="1002869"/>
          </a:xfrm>
          <a:prstGeom prst="rect">
            <a:avLst/>
          </a:prstGeom>
        </p:spPr>
      </p:pic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02932" y="3778484"/>
            <a:ext cx="2169498" cy="1063648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8596510" y="1560018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477" y="1722097"/>
            <a:ext cx="305563" cy="3039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9452087" y="1539758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Inspection Costs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municipal vehicles can be converted into mobile road-inspection units, reducing manual inspection costs.</a:t>
            </a:r>
            <a:endParaRPr lang="en-US" sz="1043" dirty="0"/>
          </a:p>
        </p:txBody>
      </p:sp>
      <p:sp>
        <p:nvSpPr>
          <p:cNvPr id="37" name="Shape 20"/>
          <p:cNvSpPr/>
          <p:nvPr/>
        </p:nvSpPr>
        <p:spPr>
          <a:xfrm>
            <a:off x="8596510" y="2724966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</p:sp>
      <p:pic>
        <p:nvPicPr>
          <p:cNvPr id="38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59477" y="2887046"/>
            <a:ext cx="305563" cy="303900"/>
          </a:xfrm>
          <a:prstGeom prst="rect">
            <a:avLst/>
          </a:prstGeom>
        </p:spPr>
      </p:pic>
      <p:sp>
        <p:nvSpPr>
          <p:cNvPr id="39" name="Text 21"/>
          <p:cNvSpPr txBox="1"/>
          <p:nvPr/>
        </p:nvSpPr>
        <p:spPr>
          <a:xfrm>
            <a:off x="9452087" y="2755356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Repairs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RPI helps authorities allocate maintenance budgets to the most critical defects first.</a:t>
            </a:r>
            <a:endParaRPr lang="en-US" sz="1043" dirty="0"/>
          </a:p>
        </p:txBody>
      </p:sp>
      <p:sp>
        <p:nvSpPr>
          <p:cNvPr id="40" name="Shape 22"/>
          <p:cNvSpPr/>
          <p:nvPr/>
        </p:nvSpPr>
        <p:spPr>
          <a:xfrm>
            <a:off x="8596510" y="3991214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</p:sp>
      <p:pic>
        <p:nvPicPr>
          <p:cNvPr id="41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477" y="4153294"/>
            <a:ext cx="305563" cy="303900"/>
          </a:xfrm>
          <a:prstGeom prst="rect">
            <a:avLst/>
          </a:prstGeom>
        </p:spPr>
      </p:pic>
      <p:sp>
        <p:nvSpPr>
          <p:cNvPr id="42" name="Text 23"/>
          <p:cNvSpPr txBox="1"/>
          <p:nvPr/>
        </p:nvSpPr>
        <p:spPr>
          <a:xfrm>
            <a:off x="9452087" y="3970954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Benefits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resource usage, reduces material waste and lowers carbon emissions through efficient maintenance.</a:t>
            </a:r>
            <a:endParaRPr lang="en-US" sz="1043" dirty="0"/>
          </a:p>
        </p:txBody>
      </p:sp>
      <p:sp>
        <p:nvSpPr>
          <p:cNvPr id="43" name="Shape 24"/>
          <p:cNvSpPr/>
          <p:nvPr/>
        </p:nvSpPr>
        <p:spPr>
          <a:xfrm>
            <a:off x="254636" y="5419542"/>
            <a:ext cx="11866035" cy="911699"/>
          </a:xfrm>
          <a:prstGeom prst="roundRect">
            <a:avLst>
              <a:gd name="adj" fmla="val 8938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</p:sp>
      <p:sp>
        <p:nvSpPr>
          <p:cNvPr id="44" name="Text 25"/>
          <p:cNvSpPr txBox="1"/>
          <p:nvPr/>
        </p:nvSpPr>
        <p:spPr>
          <a:xfrm>
            <a:off x="407418" y="5490452"/>
            <a:ext cx="916689" cy="384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3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123" dirty="0"/>
          </a:p>
          <a:p>
            <a:pPr marL="0" indent="0" algn="ctr">
              <a:buNone/>
            </a:pPr>
            <a:r>
              <a:rPr lang="en-US" sz="1123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23" dirty="0"/>
          </a:p>
        </p:txBody>
      </p:sp>
      <p:pic>
        <p:nvPicPr>
          <p:cNvPr id="45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3166" y="5895651"/>
            <a:ext cx="285192" cy="283640"/>
          </a:xfrm>
          <a:prstGeom prst="rect">
            <a:avLst/>
          </a:prstGeom>
        </p:spPr>
      </p:pic>
      <p:sp>
        <p:nvSpPr>
          <p:cNvPr id="46" name="Shape 26"/>
          <p:cNvSpPr/>
          <p:nvPr/>
        </p:nvSpPr>
        <p:spPr>
          <a:xfrm>
            <a:off x="1558372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</p:sp>
      <p:pic>
        <p:nvPicPr>
          <p:cNvPr id="47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0412" y="5713312"/>
            <a:ext cx="224080" cy="222860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2169498" y="5601882"/>
            <a:ext cx="1018544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Roads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accidents and improves public safety.</a:t>
            </a:r>
            <a:endParaRPr lang="en-US" sz="882" dirty="0"/>
          </a:p>
        </p:txBody>
      </p:sp>
      <p:sp>
        <p:nvSpPr>
          <p:cNvPr id="49" name="Shape 28"/>
          <p:cNvSpPr/>
          <p:nvPr/>
        </p:nvSpPr>
        <p:spPr>
          <a:xfrm>
            <a:off x="3391751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7A3D"/>
            </a:solidFill>
            <a:prstDash val="solid"/>
          </a:ln>
        </p:spPr>
      </p:sp>
      <p:pic>
        <p:nvPicPr>
          <p:cNvPr id="5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03791" y="5713312"/>
            <a:ext cx="224080" cy="222860"/>
          </a:xfrm>
          <a:prstGeom prst="rect">
            <a:avLst/>
          </a:prstGeom>
        </p:spPr>
      </p:pic>
      <p:sp>
        <p:nvSpPr>
          <p:cNvPr id="51" name="Text 29"/>
          <p:cNvSpPr txBox="1"/>
          <p:nvPr/>
        </p:nvSpPr>
        <p:spPr>
          <a:xfrm>
            <a:off x="4002877" y="5601882"/>
            <a:ext cx="1069471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inspection and maintenance costs significantly.</a:t>
            </a:r>
            <a:endParaRPr lang="en-US" sz="882" dirty="0"/>
          </a:p>
        </p:txBody>
      </p:sp>
      <p:sp>
        <p:nvSpPr>
          <p:cNvPr id="52" name="Shape 30"/>
          <p:cNvSpPr/>
          <p:nvPr/>
        </p:nvSpPr>
        <p:spPr>
          <a:xfrm>
            <a:off x="5255686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14"/>
            </a:solidFill>
            <a:prstDash val="solid"/>
          </a:ln>
        </p:spPr>
      </p:sp>
      <p:pic>
        <p:nvPicPr>
          <p:cNvPr id="53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67726" y="5713312"/>
            <a:ext cx="224080" cy="222860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5856627" y="5601882"/>
            <a:ext cx="865762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quick action and timely road repairs.</a:t>
            </a:r>
            <a:endParaRPr lang="en-US" sz="882" dirty="0"/>
          </a:p>
        </p:txBody>
      </p:sp>
      <p:sp>
        <p:nvSpPr>
          <p:cNvPr id="55" name="Shape 32"/>
          <p:cNvSpPr/>
          <p:nvPr/>
        </p:nvSpPr>
        <p:spPr>
          <a:xfrm>
            <a:off x="6926098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3FA0"/>
            </a:solidFill>
            <a:prstDash val="solid"/>
          </a:ln>
        </p:spPr>
      </p:sp>
      <p:pic>
        <p:nvPicPr>
          <p:cNvPr id="56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38138" y="5713312"/>
            <a:ext cx="224080" cy="222860"/>
          </a:xfrm>
          <a:prstGeom prst="rect">
            <a:avLst/>
          </a:prstGeom>
        </p:spPr>
      </p:pic>
      <p:sp>
        <p:nvSpPr>
          <p:cNvPr id="57" name="Text 33"/>
          <p:cNvSpPr txBox="1"/>
          <p:nvPr/>
        </p:nvSpPr>
        <p:spPr>
          <a:xfrm>
            <a:off x="7516853" y="5601882"/>
            <a:ext cx="967617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Impact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resources and reduces environmental impact.</a:t>
            </a:r>
            <a:endParaRPr lang="en-US" sz="882" dirty="0"/>
          </a:p>
        </p:txBody>
      </p:sp>
      <p:sp>
        <p:nvSpPr>
          <p:cNvPr id="58" name="Shape 34"/>
          <p:cNvSpPr/>
          <p:nvPr/>
        </p:nvSpPr>
        <p:spPr>
          <a:xfrm>
            <a:off x="8616881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7A8A"/>
            </a:solidFill>
            <a:prstDash val="solid"/>
          </a:ln>
        </p:spPr>
      </p:sp>
      <p:pic>
        <p:nvPicPr>
          <p:cNvPr id="59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728921" y="5713312"/>
            <a:ext cx="224080" cy="222860"/>
          </a:xfrm>
          <a:prstGeom prst="rect">
            <a:avLst/>
          </a:prstGeom>
        </p:spPr>
      </p:pic>
      <p:sp>
        <p:nvSpPr>
          <p:cNvPr id="60" name="Text 35"/>
          <p:cNvSpPr txBox="1"/>
          <p:nvPr/>
        </p:nvSpPr>
        <p:spPr>
          <a:xfrm>
            <a:off x="9166894" y="5601882"/>
            <a:ext cx="1201882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0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Traffic Management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flow, reduces congestion and identifies hotspots.</a:t>
            </a:r>
            <a:endParaRPr lang="en-US" sz="882" dirty="0"/>
          </a:p>
        </p:txBody>
      </p:sp>
      <p:sp>
        <p:nvSpPr>
          <p:cNvPr id="61" name="Shape 36"/>
          <p:cNvSpPr/>
          <p:nvPr/>
        </p:nvSpPr>
        <p:spPr>
          <a:xfrm>
            <a:off x="10470630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C7A"/>
            </a:solidFill>
            <a:prstDash val="solid"/>
          </a:ln>
        </p:spPr>
      </p:sp>
      <p:pic>
        <p:nvPicPr>
          <p:cNvPr id="62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82670" y="5713312"/>
            <a:ext cx="224080" cy="222860"/>
          </a:xfrm>
          <a:prstGeom prst="rect">
            <a:avLst/>
          </a:prstGeom>
        </p:spPr>
      </p:pic>
      <p:sp>
        <p:nvSpPr>
          <p:cNvPr id="63" name="Text 37"/>
          <p:cNvSpPr txBox="1"/>
          <p:nvPr/>
        </p:nvSpPr>
        <p:spPr>
          <a:xfrm>
            <a:off x="11030830" y="5601882"/>
            <a:ext cx="1069471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actionable insights for smarter urban planning.</a:t>
            </a:r>
            <a:endParaRPr lang="en-US" sz="882" dirty="0"/>
          </a:p>
        </p:txBody>
      </p:sp>
      <p:sp>
        <p:nvSpPr>
          <p:cNvPr id="64" name="Shape 38"/>
          <p:cNvSpPr/>
          <p:nvPr/>
        </p:nvSpPr>
        <p:spPr>
          <a:xfrm>
            <a:off x="3238969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65" name="Shape 39"/>
          <p:cNvSpPr/>
          <p:nvPr/>
        </p:nvSpPr>
        <p:spPr>
          <a:xfrm>
            <a:off x="5153832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66" name="Shape 40"/>
          <p:cNvSpPr/>
          <p:nvPr/>
        </p:nvSpPr>
        <p:spPr>
          <a:xfrm>
            <a:off x="6814058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67" name="Shape 41"/>
          <p:cNvSpPr/>
          <p:nvPr/>
        </p:nvSpPr>
        <p:spPr>
          <a:xfrm>
            <a:off x="8555768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68" name="Shape 42"/>
          <p:cNvSpPr/>
          <p:nvPr/>
        </p:nvSpPr>
        <p:spPr>
          <a:xfrm>
            <a:off x="10429889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</p:sp>
      <p:sp>
        <p:nvSpPr>
          <p:cNvPr id="69" name="Shape 43"/>
          <p:cNvSpPr/>
          <p:nvPr/>
        </p:nvSpPr>
        <p:spPr>
          <a:xfrm>
            <a:off x="0" y="6402151"/>
            <a:ext cx="12191970" cy="455849"/>
          </a:xfrm>
          <a:prstGeom prst="rect">
            <a:avLst/>
          </a:prstGeom>
          <a:solidFill>
            <a:srgbClr val="0B6BBE"/>
          </a:solidFill>
          <a:ln/>
        </p:spPr>
      </p:sp>
      <p:sp>
        <p:nvSpPr>
          <p:cNvPr id="70" name="Text 44"/>
          <p:cNvSpPr txBox="1"/>
          <p:nvPr/>
        </p:nvSpPr>
        <p:spPr>
          <a:xfrm>
            <a:off x="0" y="6442671"/>
            <a:ext cx="12191970" cy="37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2" dirty="0"/>
          </a:p>
        </p:txBody>
      </p:sp>
      <p:sp>
        <p:nvSpPr>
          <p:cNvPr id="71" name="Text 45"/>
          <p:cNvSpPr txBox="1"/>
          <p:nvPr/>
        </p:nvSpPr>
        <p:spPr>
          <a:xfrm>
            <a:off x="11478989" y="6442671"/>
            <a:ext cx="407418" cy="37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4048" y="201168"/>
            <a:ext cx="13716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123D7D"/>
                </a:solidFill>
                <a:latin typeface="Arial"/>
              </a:rPr>
              <a:t>Vigilance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146304"/>
            <a:ext cx="64922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700" b="1">
                <a:solidFill>
                  <a:srgbClr val="123D7D"/>
                </a:solidFill>
                <a:latin typeface="Arial"/>
              </a:rPr>
              <a:t>RESEARCH &amp; REFERENCES</a:t>
            </a:r>
          </a:p>
        </p:txBody>
      </p:sp>
      <p:pic>
        <p:nvPicPr>
          <p:cNvPr id="5" name="Picture 4" descr="sih_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45720"/>
            <a:ext cx="2057400" cy="7132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74320" y="1042415"/>
            <a:ext cx="11658600" cy="45720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051560"/>
            <a:ext cx="256032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051560"/>
            <a:ext cx="23317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SIH26124 — Official Problem
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1051560"/>
            <a:ext cx="5806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Public-transport buses become mobile urban sensing units for road-hazard detection,
traffic analytics, GIS aggregation and incident intelligence.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051560"/>
            <a:ext cx="2487168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https://sih.gov.in/sih2026PS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458468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467612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67612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RDD2022 — Arya et 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467612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Road-damage image dataset supporting automated road-defect detection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1467612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https://doi.org/10.1002/gdj3.260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874519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1883663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1883663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Ultralytics YOLO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1883663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Real-time object detection, training, validation and edge-oriented deployment
workflows.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883663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https://docs.ultralytics.com/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290572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2299715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299715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OpenCV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688" y="2299715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Computer vision and video processing for image analysis and object detection.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299715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https://opencv.org/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706624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2715768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715768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PostgreSQL + PostGIS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2715768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Spatial storage, indexing, clustering and GIS analytics.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715768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https://postgis.net/documentation/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122676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" y="3131820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131820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OGC API – Features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3131820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Interoperable geospatial feature access through Web APIs.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131820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https://www.ogc.org/standards/ogcapi-features/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3538728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3547872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7.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547872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MQTT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547872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Lightweight messaging protocol for IoT/edge devices and event synchronization.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547872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https://mqtt.org/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3954780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84048" y="3963924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8.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3963924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License Plate Recognition (ANPR)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18688" y="3963924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Automatic number plate recognition for incident detection and vehicle tracking.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963924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https://github.com/openalpr/openalpr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4370832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8" y="4379976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9.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379976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BDD100K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379976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Traffic scene and incident detection dataset for computer vision research.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379976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https://bdd100k.github.io/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4786883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84048" y="4796027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10.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4796027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Edge Vision &amp; Multi-Camera Analytics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8688" y="4796027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Multi-camera fusion, real-time detection and tracking for road/traffic scenarios.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796027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https://github.com/ultralytics/ultralytics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202936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84048" y="5212079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11.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079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Secure Data Transmission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18688" y="5212079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Lightweight, secure communication (e.g., TLS/MQTT) for incident and telemetry data.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35440" y="5212079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https://www.eclipse.org/paho/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84480" y="5824727"/>
            <a:ext cx="11658600" cy="475488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2" name="TextBox 61"/>
          <p:cNvSpPr txBox="1"/>
          <p:nvPr/>
        </p:nvSpPr>
        <p:spPr>
          <a:xfrm>
            <a:off x="475488" y="5879591"/>
            <a:ext cx="84124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50" b="1" dirty="0">
                <a:solidFill>
                  <a:srgbClr val="F57819"/>
                </a:solidFill>
                <a:latin typeface="Arial"/>
              </a:rPr>
              <a:t>Design
basis: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18564" y="5923696"/>
            <a:ext cx="10972" cy="274320"/>
          </a:xfrm>
          <a:prstGeom prst="rect">
            <a:avLst/>
          </a:prstGeom>
          <a:solidFill>
            <a:srgbClr val="F578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728216" y="5852576"/>
            <a:ext cx="99669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123D7D"/>
                </a:solidFill>
                <a:latin typeface="Arial"/>
              </a:rPr>
              <a:t>Edge AI + multi-camera vision + ANPR + fleet aggregation + GIS analytics + secure incident handling form the end-to-end urban intelligence workflow.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1946"/>
            <a:ext cx="12191999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434840" y="6510528"/>
            <a:ext cx="33375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67160" y="6501384"/>
            <a:ext cx="256032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9" name="Oval 68" descr="Your startup LOGO">
            <a:extLst>
              <a:ext uri="{FF2B5EF4-FFF2-40B4-BE49-F238E27FC236}">
                <a16:creationId xmlns:a16="http://schemas.microsoft.com/office/drawing/2014/main" id="{6E0282C4-624B-9294-C142-C509957A4F8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84480" y="134995"/>
            <a:ext cx="1523999" cy="798095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Vigilance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219456"/>
            <a:ext cx="1700784" cy="8046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035040" cy="42062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2800" b="1" i="0" u="none">
                <a:solidFill>
                  <a:srgbClr val="123D6E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52144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1. SIH26124 — Official 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234440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rPr dirty="0"/>
              <a:t>Public-transport buses become mobile urban sensing units for road-hazard detection, traffic analytics, GIS aggregation and incident intelligence.</a:t>
            </a:r>
          </a:p>
        </p:txBody>
      </p:sp>
      <p:sp>
        <p:nvSpPr>
          <p:cNvPr id="10" name="TextBox 9">
            <a:hlinkClick r:id="rId4"/>
          </p:cNvPr>
          <p:cNvSpPr txBox="1"/>
          <p:nvPr/>
        </p:nvSpPr>
        <p:spPr>
          <a:xfrm>
            <a:off x="7955279" y="1316736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https://sih.gov.in/sih2026PS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93392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2. RDD2022 — Arya et 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075688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Road-damage image dataset supporting automated road-defect detection research.</a:t>
            </a:r>
          </a:p>
        </p:txBody>
      </p:sp>
      <p:sp>
        <p:nvSpPr>
          <p:cNvPr id="14" name="TextBox 13">
            <a:hlinkClick r:id="rId5"/>
          </p:cNvPr>
          <p:cNvSpPr txBox="1"/>
          <p:nvPr/>
        </p:nvSpPr>
        <p:spPr>
          <a:xfrm>
            <a:off x="7955279" y="2157984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https://doi.org/10.1002/gdj3.260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3. Ultralytics YOLO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916936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Real-time object detection, training, validation and edge-oriented deployment workflows.</a:t>
            </a:r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7955279" y="2999232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https://docs.ultralytics.com/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75887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85615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4. PostgreSQL + PostGIS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758183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Spatial storage, indexing, clustering and GIS analytics.</a:t>
            </a:r>
          </a:p>
        </p:txBody>
      </p:sp>
      <p:sp>
        <p:nvSpPr>
          <p:cNvPr id="22" name="TextBox 21">
            <a:hlinkClick r:id="rId7"/>
          </p:cNvPr>
          <p:cNvSpPr txBox="1"/>
          <p:nvPr/>
        </p:nvSpPr>
        <p:spPr>
          <a:xfrm>
            <a:off x="7955279" y="3840479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https://postgis.net/documentation/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17136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626864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5. OGC API –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599432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Interoperable geospatial feature access through Web APIs.</a:t>
            </a:r>
          </a:p>
        </p:txBody>
      </p:sp>
      <p:sp>
        <p:nvSpPr>
          <p:cNvPr id="26" name="TextBox 25">
            <a:hlinkClick r:id="rId8"/>
          </p:cNvPr>
          <p:cNvSpPr txBox="1"/>
          <p:nvPr/>
        </p:nvSpPr>
        <p:spPr>
          <a:xfrm>
            <a:off x="7955279" y="4681728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https://www.ogc.org/standards/ogcapi-features/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58384"/>
            <a:ext cx="10012680" cy="493776"/>
          </a:xfrm>
          <a:prstGeom prst="roundRect">
            <a:avLst/>
          </a:prstGeom>
          <a:solidFill>
            <a:srgbClr val="F7FAFD"/>
          </a:solidFill>
          <a:ln w="13970">
            <a:solidFill>
              <a:srgbClr val="C1D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468112"/>
            <a:ext cx="9144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80" b="1" i="0" u="none">
                <a:solidFill>
                  <a:srgbClr val="EC741F"/>
                </a:solidFill>
                <a:latin typeface="Arial"/>
              </a:defRPr>
            </a:pPr>
            <a:r>
              <a:t>Design basis: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5440680"/>
            <a:ext cx="8458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40" b="0" i="0" u="none">
                <a:solidFill>
                  <a:srgbClr val="1C232A"/>
                </a:solidFill>
                <a:latin typeface="Arial"/>
              </a:defRPr>
            </a:pPr>
            <a:r>
              <a:t>Edge AI + fleet aggregation + GIS analytics + secure incident handling form the end-to-end urban intelligence workflow.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382512"/>
            <a:ext cx="12192000" cy="475488"/>
          </a:xfrm>
          <a:prstGeom prst="rect">
            <a:avLst/>
          </a:prstGeom>
          <a:solidFill>
            <a:srgbClr val="006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455664"/>
            <a:ext cx="91440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950" b="0" i="0" u="none">
                <a:solidFill>
                  <a:srgbClr val="FFFFFF"/>
                </a:solidFill>
                <a:latin typeface="Arial"/>
              </a:defRPr>
            </a:pPr>
            <a:r>
              <a:t>TEAM VIGILANCE  •  SMART INDIA HACKATHON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6455664"/>
            <a:ext cx="41148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defRPr sz="1000" b="1" i="0" u="none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4" name="Oval 33" descr="Your startup LOGO">
            <a:extLst>
              <a:ext uri="{FF2B5EF4-FFF2-40B4-BE49-F238E27FC236}">
                <a16:creationId xmlns:a16="http://schemas.microsoft.com/office/drawing/2014/main" id="{27F21D9D-7D1F-3A55-438E-53793DCCA10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84480" y="134995"/>
            <a:ext cx="1523999" cy="798095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Vigilance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53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8231</TotalTime>
  <Words>2241</Words>
  <Application>Microsoft Office PowerPoint</Application>
  <PresentationFormat>Widescreen</PresentationFormat>
  <Paragraphs>324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Harish Jain</cp:lastModifiedBy>
  <cp:revision>169</cp:revision>
  <dcterms:created xsi:type="dcterms:W3CDTF">2013-12-12T18:46:50Z</dcterms:created>
  <dcterms:modified xsi:type="dcterms:W3CDTF">2026-09-21T13:02:40Z</dcterms:modified>
  <cp:category/>
</cp:coreProperties>
</file>