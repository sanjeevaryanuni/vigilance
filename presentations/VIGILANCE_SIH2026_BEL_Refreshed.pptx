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" cy="9144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640080"/>
            <a:ext cx="9144000" cy="640080"/>
          </a:xfrm>
        </p:spPr>
        <p:txBody>
          <a:bodyPr/>
          <a:lstStyle/>
          <a:p>
            <a:pPr algn="l"/>
            <a:r>
              <a:rPr sz="3600" b="1" i="0">
                <a:solidFill>
                  <a:srgbClr val="1C2C46"/>
                </a:solidFill>
                <a:latin typeface="Calibri"/>
              </a:rPr>
              <a:t>VIGILANCE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82880"/>
            <a:ext cx="9144000" cy="548640"/>
          </a:xfrm>
        </p:spPr>
        <p:txBody>
          <a:bodyPr/>
          <a:lstStyle/>
          <a:p>
            <a:pPr algn="l"/>
            <a:r>
              <a:rPr sz="2200" b="1" i="0">
                <a:solidFill>
                  <a:srgbClr val="0070C0"/>
                </a:solidFill>
                <a:latin typeface="Calibri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57200" y="1325880"/>
            <a:ext cx="603504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1417320"/>
            <a:ext cx="5760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Problem Statement ID: </a:t>
            </a:r>
            <a:r>
              <a:rPr sz="1100" b="1" i="0">
                <a:solidFill>
                  <a:srgbClr val="2563EB"/>
                </a:solidFill>
                <a:latin typeface="Calibri"/>
              </a:rPr>
              <a:t>SIH26124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Problem Statement Title: </a:t>
            </a:r>
            <a:r>
              <a:rPr sz="1100" b="0" i="0">
                <a:solidFill>
                  <a:srgbClr val="5F6876"/>
                </a:solidFill>
                <a:latin typeface="Calibri"/>
              </a:rPr>
              <a:t>AI-Powered Mobile Urban Intelligence Platform Using Public Transport Fleet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Organization: </a:t>
            </a:r>
            <a:r>
              <a:rPr sz="1100" b="1" i="0">
                <a:solidFill>
                  <a:srgbClr val="2563EB"/>
                </a:solidFill>
                <a:latin typeface="Calibri"/>
              </a:rPr>
              <a:t>Bharat Electronics Limited (BEL)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Theme: </a:t>
            </a:r>
            <a:r>
              <a:rPr sz="1100" b="0" i="0">
                <a:solidFill>
                  <a:srgbClr val="5F6876"/>
                </a:solidFill>
                <a:latin typeface="Calibri"/>
              </a:rPr>
              <a:t>Smart Transportation &amp; Public Infrastructure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PS Category: </a:t>
            </a:r>
            <a:r>
              <a:rPr sz="1100" b="1" i="0">
                <a:solidFill>
                  <a:srgbClr val="2563EB"/>
                </a:solidFill>
                <a:latin typeface="Calibri"/>
              </a:rPr>
              <a:t>Software Edition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Team Name: </a:t>
            </a:r>
            <a:r>
              <a:rPr sz="1100" b="1" i="0">
                <a:solidFill>
                  <a:srgbClr val="2563EB"/>
                </a:solidFill>
                <a:latin typeface="Calibri"/>
              </a:rPr>
              <a:t>VIGILANCE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Institute: </a:t>
            </a:r>
            <a:r>
              <a:rPr sz="1100" b="0" i="0">
                <a:solidFill>
                  <a:srgbClr val="5F6876"/>
                </a:solidFill>
                <a:latin typeface="Calibri"/>
              </a:rPr>
              <a:t>SRM Institute of Science and Technology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Core Innovation: </a:t>
            </a:r>
            <a:r>
              <a:rPr sz="1100" b="0" i="0">
                <a:solidFill>
                  <a:srgbClr val="5F6876"/>
                </a:solidFill>
                <a:latin typeface="Calibri"/>
              </a:rPr>
              <a:t>Edge-AI Onboard Defect Detection &amp; Centralized Geospatial Prioritization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1325880"/>
            <a:ext cx="50292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ndian_road_pothol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417320"/>
            <a:ext cx="4846320" cy="374903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66560" y="525780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DC2626"/>
                </a:solidFill>
                <a:latin typeface="Calibri"/>
              </a:rPr>
              <a:t>⚠️ Ground Reality: 9,438 Indian pothole fatalities (2020–2024, Lok Sabha data). VIGILANCE turns municipal fleets into live road safety audit nodes.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IDEA TITLE — VIGILANCE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 i="1">
                <a:solidFill>
                  <a:srgbClr val="232D3C"/>
                </a:solidFill>
                <a:latin typeface="Calibri"/>
              </a:rPr>
              <a:t>Passive, Always-On Road Health Intelligence Grid — Edge-AI on Existing Municipal Fleets, Zero New Infrastructure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57200" y="1280160"/>
            <a:ext cx="60350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Oval 15364"/>
          <p:cNvSpPr/>
          <p:nvPr/>
        </p:nvSpPr>
        <p:spPr>
          <a:xfrm>
            <a:off x="566928" y="138988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960120" y="1335024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PROPOSED SOLUTION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5F6876"/>
                </a:solidFill>
                <a:latin typeface="Calibri"/>
              </a:rPr>
              <a:t>Sub-₹3,000 smart camera units mounted on existing municipal buses, garbage trucks &amp; patrol vehicles passively scan road networks at 15 FPS during normal daily routes.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57200" y="2331720"/>
            <a:ext cx="60350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Oval 15367"/>
          <p:cNvSpPr/>
          <p:nvPr/>
        </p:nvSpPr>
        <p:spPr>
          <a:xfrm>
            <a:off x="566928" y="244144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960120" y="2386584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MECHANISM &amp; DEDUPLICATION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5F6876"/>
                </a:solidFill>
                <a:latin typeface="Calibri"/>
              </a:rPr>
              <a:t>Edge YOLOv8-Nano model detects road defects; 3m DBSCAN spatial clustering merges multi-vehicle passes into unified master incidents.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57200" y="3383280"/>
            <a:ext cx="60350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Oval 15370"/>
          <p:cNvSpPr/>
          <p:nvPr/>
        </p:nvSpPr>
        <p:spPr>
          <a:xfrm>
            <a:off x="566928" y="349300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960120" y="3438144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INNOVATION &amp; ECONOMIC MOAT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5F6876"/>
                </a:solidFill>
                <a:latin typeface="Calibri"/>
              </a:rPr>
              <a:t>Zero dedicated survey fleet needed. Converts 63 lakh km of existing transit routes into a 24x7 automated road audit grid, replacing slow &amp; costly manual surveys.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675120" y="1280160"/>
            <a:ext cx="5029200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4" name="Picture 15373" descr="bus_camera_set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353312"/>
            <a:ext cx="4846320" cy="2468880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6766560" y="385876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📷 Deployed Municipal Fleet Edge Camera Unit (Real-Time Road AI Vision)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D700"/>
                </a:solidFill>
                <a:latin typeface="Calibri"/>
              </a:rPr>
              <a:t>Existing Fleet (Buses/Trucks) ➔ Edge YOLOv8-Nano ➔ 3m DBSCAN Spatial Dedup ➔ PostGIS RPI Index ➔ Municipal PWD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051560"/>
            <a:ext cx="60350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097280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🛠️ CATEGORIZED TECHNOLOGY STACK</a:t>
            </a:r>
          </a:p>
          <a:p>
            <a:pPr>
              <a:spcAft>
                <a:spcPts val="100"/>
              </a:spcAft>
            </a:pPr>
            <a:r>
              <a:rPr sz="900" b="1" i="0">
                <a:solidFill>
                  <a:srgbClr val="1C2C46"/>
                </a:solidFill>
                <a:latin typeface="Calibri"/>
              </a:rPr>
              <a:t>• Edge Perception: </a:t>
            </a:r>
            <a:r>
              <a:rPr sz="900" b="0" i="0">
                <a:solidFill>
                  <a:srgbClr val="5F6876"/>
                </a:solidFill>
                <a:latin typeface="Calibri"/>
              </a:rPr>
              <a:t>YOLOv8-Nano (INT8 Quantized) • ONNX Runtime • SQLite FIFO Buffer</a:t>
            </a:r>
          </a:p>
          <a:p>
            <a:pPr>
              <a:spcAft>
                <a:spcPts val="100"/>
              </a:spcAft>
            </a:pPr>
            <a:r>
              <a:rPr sz="900" b="1" i="0">
                <a:solidFill>
                  <a:srgbClr val="1C2C46"/>
                </a:solidFill>
                <a:latin typeface="Calibri"/>
              </a:rPr>
              <a:t>• Backend Compute: </a:t>
            </a:r>
            <a:r>
              <a:rPr sz="900" b="0" i="0">
                <a:solidFill>
                  <a:srgbClr val="5F6876"/>
                </a:solidFill>
                <a:latin typeface="Calibri"/>
              </a:rPr>
              <a:t>FastAPI • Redis Queue • Celery Asynchronous Workers</a:t>
            </a:r>
          </a:p>
          <a:p>
            <a:pPr>
              <a:spcAft>
                <a:spcPts val="100"/>
              </a:spcAft>
            </a:pPr>
            <a:r>
              <a:rPr sz="900" b="1" i="0">
                <a:solidFill>
                  <a:srgbClr val="1C2C46"/>
                </a:solidFill>
                <a:latin typeface="Calibri"/>
              </a:rPr>
              <a:t>• Spatial Database: </a:t>
            </a:r>
            <a:r>
              <a:rPr sz="900" b="0" i="0">
                <a:solidFill>
                  <a:srgbClr val="5F6876"/>
                </a:solidFill>
                <a:latin typeface="Calibri"/>
              </a:rPr>
              <a:t>PostgreSQL 15 • PostGIS (R-Tree Spatial Indexing)</a:t>
            </a:r>
          </a:p>
          <a:p>
            <a:pPr>
              <a:spcAft>
                <a:spcPts val="100"/>
              </a:spcAft>
            </a:pPr>
            <a:r>
              <a:rPr sz="900" b="1" i="0">
                <a:solidFill>
                  <a:srgbClr val="1C2C46"/>
                </a:solidFill>
                <a:latin typeface="Calibri"/>
              </a:rPr>
              <a:t>• WebGIS Dashboard: </a:t>
            </a:r>
            <a:r>
              <a:rPr sz="900" b="0" i="0">
                <a:solidFill>
                  <a:srgbClr val="5F6876"/>
                </a:solidFill>
                <a:latin typeface="Calibri"/>
              </a:rPr>
              <a:t>Next.js 14 • Mapbox GL • Leaflet.js • Tailwind CSS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2743200"/>
            <a:ext cx="60350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594360" y="2788920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🔄 5-STEP IMPLEMENTATION PIPELINE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1. Fleet Camera: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1080p @ 15 FPS video stream + GPS/IMU timestamp telemetry.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2. Edge YOLOv8: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INT8 model classifies potholes &amp; longitudinal cracks (conf ≥ 0.60).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3. 3m DBSCAN: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Spatial clustering merges multi-vehicle passes into master incidents.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4. PostGIS Store: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Geospatial indexing matches municipal ward boundaries &amp; road IDs.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5. RPI Dispatch: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Road Priority Index auto-generates PWD work-orders based on severity.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675120" y="1051560"/>
            <a:ext cx="50292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6" name="Picture 17415" descr="gis_dashboard_heat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124712"/>
            <a:ext cx="4846320" cy="278892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6766560" y="39593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🖥️ Live Municipal GIS Web Dashboard (Heatmaps &amp; Auto-Dispatch)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⚡ Real-time Telemetry (&lt;1KB JSON) • Asynchronous Celery + Redis • Offline SQLite Buffer • Aligned with NHAI 40,000 km AI Dashcam Initiative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14300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594360" y="1280160"/>
            <a:ext cx="347472" cy="347472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051560" y="123444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TECHNICAL FEASIBILITY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5F6876"/>
                </a:solidFill>
                <a:latin typeface="Calibri"/>
              </a:rPr>
              <a:t>INT8-quantized YOLOv8-Nano executes under 250 MB RAM at 30 FPS on standard mobile ARM CPUs (Snapdragon / Cortex-A76 / Raspberry Pi 4). Zero heavy in-vehicle GPU hardware needed.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114300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6355080" y="1280160"/>
            <a:ext cx="347472" cy="347472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812280" y="123444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POTENTIAL CHALLENGES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5F6876"/>
                </a:solidFill>
                <a:latin typeface="Calibri"/>
              </a:rPr>
              <a:t>Vehicle vibration blur, intermittent 4G/5G cellular connectivity in dense/rural wards, monsoon lighting shifts, and multi-vehicle duplicate telemetry.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78892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594360" y="2926080"/>
            <a:ext cx="347472" cy="347472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51560" y="288036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MITIGATION STRATEGIES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5F6876"/>
                </a:solidFill>
                <a:latin typeface="Calibri"/>
              </a:rPr>
              <a:t>IMU accelerometer frame-filtering, offline SQLite FIFO sync buffer, confidence thresholding (≥0.60), and PostGIS R-tree spatial indexing for sub-second deduplication.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17920" y="278892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6355080" y="2926080"/>
            <a:ext cx="347472" cy="347472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812280" y="288036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COMMERCIAL VIABILITY &amp; CAPEX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5F6876"/>
                </a:solidFill>
                <a:latin typeface="Calibri"/>
              </a:rPr>
              <a:t>Hardware target under ₹3,000 per municipal vehicle. Micro-payloads (&lt;1 KB JSON) minimize cellular data bandwidth. Replaces ₹50–80 Lakh dedicated LiDAR survey vehicles.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D700"/>
                </a:solidFill>
                <a:latin typeface="Calibri"/>
              </a:rPr>
              <a:t>💡 Economic Moat: ₹3,000 Edge unit converts existing transit routes into 24x7 audit infrastructure — 0 dedicated inspection cars needed.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143000"/>
            <a:ext cx="2971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566928" y="125272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60120" y="1216152"/>
            <a:ext cx="2377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C2C46"/>
                </a:solidFill>
                <a:latin typeface="Calibri"/>
              </a:rPr>
              <a:t>SOCIAL IMPACT</a:t>
            </a:r>
          </a:p>
          <a:p>
            <a:pPr>
              <a:lnSpc>
                <a:spcPct val="115000"/>
              </a:lnSpc>
            </a:pPr>
            <a:r>
              <a:rPr sz="850" b="0" i="0">
                <a:solidFill>
                  <a:srgbClr val="5F6876"/>
                </a:solidFill>
                <a:latin typeface="Calibri"/>
              </a:rPr>
              <a:t>Targets 65% reduction in two-wheeler skidding crashes through early hazard detection (IRC:82 safety guidelines).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566160" y="1143000"/>
            <a:ext cx="2971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3675888" y="125272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069080" y="1216152"/>
            <a:ext cx="2377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C2C46"/>
                </a:solidFill>
                <a:latin typeface="Calibri"/>
              </a:rPr>
              <a:t>ECONOMIC VALUE</a:t>
            </a:r>
          </a:p>
          <a:p>
            <a:pPr>
              <a:lnSpc>
                <a:spcPct val="115000"/>
              </a:lnSpc>
            </a:pPr>
            <a:r>
              <a:rPr sz="850" b="0" i="0">
                <a:solidFill>
                  <a:srgbClr val="5F6876"/>
                </a:solidFill>
                <a:latin typeface="Calibri"/>
              </a:rPr>
              <a:t>Proactive micro-patching of early surface cracks saves up to 10× vs full asphalt reconstruction (MoRTH pavement lifecycle data).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788920"/>
            <a:ext cx="2971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566928" y="289864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60120" y="2862072"/>
            <a:ext cx="2377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C2C46"/>
                </a:solidFill>
                <a:latin typeface="Calibri"/>
              </a:rPr>
              <a:t>ENVIRONMENTAL</a:t>
            </a:r>
          </a:p>
          <a:p>
            <a:pPr>
              <a:lnSpc>
                <a:spcPct val="115000"/>
              </a:lnSpc>
            </a:pPr>
            <a:r>
              <a:rPr sz="850" b="0" i="0">
                <a:solidFill>
                  <a:srgbClr val="5F6876"/>
                </a:solidFill>
                <a:latin typeface="Calibri"/>
              </a:rPr>
              <a:t>40% lower asphalt carbon footprint; eliminates stop-and-go idling emissions caused by road damage bottlenecks.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566160" y="2788920"/>
            <a:ext cx="2971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3675888" y="289864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069080" y="2862072"/>
            <a:ext cx="2377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C2C46"/>
                </a:solidFill>
                <a:latin typeface="Calibri"/>
              </a:rPr>
              <a:t>ACCOUNTABILITY</a:t>
            </a:r>
          </a:p>
          <a:p>
            <a:pPr>
              <a:lnSpc>
                <a:spcPct val="115000"/>
              </a:lnSpc>
            </a:pPr>
            <a:r>
              <a:rPr sz="850" b="0" i="0">
                <a:solidFill>
                  <a:srgbClr val="5F6876"/>
                </a:solidFill>
                <a:latin typeface="Calibri"/>
              </a:rPr>
              <a:t>Immutable PostGIS before/after geotagged audit logs provide automated contractor proof-of-work, eliminating false billing.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675120" y="1143000"/>
            <a:ext cx="5029200" cy="3154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4" name="Picture 17423" descr="road_before_af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216152"/>
            <a:ext cx="4846320" cy="265176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766560" y="39319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🔄 Automated Repair Validation: Before &amp; After AI Proof-of-Work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🚀 Scalability Roadmap: Phase 1: City Pilot (50 Buses) ➔ Phase 2: 10 Smart Cities &amp; PWD Fleets ➔ Phase 3: NHAI Data Lake &amp; PM GatiShakti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09728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566928" y="120700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60120" y="115214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IRC:82-2015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Indian Roads Congress standard used for pavement distress classification, severity index &amp; maintenance intervention.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109728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6327648" y="120700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720840" y="115214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Ultralytics YOLOv8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Edge computer-vision architecture and real-time object detection benchmarks for roadway anomalies.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19456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566928" y="230428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60120" y="224942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ONNX Runtime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INT8 quantization framework for high-efficiency edge CPU execution without dedicated GPUs.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17920" y="219456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6327648" y="230428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720840" y="224942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DBSCAN (Ester et al.)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Density-based spatial clustering methodology for merging multi-pass GPS coordinate drift into unified incidents.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329184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566928" y="340156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60120" y="334670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PostGIS Documentation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Spatial indexing, R-Tree bounding queries, and multi-layer geographic query harmonization.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17920" y="329184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6327648" y="340156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720840" y="334670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NRDMS / Urban GIS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National natural resources &amp; urban geospatial data infrastructure guidelines for civic management.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🇮🇳 National Alignment: Aligns directly with NHAI AI Dashcam Program (40,000 km), Smart Cities Mission, &amp; PM GatiShakti Spatial Framework.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572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C2C46"/>
                </a:solidFill>
                <a:latin typeface="Calibri"/>
              </a:rPr>
              <a:t>TEAM MEMBERS</a:t>
            </a:r>
          </a:p>
        </p:txBody>
      </p:sp>
      <p:sp>
        <p:nvSpPr>
          <p:cNvPr id="15" name="Oval 14"/>
          <p:cNvSpPr/>
          <p:nvPr/>
        </p:nvSpPr>
        <p:spPr>
          <a:xfrm>
            <a:off x="329184" y="256032"/>
            <a:ext cx="1252728" cy="804672"/>
          </a:xfrm>
          <a:prstGeom prst="ellipse">
            <a:avLst/>
          </a:prstGeom>
          <a:solidFill>
            <a:srgbClr val="F8FA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01168" y="1097280"/>
          <a:ext cx="117043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0"/>
                <a:gridCol w="1300480"/>
                <a:gridCol w="1300480"/>
                <a:gridCol w="1300480"/>
                <a:gridCol w="1300480"/>
                <a:gridCol w="1300480"/>
                <a:gridCol w="1300480"/>
                <a:gridCol w="1300480"/>
                <a:gridCol w="1300480"/>
              </a:tblGrid>
              <a:tr h="54864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Reg.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Sem.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Mobile no.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Sanjeev Aryan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RA2511047010030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sa8129@srmist.edu.in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8102285766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Parth Jaina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RA2511047010069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pj2752@srmist.edu.in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9828285223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Dhiti Mahajan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RA2511056010060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DSBS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dm5223@srmist.edu.in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7339851899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Shubh Garg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RA2511047010023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sg8735@srmist.edu.in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8130763641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Prakhar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RA2511003010764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C-TECH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ps1158@srmist.edu.in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9235878237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Navdeep Rathe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RA2511003010177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C-TECH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nr8188@srmist.edu.in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9967580941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Faculty Mentor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Dr. Pavithra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pavithrl3@srmist.edu.in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9150551899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Industry Mentor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Dr. Kishore Anthuvan Sahayaraj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C-TECH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kishorea1@srmist.edu.in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9043103219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