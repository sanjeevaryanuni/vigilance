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8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F3939-67AC-4C2B-8C34-D685E5D68B0C}" v="3" dt="2026-08-23T16:49:5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 Jain" userId="830b26ebf093da50" providerId="LiveId" clId="{8DC1E187-E42A-4D57-BC2F-E1F33D2FFACD}"/>
    <pc:docChg chg="undo custSel modSld">
      <pc:chgData name="Harish Jain" userId="830b26ebf093da50" providerId="LiveId" clId="{8DC1E187-E42A-4D57-BC2F-E1F33D2FFACD}" dt="2026-08-23T17:08:53.496" v="96" actId="1076"/>
      <pc:docMkLst>
        <pc:docMk/>
      </pc:docMkLst>
      <pc:sldChg chg="addSp delSp modSp mod">
        <pc:chgData name="Harish Jain" userId="830b26ebf093da50" providerId="LiveId" clId="{8DC1E187-E42A-4D57-BC2F-E1F33D2FFACD}" dt="2026-08-23T17:08:17.776" v="92" actId="1076"/>
        <pc:sldMkLst>
          <pc:docMk/>
          <pc:sldMk cId="0" sldId="281"/>
        </pc:sldMkLst>
        <pc:spChg chg="del mod">
          <ac:chgData name="Harish Jain" userId="830b26ebf093da50" providerId="LiveId" clId="{8DC1E187-E42A-4D57-BC2F-E1F33D2FFACD}" dt="2026-08-23T17:08:09.481" v="87" actId="478"/>
          <ac:spMkLst>
            <pc:docMk/>
            <pc:sldMk cId="0" sldId="281"/>
            <ac:spMk id="10" creationId="{5DBCE864-823D-4A13-9607-5DA1F0ED5FB8}"/>
          </ac:spMkLst>
        </pc:spChg>
        <pc:spChg chg="mod">
          <ac:chgData name="Harish Jain" userId="830b26ebf093da50" providerId="LiveId" clId="{8DC1E187-E42A-4D57-BC2F-E1F33D2FFACD}" dt="2026-08-23T16:51:07.104" v="44" actId="122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7:08:12.202" v="90"/>
          <ac:spMkLst>
            <pc:docMk/>
            <pc:sldMk cId="0" sldId="281"/>
            <ac:spMk id="15363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17.776" v="92" actId="1076"/>
          <ac:picMkLst>
            <pc:docMk/>
            <pc:sldMk cId="0" sldId="281"/>
            <ac:picMk id="3" creationId="{8E8C2E20-784A-18AC-AB73-62A4E55D2326}"/>
          </ac:picMkLst>
        </pc:picChg>
      </pc:sldChg>
      <pc:sldChg chg="addSp delSp modSp mod">
        <pc:chgData name="Harish Jain" userId="830b26ebf093da50" providerId="LiveId" clId="{8DC1E187-E42A-4D57-BC2F-E1F33D2FFACD}" dt="2026-08-23T17:08:04.984" v="86" actId="1076"/>
        <pc:sldMkLst>
          <pc:docMk/>
          <pc:sldMk cId="0" sldId="290"/>
        </pc:sldMkLst>
        <pc:spChg chg="del mod">
          <ac:chgData name="Harish Jain" userId="830b26ebf093da50" providerId="LiveId" clId="{8DC1E187-E42A-4D57-BC2F-E1F33D2FFACD}" dt="2026-08-23T17:08:00.020" v="84" actId="478"/>
          <ac:spMkLst>
            <pc:docMk/>
            <pc:sldMk cId="0" sldId="290"/>
            <ac:spMk id="11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3:50.666" v="52" actId="122"/>
          <ac:spMkLst>
            <pc:docMk/>
            <pc:sldMk cId="0" sldId="290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8:04.984" v="86" actId="1076"/>
          <ac:picMkLst>
            <pc:docMk/>
            <pc:sldMk cId="0" sldId="290"/>
            <ac:picMk id="3" creationId="{2417F204-FCAE-2914-6720-08DB6B712A6F}"/>
          </ac:picMkLst>
        </pc:picChg>
      </pc:sldChg>
      <pc:sldChg chg="addSp delSp modSp mod">
        <pc:chgData name="Harish Jain" userId="830b26ebf093da50" providerId="LiveId" clId="{8DC1E187-E42A-4D57-BC2F-E1F33D2FFACD}" dt="2026-08-23T16:59:55.615" v="46" actId="478"/>
        <pc:sldMkLst>
          <pc:docMk/>
          <pc:sldMk cId="0" sldId="291"/>
        </pc:sldMkLst>
        <pc:spChg chg="mod">
          <ac:chgData name="Harish Jain" userId="830b26ebf093da50" providerId="LiveId" clId="{8DC1E187-E42A-4D57-BC2F-E1F33D2FFACD}" dt="2026-08-23T16:50:50.289" v="42" actId="122"/>
          <ac:spMkLst>
            <pc:docMk/>
            <pc:sldMk cId="0" sldId="291"/>
            <ac:spMk id="4" creationId="{00000000-0000-0000-0000-000000000000}"/>
          </ac:spMkLst>
        </pc:spChg>
        <pc:spChg chg="add del">
          <ac:chgData name="Harish Jain" userId="830b26ebf093da50" providerId="LiveId" clId="{8DC1E187-E42A-4D57-BC2F-E1F33D2FFACD}" dt="2026-08-23T16:48:24.733" v="3" actId="22"/>
          <ac:spMkLst>
            <pc:docMk/>
            <pc:sldMk cId="0" sldId="291"/>
            <ac:spMk id="6" creationId="{0909B4A3-2FB3-4D9E-6592-3E4C9BE09B94}"/>
          </ac:spMkLst>
        </pc:spChg>
        <pc:spChg chg="mod">
          <ac:chgData name="Harish Jain" userId="830b26ebf093da50" providerId="LiveId" clId="{8DC1E187-E42A-4D57-BC2F-E1F33D2FFACD}" dt="2026-08-23T16:50:55.976" v="43" actId="122"/>
          <ac:spMkLst>
            <pc:docMk/>
            <pc:sldMk cId="0" sldId="291"/>
            <ac:spMk id="8" creationId="{00000000-0000-0000-0000-000000000000}"/>
          </ac:spMkLst>
        </pc:spChg>
        <pc:spChg chg="add mod">
          <ac:chgData name="Harish Jain" userId="830b26ebf093da50" providerId="LiveId" clId="{8DC1E187-E42A-4D57-BC2F-E1F33D2FFACD}" dt="2026-08-23T16:50:40.976" v="41" actId="120"/>
          <ac:spMkLst>
            <pc:docMk/>
            <pc:sldMk cId="0" sldId="291"/>
            <ac:spMk id="9" creationId="{5F21806A-19BD-2C4C-A982-1686EC2BB4FD}"/>
          </ac:spMkLst>
        </pc:spChg>
        <pc:spChg chg="del mod">
          <ac:chgData name="Harish Jain" userId="830b26ebf093da50" providerId="LiveId" clId="{8DC1E187-E42A-4D57-BC2F-E1F33D2FFACD}" dt="2026-08-23T16:49:31.944" v="18"/>
          <ac:spMkLst>
            <pc:docMk/>
            <pc:sldMk cId="0" sldId="291"/>
            <ac:spMk id="10" creationId="{00000000-0000-0000-0000-000000000000}"/>
          </ac:spMkLst>
        </pc:spChg>
        <pc:spChg chg="del mod">
          <ac:chgData name="Harish Jain" userId="830b26ebf093da50" providerId="LiveId" clId="{8DC1E187-E42A-4D57-BC2F-E1F33D2FFACD}" dt="2026-08-23T16:49:31.945" v="20"/>
          <ac:spMkLst>
            <pc:docMk/>
            <pc:sldMk cId="0" sldId="291"/>
            <ac:spMk id="38" creationId="{00000000-0000-0000-0000-000000000000}"/>
          </ac:spMkLst>
        </pc:spChg>
        <pc:spChg chg="del">
          <ac:chgData name="Harish Jain" userId="830b26ebf093da50" providerId="LiveId" clId="{8DC1E187-E42A-4D57-BC2F-E1F33D2FFACD}" dt="2026-08-23T16:49:31.942" v="16" actId="478"/>
          <ac:spMkLst>
            <pc:docMk/>
            <pc:sldMk cId="0" sldId="291"/>
            <ac:spMk id="39" creationId="{00000000-0000-0000-0000-000000000000}"/>
          </ac:spMkLst>
        </pc:spChg>
        <pc:picChg chg="add del">
          <ac:chgData name="Harish Jain" userId="830b26ebf093da50" providerId="LiveId" clId="{8DC1E187-E42A-4D57-BC2F-E1F33D2FFACD}" dt="2026-08-23T16:59:55.615" v="46" actId="478"/>
          <ac:picMkLst>
            <pc:docMk/>
            <pc:sldMk cId="0" sldId="291"/>
            <ac:picMk id="12" creationId="{28C2370E-7706-CDC0-787A-5F5D9D9C5B8F}"/>
          </ac:picMkLst>
        </pc:picChg>
      </pc:sldChg>
      <pc:sldChg chg="addSp delSp modSp mod">
        <pc:chgData name="Harish Jain" userId="830b26ebf093da50" providerId="LiveId" clId="{8DC1E187-E42A-4D57-BC2F-E1F33D2FFACD}" dt="2026-08-23T17:07:49.165" v="82" actId="1076"/>
        <pc:sldMkLst>
          <pc:docMk/>
          <pc:sldMk cId="3753387913" sldId="293"/>
        </pc:sldMkLst>
        <pc:spChg chg="del mod">
          <ac:chgData name="Harish Jain" userId="830b26ebf093da50" providerId="LiveId" clId="{8DC1E187-E42A-4D57-BC2F-E1F33D2FFACD}" dt="2026-08-23T17:07:41.558" v="80" actId="478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02.004" v="53" actId="122"/>
          <ac:spMkLst>
            <pc:docMk/>
            <pc:sldMk cId="3753387913" sldId="293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49.165" v="82" actId="1076"/>
          <ac:picMkLst>
            <pc:docMk/>
            <pc:sldMk cId="3753387913" sldId="293"/>
            <ac:picMk id="3" creationId="{8C7FF515-EEFC-ED54-8D37-64E4C455AB55}"/>
          </ac:picMkLst>
        </pc:picChg>
      </pc:sldChg>
      <pc:sldChg chg="addSp delSp modSp mod">
        <pc:chgData name="Harish Jain" userId="830b26ebf093da50" providerId="LiveId" clId="{8DC1E187-E42A-4D57-BC2F-E1F33D2FFACD}" dt="2026-08-23T17:07:34.848" v="78" actId="1076"/>
        <pc:sldMkLst>
          <pc:docMk/>
          <pc:sldMk cId="2997144140" sldId="294"/>
        </pc:sldMkLst>
        <pc:spChg chg="del mod">
          <ac:chgData name="Harish Jain" userId="830b26ebf093da50" providerId="LiveId" clId="{8DC1E187-E42A-4D57-BC2F-E1F33D2FFACD}" dt="2026-08-23T17:07:30.214" v="76" actId="478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Harish Jain" userId="830b26ebf093da50" providerId="LiveId" clId="{8DC1E187-E42A-4D57-BC2F-E1F33D2FFACD}" dt="2026-08-23T17:04:10.422" v="54" actId="122"/>
          <ac:spMkLst>
            <pc:docMk/>
            <pc:sldMk cId="2997144140" sldId="294"/>
            <ac:spMk id="17409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7:34.848" v="78" actId="1076"/>
          <ac:picMkLst>
            <pc:docMk/>
            <pc:sldMk cId="2997144140" sldId="294"/>
            <ac:picMk id="3" creationId="{74105182-C08B-2BCE-9F73-58DDDB94ED6B}"/>
          </ac:picMkLst>
        </pc:picChg>
      </pc:sldChg>
      <pc:sldChg chg="addSp delSp modSp mod">
        <pc:chgData name="Harish Jain" userId="830b26ebf093da50" providerId="LiveId" clId="{8DC1E187-E42A-4D57-BC2F-E1F33D2FFACD}" dt="2026-08-23T17:07:15.755" v="74" actId="1076"/>
        <pc:sldMkLst>
          <pc:docMk/>
          <pc:sldMk cId="3916788613" sldId="296"/>
        </pc:sldMkLst>
        <pc:spChg chg="del mod">
          <ac:chgData name="Harish Jain" userId="830b26ebf093da50" providerId="LiveId" clId="{8DC1E187-E42A-4D57-BC2F-E1F33D2FFACD}" dt="2026-08-23T17:05:36.312" v="62" actId="478"/>
          <ac:spMkLst>
            <pc:docMk/>
            <pc:sldMk cId="3916788613" sldId="296"/>
            <ac:spMk id="9" creationId="{5DBCE864-823D-4A13-9607-5DA1F0ED5FB8}"/>
          </ac:spMkLst>
        </pc:spChg>
        <pc:spChg chg="add mod">
          <ac:chgData name="Harish Jain" userId="830b26ebf093da50" providerId="LiveId" clId="{8DC1E187-E42A-4D57-BC2F-E1F33D2FFACD}" dt="2026-08-23T17:07:15.755" v="74" actId="1076"/>
          <ac:spMkLst>
            <pc:docMk/>
            <pc:sldMk cId="3916788613" sldId="296"/>
            <ac:spMk id="11" creationId="{D8538602-2A8A-A587-D269-BEBA767EDB6D}"/>
          </ac:spMkLst>
        </pc:spChg>
        <pc:spChg chg="mod">
          <ac:chgData name="Harish Jain" userId="830b26ebf093da50" providerId="LiveId" clId="{8DC1E187-E42A-4D57-BC2F-E1F33D2FFACD}" dt="2026-08-23T17:04:16.995" v="55" actId="122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Harish Jain" userId="830b26ebf093da50" providerId="LiveId" clId="{8DC1E187-E42A-4D57-BC2F-E1F33D2FFACD}" dt="2026-08-23T17:05:41.080" v="65" actId="1076"/>
          <ac:spMkLst>
            <pc:docMk/>
            <pc:sldMk cId="3916788613" sldId="296"/>
            <ac:spMk id="17421" creationId="{00000000-0000-0000-0000-000000000000}"/>
          </ac:spMkLst>
        </pc:spChg>
        <pc:picChg chg="add mod">
          <ac:chgData name="Harish Jain" userId="830b26ebf093da50" providerId="LiveId" clId="{8DC1E187-E42A-4D57-BC2F-E1F33D2FFACD}" dt="2026-08-23T17:05:50.924" v="68" actId="1076"/>
          <ac:picMkLst>
            <pc:docMk/>
            <pc:sldMk cId="3916788613" sldId="296"/>
            <ac:picMk id="3" creationId="{1D8C57FC-BFDF-723F-FFAF-E9B8AF4969A0}"/>
          </ac:picMkLst>
        </pc:picChg>
        <pc:picChg chg="add mod">
          <ac:chgData name="Harish Jain" userId="830b26ebf093da50" providerId="LiveId" clId="{8DC1E187-E42A-4D57-BC2F-E1F33D2FFACD}" dt="2026-08-23T17:06:13.023" v="71" actId="1076"/>
          <ac:picMkLst>
            <pc:docMk/>
            <pc:sldMk cId="3916788613" sldId="296"/>
            <ac:picMk id="5" creationId="{092AFCCB-A892-E3FC-36BB-278AC7EC179D}"/>
          </ac:picMkLst>
        </pc:picChg>
      </pc:sldChg>
      <pc:sldChg chg="addSp modSp mod">
        <pc:chgData name="Harish Jain" userId="830b26ebf093da50" providerId="LiveId" clId="{8DC1E187-E42A-4D57-BC2F-E1F33D2FFACD}" dt="2026-08-23T17:08:53.496" v="96" actId="1076"/>
        <pc:sldMkLst>
          <pc:docMk/>
          <pc:sldMk cId="4027024697" sldId="298"/>
        </pc:sldMkLst>
        <pc:picChg chg="add mod">
          <ac:chgData name="Harish Jain" userId="830b26ebf093da50" providerId="LiveId" clId="{8DC1E187-E42A-4D57-BC2F-E1F33D2FFACD}" dt="2026-08-23T17:05:03.756" v="59" actId="14100"/>
          <ac:picMkLst>
            <pc:docMk/>
            <pc:sldMk cId="4027024697" sldId="298"/>
            <ac:picMk id="4" creationId="{904EE2D4-7CD6-2682-7994-4FF509287F5E}"/>
          </ac:picMkLst>
        </pc:picChg>
        <pc:picChg chg="add mod">
          <ac:chgData name="Harish Jain" userId="830b26ebf093da50" providerId="LiveId" clId="{8DC1E187-E42A-4D57-BC2F-E1F33D2FFACD}" dt="2026-08-23T17:08:53.496" v="96" actId="1076"/>
          <ac:picMkLst>
            <pc:docMk/>
            <pc:sldMk cId="4027024697" sldId="298"/>
            <ac:picMk id="8" creationId="{47999571-FD58-F7FF-69FD-9950C415F4E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622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t"/>
          <a:lstStyle/>
          <a:p>
            <a:r>
              <a:rPr sz="3800" b="1" dirty="0">
                <a:solidFill>
                  <a:srgbClr val="1C2C46"/>
                </a:solidFill>
                <a:latin typeface="Garamond"/>
              </a:rPr>
              <a:t>VIGILANCE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74236" y="1500"/>
            <a:ext cx="10363200" cy="2076450"/>
          </a:xfrm>
        </p:spPr>
        <p:txBody>
          <a:bodyPr wrap="square" anchor="t"/>
          <a:lstStyle/>
          <a:p>
            <a:r>
              <a:rPr sz="3400" b="1" dirty="0">
                <a:solidFill>
                  <a:srgbClr val="1C2C46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21806A-19BD-2C4C-A982-1686EC2BB4FD}"/>
              </a:ext>
            </a:extLst>
          </p:cNvPr>
          <p:cNvSpPr txBox="1"/>
          <p:nvPr/>
        </p:nvSpPr>
        <p:spPr>
          <a:xfrm>
            <a:off x="574877" y="1334399"/>
            <a:ext cx="5392100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–SIH26013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Title-Automated Integration and Intelligent Harmonization of Multi-source Geospatial Data for Urban Land Record &amp; Infrastructure Management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- Smart Transportation &amp; Public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InfrastructurePS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Category- Software</a:t>
            </a:r>
          </a:p>
        </p:txBody>
      </p:sp>
      <p:pic>
        <p:nvPicPr>
          <p:cNvPr id="38" name="Picture 37" descr="indian_road_potholes_178755760744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463040"/>
            <a:ext cx="4937760" cy="34747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583680" y="4983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C3232"/>
                </a:solidFill>
                <a:latin typeface="Calibri"/>
              </a:defRPr>
            </a:pPr>
            <a:r>
              <a:t>⚠️ Ground Reality: 9,438 Indian pothole fatalities (2020–2024, Lok Sabha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658368" y="105156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i="1">
                <a:solidFill>
                  <a:srgbClr val="282F3A"/>
                </a:solidFill>
                <a:latin typeface="Calibri"/>
              </a:defRPr>
            </a:pPr>
            <a:r>
              <a:t>Passive, Always-On Road Health Intelligence Grid Powered by Edge-AI &amp; Geospatial Harmonization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58368" y="1508760"/>
            <a:ext cx="6217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Oval 15365"/>
          <p:cNvSpPr/>
          <p:nvPr/>
        </p:nvSpPr>
        <p:spPr>
          <a:xfrm>
            <a:off x="777240" y="164592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777240" y="16459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188720" y="157276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PROPOSED SOLUTION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188720" y="1810512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>
                <a:solidFill>
                  <a:srgbClr val="5F6876"/>
                </a:solidFill>
                <a:latin typeface="Calibri"/>
              </a:defRPr>
            </a:pPr>
            <a:r>
              <a:t>Sub-₹3,000 camera units on municipal buses &amp; trucks passively capture road video feeds at 15 FPS during normal daily operations.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658368" y="2468880"/>
            <a:ext cx="6217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Oval 15370"/>
          <p:cNvSpPr/>
          <p:nvPr/>
        </p:nvSpPr>
        <p:spPr>
          <a:xfrm>
            <a:off x="777240" y="260604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TextBox 15371"/>
          <p:cNvSpPr txBox="1"/>
          <p:nvPr/>
        </p:nvSpPr>
        <p:spPr>
          <a:xfrm>
            <a:off x="777240" y="26060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1188720" y="253288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1188720" y="2770632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>
                <a:solidFill>
                  <a:srgbClr val="5F6876"/>
                </a:solidFill>
                <a:latin typeface="Calibri"/>
              </a:defRPr>
            </a:pPr>
            <a:r>
              <a:t>YOLOv8 INT8 edge model detects potholes at 30 FPS. 3m DBSCAN clustering merges multi-pass detections into single master incidents.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658368" y="3429000"/>
            <a:ext cx="62179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Oval 15375"/>
          <p:cNvSpPr/>
          <p:nvPr/>
        </p:nvSpPr>
        <p:spPr>
          <a:xfrm>
            <a:off x="777240" y="3566160"/>
            <a:ext cx="320040" cy="320040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TextBox 15376"/>
          <p:cNvSpPr txBox="1"/>
          <p:nvPr/>
        </p:nvSpPr>
        <p:spPr>
          <a:xfrm>
            <a:off x="777240" y="356616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1188720" y="349300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1C2C46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1188720" y="3730752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>
                <a:solidFill>
                  <a:srgbClr val="5F6876"/>
                </a:solidFill>
                <a:latin typeface="Calibri"/>
              </a:defRPr>
            </a:pPr>
            <a:r>
              <a:t>Zero new fleet needed. Converts 63 lakh km of existing transit routes into a 24x7 automated road audit grid, replacing costly manual surveys.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58368" y="4480560"/>
            <a:ext cx="10789920" cy="502920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777240" y="45537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Calibri"/>
              </a:defRPr>
            </a:pPr>
            <a:r>
              <a:t>Existing Fleet (Buses/Trucks) ➔ Lightweight Edge AI (YOLOv8) ➔ 3m DBSCAN Spatial Dedup ➔ RPI Repair Index ➔ Municipal PWD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8C2E20-784A-18AC-AB73-62A4E55D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84"/>
            <a:ext cx="1886213" cy="724001"/>
          </a:xfrm>
          <a:prstGeom prst="rect">
            <a:avLst/>
          </a:prstGeom>
        </p:spPr>
      </p:pic>
      <p:pic>
        <p:nvPicPr>
          <p:cNvPr id="15382" name="Picture 15381" descr="bus_camera_setup_178755763262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508760"/>
            <a:ext cx="4297680" cy="2514600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7132320" y="406908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📷 Deployed Municipal Fleet Edge Camera Unit (Real-Time AI Vision)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40080" y="100584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5836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749808" y="1472184"/>
            <a:ext cx="411480" cy="411480"/>
          </a:xfrm>
          <a:prstGeom prst="ellipse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6809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25295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Next.js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3113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232257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34086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79806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Leaflet.js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803904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3895344" y="1472184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3913631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70832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Mapbox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376672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Oval 17424"/>
          <p:cNvSpPr/>
          <p:nvPr/>
        </p:nvSpPr>
        <p:spPr>
          <a:xfrm>
            <a:off x="5468112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5486399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TW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943600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Tailwind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949440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7040879" y="1472184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7059167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516367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FastAPI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522208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8613648" y="1472184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8631936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089136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WebSockets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0094976" y="1389888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10186416" y="1472184"/>
            <a:ext cx="411480" cy="41148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10204704" y="1481328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0661904" y="1545336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Celery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5836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Oval 17440"/>
          <p:cNvSpPr/>
          <p:nvPr/>
        </p:nvSpPr>
        <p:spPr>
          <a:xfrm>
            <a:off x="74980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76809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225295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PostgreSQL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223113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Oval 17444"/>
          <p:cNvSpPr/>
          <p:nvPr/>
        </p:nvSpPr>
        <p:spPr>
          <a:xfrm>
            <a:off x="2322576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234086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GIS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279806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803904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Oval 17448"/>
          <p:cNvSpPr/>
          <p:nvPr/>
        </p:nvSpPr>
        <p:spPr>
          <a:xfrm>
            <a:off x="3895344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3913631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370832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Redis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5376672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Oval 17452"/>
          <p:cNvSpPr/>
          <p:nvPr/>
        </p:nvSpPr>
        <p:spPr>
          <a:xfrm>
            <a:off x="5468112" y="2185415"/>
            <a:ext cx="411480" cy="41148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5486399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943600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6949440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Oval 17456"/>
          <p:cNvSpPr/>
          <p:nvPr/>
        </p:nvSpPr>
        <p:spPr>
          <a:xfrm>
            <a:off x="7040879" y="2185415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7059167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516367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ONNX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522208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Oval 17460"/>
          <p:cNvSpPr/>
          <p:nvPr/>
        </p:nvSpPr>
        <p:spPr>
          <a:xfrm>
            <a:off x="8613648" y="2185415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8631936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9089136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Flutter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10094976" y="2103120"/>
            <a:ext cx="1353312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Oval 17464"/>
          <p:cNvSpPr/>
          <p:nvPr/>
        </p:nvSpPr>
        <p:spPr>
          <a:xfrm>
            <a:off x="10186416" y="2185415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10204704" y="2194559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SQL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10661904" y="2258568"/>
            <a:ext cx="6949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C2C46"/>
                </a:solidFill>
                <a:latin typeface="Arial"/>
              </a:rPr>
              <a:t>SQLite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640080" y="358444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METHODOLOGY / IMPLEMENTATION FLOW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58368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TextBox 17469"/>
          <p:cNvSpPr txBox="1"/>
          <p:nvPr/>
        </p:nvSpPr>
        <p:spPr>
          <a:xfrm>
            <a:off x="731519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Fleet Camera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731519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GPS + IMU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2286000" y="4361688"/>
            <a:ext cx="402336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Rounded Rectangle 17472"/>
          <p:cNvSpPr/>
          <p:nvPr/>
        </p:nvSpPr>
        <p:spPr>
          <a:xfrm>
            <a:off x="2743200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TextBox 17473"/>
          <p:cNvSpPr txBox="1"/>
          <p:nvPr/>
        </p:nvSpPr>
        <p:spPr>
          <a:xfrm>
            <a:off x="2816352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YOLOv8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2816352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Defect detection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4370832" y="4361688"/>
            <a:ext cx="402336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Rounded Rectangle 17476"/>
          <p:cNvSpPr/>
          <p:nvPr/>
        </p:nvSpPr>
        <p:spPr>
          <a:xfrm>
            <a:off x="4828032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D4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TextBox 17477"/>
          <p:cNvSpPr txBox="1"/>
          <p:nvPr/>
        </p:nvSpPr>
        <p:spPr>
          <a:xfrm>
            <a:off x="4901184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DBSCAN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901184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3 m deduplication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6455664" y="4361688"/>
            <a:ext cx="402336" cy="0"/>
          </a:xfrm>
          <a:prstGeom prst="line">
            <a:avLst/>
          </a:prstGeom>
          <a:ln w="25400">
            <a:solidFill>
              <a:srgbClr val="6D4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Rounded Rectangle 17480"/>
          <p:cNvSpPr/>
          <p:nvPr/>
        </p:nvSpPr>
        <p:spPr>
          <a:xfrm>
            <a:off x="6912864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TextBox 17481"/>
          <p:cNvSpPr txBox="1"/>
          <p:nvPr/>
        </p:nvSpPr>
        <p:spPr>
          <a:xfrm>
            <a:off x="6986016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PostGIS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6986016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Master incident</a:t>
            </a:r>
          </a:p>
        </p:txBody>
      </p:sp>
      <p:cxnSp>
        <p:nvCxnSpPr>
          <p:cNvPr id="17484" name="Connector 17483"/>
          <p:cNvCxnSpPr/>
          <p:nvPr/>
        </p:nvCxnSpPr>
        <p:spPr>
          <a:xfrm>
            <a:off x="8540496" y="4361688"/>
            <a:ext cx="402336" cy="0"/>
          </a:xfrm>
          <a:prstGeom prst="line">
            <a:avLst/>
          </a:prstGeom>
          <a:ln w="25400">
            <a:solidFill>
              <a:srgbClr val="E084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ounded Rectangle 17484"/>
          <p:cNvSpPr/>
          <p:nvPr/>
        </p:nvSpPr>
        <p:spPr>
          <a:xfrm>
            <a:off x="8997696" y="4005072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6" name="TextBox 17485"/>
          <p:cNvSpPr txBox="1"/>
          <p:nvPr/>
        </p:nvSpPr>
        <p:spPr>
          <a:xfrm>
            <a:off x="9070848" y="4105656"/>
            <a:ext cx="14813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C2C46"/>
                </a:solidFill>
                <a:latin typeface="Arial"/>
              </a:rPr>
              <a:t>RPI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9070848" y="4370832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10" b="0">
                <a:solidFill>
                  <a:srgbClr val="5F6876"/>
                </a:solidFill>
                <a:latin typeface="Arial"/>
              </a:rPr>
              <a:t>Repair dispatch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713232" y="5074920"/>
            <a:ext cx="10561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⚡ Real-time Telemetry (&lt;1KB JSON) • Asynchronous Celery + Redis • Offline SQLite Buffer • Aligned with NHAI 40,000 km AI Dashcam Program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7F204-FCAE-2914-6720-08DB6B712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6" y="-1905"/>
            <a:ext cx="1886213" cy="724001"/>
          </a:xfrm>
          <a:prstGeom prst="rect">
            <a:avLst/>
          </a:prstGeom>
        </p:spPr>
      </p:pic>
      <p:pic>
        <p:nvPicPr>
          <p:cNvPr id="17489" name="Picture 17488" descr="gis_dashboard_heatmap_17875577463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188720"/>
            <a:ext cx="4389120" cy="3017520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7040880" y="425196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Calibri"/>
              </a:defRPr>
            </a:pPr>
            <a:r>
              <a:t>🖥️ Live Municipal GIS Web Dashboard (Heatmaps &amp; Auto-Dispatch)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59536" y="13716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77824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40817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FEASIBILITY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40817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>
                <a:solidFill>
                  <a:srgbClr val="5F6876"/>
                </a:solidFill>
                <a:latin typeface="Calibri"/>
              </a:defRPr>
            </a:pPr>
            <a:r>
              <a:t>INT8-quantized YOLOv8 executes under 250 MB RAM at 30 FPS on standard mobile ARM CPUs (Snapdragon / Cortex-A76 / Raspberry Pi 4).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91655" y="1371600"/>
            <a:ext cx="411480" cy="411480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409943" y="138074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40296" y="133502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CHALLENGE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40296" y="170078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>
                <a:solidFill>
                  <a:srgbClr val="5F6876"/>
                </a:solidFill>
                <a:latin typeface="Calibri"/>
              </a:defRPr>
            </a:pPr>
            <a:r>
              <a:t>Vehicle vibration blur, intermittent 4G/5G connectivity, weather lighting variations, and multi-vehicle duplicate telemetry.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59536" y="31546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77824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40817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MITIGATION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40817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>
                <a:solidFill>
                  <a:srgbClr val="5F6876"/>
                </a:solidFill>
                <a:latin typeface="Calibri"/>
              </a:defRPr>
            </a:pPr>
            <a:r>
              <a:t>IMU accelerometer frame-filtering, offline SQLite FIFO sync buffer, confidence threshold ≥0.60, and PostGIS R-tree spatial indexing.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953512"/>
            <a:ext cx="51663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91655" y="3154680"/>
            <a:ext cx="411480" cy="411480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409943" y="3163824"/>
            <a:ext cx="374904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40296" y="3118104"/>
            <a:ext cx="39776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C2C46"/>
                </a:solidFill>
                <a:latin typeface="Arial"/>
              </a:rPr>
              <a:t>VIABILITY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40296" y="3483864"/>
            <a:ext cx="40416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>
                <a:solidFill>
                  <a:srgbClr val="5F6876"/>
                </a:solidFill>
                <a:latin typeface="Calibri"/>
              </a:defRPr>
            </a:pPr>
            <a:r>
              <a:t>Hardware cost under ₹3,000 per bus. Micro-payloads (&lt;1 KB JSON) minimize server costs. Replaces ₹50–80 Lakh dedicated LiDAR survey cars.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4983480"/>
            <a:ext cx="10698480" cy="658368"/>
          </a:xfrm>
          <a:prstGeom prst="roundRect">
            <a:avLst/>
          </a:prstGeom>
          <a:solidFill>
            <a:srgbClr val="1C2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896112" y="5157216"/>
            <a:ext cx="102229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💡 Economic Moat: ₹3,000 Edge unit converts existing transit routes into 24x7 audit infrastructure — 0 dedicated inspection cars needed.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FF515-EEFC-ED54-8D37-64E4C455A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095"/>
            <a:ext cx="1886213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371600"/>
            <a:ext cx="29718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777240" y="1481328"/>
            <a:ext cx="365760" cy="365760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777240" y="148132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234440" y="148132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SOCIAL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77240" y="1874519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Targets 65% reduction in two-wheeler skids &amp; sudden swerves through early pothole detection (IRC:82 standards).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794760" y="1371600"/>
            <a:ext cx="29718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3913632" y="1481328"/>
            <a:ext cx="365760" cy="365760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3913632" y="148132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370832" y="148132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ECONOMIC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913632" y="1874519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Proactive micro-patching of early surface cracks saves up to 10× vs full asphalt reconstruction (MoRTH data).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58368" y="3017520"/>
            <a:ext cx="29718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Oval 17425"/>
          <p:cNvSpPr/>
          <p:nvPr/>
        </p:nvSpPr>
        <p:spPr>
          <a:xfrm>
            <a:off x="777240" y="3127248"/>
            <a:ext cx="365760" cy="365760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777240" y="312724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234440" y="312724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ENVIRONMENTAL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77240" y="3520440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40% lower asphalt carbon footprint; eliminates stop-and-go idling emissions caused by road damage bottlenecks.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794760" y="3017520"/>
            <a:ext cx="29718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3913632" y="312724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3913632" y="312724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370832" y="312724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C2C46"/>
                </a:solidFill>
                <a:latin typeface="Arial"/>
              </a:rPr>
              <a:t>ACCOUNTABILITY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3913632" y="3520440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>
                <a:solidFill>
                  <a:srgbClr val="5F6876"/>
                </a:solidFill>
                <a:latin typeface="Calibri"/>
              </a:defRPr>
            </a:pPr>
            <a:r>
              <a:t>Immutable PostGIS before/after geotagged audit logs provide automated proof-of-work, eliminating false contractor claims.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0" y="0"/>
            <a:ext cx="9144" cy="914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Arial"/>
              </a:rPr>
              <a:t>MEASURABLE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58368" y="4709160"/>
            <a:ext cx="10789920" cy="50292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777240" y="4782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🚀 Scalability: Phase 1: City Pilot (50 Buses) ➔ Phase 2: 10 Smart Cities &amp; PWD Fleets ➔ Phase 3: NHAI Data Lake &amp; PM GatiShakti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05182-C08B-2BCE-9F73-58DDDB94E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1" y="16599"/>
            <a:ext cx="1886213" cy="724001"/>
          </a:xfrm>
          <a:prstGeom prst="rect">
            <a:avLst/>
          </a:prstGeom>
        </p:spPr>
      </p:pic>
      <p:pic>
        <p:nvPicPr>
          <p:cNvPr id="17441" name="Picture 17440" descr="road_before_after_178755776036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371600"/>
            <a:ext cx="4389120" cy="2743200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7040880" y="41605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Calibri"/>
              </a:defRPr>
            </a:pPr>
            <a:r>
              <a:t>🔄 Automated Repair Validation: Before &amp; After AI Proof-of-Work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5836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41247" y="13898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859536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37160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IRC:82-2015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37160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Indian Roads Congress standard used for pavement distress classification.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0488" y="117043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373368" y="1389888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391655" y="139903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903720" y="13167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Ultralytics YOLOv8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03720" y="160934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Edge computer-vision architecture and real-time detection reference.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41247" y="2624328"/>
            <a:ext cx="384048" cy="384048"/>
          </a:xfrm>
          <a:prstGeom prst="ellipse">
            <a:avLst/>
          </a:prstGeom>
          <a:solidFill>
            <a:srgbClr val="6D4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59536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37160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ONNX Runtime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37160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INT8 quantization / edge inference reference.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0488" y="240487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373368" y="2624328"/>
            <a:ext cx="384048" cy="384048"/>
          </a:xfrm>
          <a:prstGeom prst="ellipse">
            <a:avLst/>
          </a:prstGeom>
          <a:solidFill>
            <a:srgbClr val="E08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391655" y="263347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903720" y="255117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DBSCAN — Ester et al.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03720" y="284378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Density-based spatial clustering methodology.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836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Oval 17431"/>
          <p:cNvSpPr/>
          <p:nvPr/>
        </p:nvSpPr>
        <p:spPr>
          <a:xfrm>
            <a:off x="841247" y="3858768"/>
            <a:ext cx="384048" cy="384048"/>
          </a:xfrm>
          <a:prstGeom prst="ellipse">
            <a:avLst/>
          </a:prstGeom>
          <a:solidFill>
            <a:srgbClr val="2A8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859536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37160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PostGIS Documentation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137160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Spatial indexing and geographic query capabilities.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90488" y="3639312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6373368" y="3858768"/>
            <a:ext cx="384048" cy="384048"/>
          </a:xfrm>
          <a:prstGeom prst="ellipse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6391655" y="3867912"/>
            <a:ext cx="3474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903720" y="3785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C2C46"/>
                </a:solidFill>
                <a:latin typeface="Arial"/>
              </a:rPr>
              <a:t>NRDMS / Urban GIS Guidelines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903720" y="4078224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5F6876"/>
                </a:solidFill>
                <a:latin typeface="Arial"/>
              </a:rPr>
              <a:t>Multi-source geospatial data integration context.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13232" y="50292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5F6876"/>
                </a:solidFill>
                <a:latin typeface="Calibri"/>
              </a:defRPr>
            </a:pPr>
            <a:r>
              <a:t>🇮🇳 Directly aligns with NHAI 40,000 km AI Dashcam Program, Smart Cities Mission, &amp; PM GatiShakti Spatial Framework.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C57FC-BFDF-723F-FFAF-E9B8AF496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97" y="124752"/>
            <a:ext cx="1784222" cy="588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AFCCB-A892-E3FC-36BB-278AC7EC1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58" y="327452"/>
            <a:ext cx="857900" cy="2070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538602-2A8A-A587-D269-BEBA767EDB6D}"/>
              </a:ext>
            </a:extLst>
          </p:cNvPr>
          <p:cNvSpPr txBox="1"/>
          <p:nvPr/>
        </p:nvSpPr>
        <p:spPr>
          <a:xfrm>
            <a:off x="502919" y="2617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  <a:latin typeface="Arial"/>
              </a:rPr>
              <a:t>VIGILANCE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 eaLnBrk="1" hangingPunct="1"/>
            <a:r>
              <a:rPr sz="3400" b="1" dirty="0">
                <a:solidFill>
                  <a:srgbClr val="1C2C46"/>
                </a:solidFill>
                <a:latin typeface="Times New Roman"/>
              </a:rPr>
              <a:t>TEAM MEMBERS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7122456D-0AB0-4DA2-9020-387E166693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3" y="120208"/>
            <a:ext cx="25921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VIGILANCE</a:t>
            </a:r>
            <a:endParaRPr lang="en-IN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9343" y="1389365"/>
          <a:ext cx="9427464" cy="4645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562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Reg.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Dept.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Sem.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Gender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Email id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Mobile no.</a:t>
                      </a:r>
                    </a:p>
                  </a:txBody>
                  <a:tcPr marL="68580" marR="68580" marT="0" marB="0">
                    <a:solidFill>
                      <a:srgbClr val="1C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91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Leader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Sanjeev Aryan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RA2511047010030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sa8129@srmist.edu.in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8102285766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Parth Jaina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RA2511047010069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pj2752@srmist.edu.in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9828285223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Dhiti Mahajan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RA2511056010060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DSBS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dm5223@srmist.edu.in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7339851899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Shubh Garg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RA2511047010023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sg8735@srmist.edu.in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8130763641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Prakhar Sharma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RA2511003010764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ps1158@srmist.edu.in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9235878237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Navdeep Rathe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RA2511003010177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nr8188@srmist.edu.in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9967580941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Faculty Mentor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Pavithra 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CINTEL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Female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pavithrl3@srmist.edu.in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9150551899</a:t>
                      </a:r>
                    </a:p>
                  </a:txBody>
                  <a:tcPr marL="68580" marR="6858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6876"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282F3A"/>
                          </a:solidFill>
                          <a:latin typeface="Arial"/>
                        </a:rPr>
                        <a:t>Industry Mentor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Dr. Kishore Anthuvan Sahayaraj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C-TECH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0">
                          <a:solidFill>
                            <a:srgbClr val="282F3A"/>
                          </a:solidFill>
                          <a:latin typeface="Arial"/>
                        </a:rPr>
                        <a:t>Male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kishorea1@srmist.edu.in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82F3A"/>
                          </a:solidFill>
                          <a:latin typeface="Arial"/>
                        </a:rPr>
                        <a:t>9043103219</a:t>
                      </a:r>
                    </a:p>
                  </a:txBody>
                  <a:tcPr marL="68580" marR="68580" marT="0" marB="0"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804" y="33038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4EE2D4-7CD6-2682-7994-4FF509287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7"/>
            <a:ext cx="12192000" cy="6357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999571-FD58-F7FF-69FD-9950C415F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97" y="60573"/>
            <a:ext cx="2624192" cy="10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2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7513</TotalTime>
  <Words>665</Words>
  <Application>Microsoft Office PowerPoint</Application>
  <PresentationFormat>Widescreen</PresentationFormat>
  <Paragraphs>214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  <vt:lpstr>TEAM MEMBERS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Harish Jain</cp:lastModifiedBy>
  <cp:revision>149</cp:revision>
  <dcterms:created xsi:type="dcterms:W3CDTF">2013-12-12T18:46:50Z</dcterms:created>
  <dcterms:modified xsi:type="dcterms:W3CDTF">2026-08-23T17:08:58Z</dcterms:modified>
  <cp:category/>
</cp:coreProperties>
</file>