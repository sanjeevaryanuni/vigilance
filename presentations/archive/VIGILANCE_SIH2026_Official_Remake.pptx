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F3939-67AC-4C2B-8C34-D685E5D68B0C}" v="3" dt="2026-08-23T16:49:55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 Jain" userId="830b26ebf093da50" providerId="LiveId" clId="{8DC1E187-E42A-4D57-BC2F-E1F33D2FFACD}"/>
    <pc:docChg chg="undo custSel modSld">
      <pc:chgData name="Harish Jain" userId="830b26ebf093da50" providerId="LiveId" clId="{8DC1E187-E42A-4D57-BC2F-E1F33D2FFACD}" dt="2026-08-23T17:08:53.496" v="96" actId="1076"/>
      <pc:docMkLst>
        <pc:docMk/>
      </pc:docMkLst>
      <pc:sldChg chg="addSp delSp modSp mod">
        <pc:chgData name="Harish Jain" userId="830b26ebf093da50" providerId="LiveId" clId="{8DC1E187-E42A-4D57-BC2F-E1F33D2FFACD}" dt="2026-08-23T17:08:17.776" v="92" actId="1076"/>
        <pc:sldMkLst>
          <pc:docMk/>
          <pc:sldMk cId="0" sldId="281"/>
        </pc:sldMkLst>
        <pc:spChg chg="del mod">
          <ac:chgData name="Harish Jain" userId="830b26ebf093da50" providerId="LiveId" clId="{8DC1E187-E42A-4D57-BC2F-E1F33D2FFACD}" dt="2026-08-23T17:08:09.481" v="87" actId="478"/>
          <ac:spMkLst>
            <pc:docMk/>
            <pc:sldMk cId="0" sldId="281"/>
            <ac:spMk id="10" creationId="{5DBCE864-823D-4A13-9607-5DA1F0ED5FB8}"/>
          </ac:spMkLst>
        </pc:spChg>
        <pc:spChg chg="mod">
          <ac:chgData name="Harish Jain" userId="830b26ebf093da50" providerId="LiveId" clId="{8DC1E187-E42A-4D57-BC2F-E1F33D2FFACD}" dt="2026-08-23T16:51:07.104" v="44" actId="122"/>
          <ac:spMkLst>
            <pc:docMk/>
            <pc:sldMk cId="0" sldId="281"/>
            <ac:spMk id="15361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7:08:12.202" v="90"/>
          <ac:spMkLst>
            <pc:docMk/>
            <pc:sldMk cId="0" sldId="281"/>
            <ac:spMk id="15363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17.776" v="92" actId="1076"/>
          <ac:picMkLst>
            <pc:docMk/>
            <pc:sldMk cId="0" sldId="281"/>
            <ac:picMk id="3" creationId="{8E8C2E20-784A-18AC-AB73-62A4E55D2326}"/>
          </ac:picMkLst>
        </pc:picChg>
      </pc:sldChg>
      <pc:sldChg chg="addSp delSp modSp mod">
        <pc:chgData name="Harish Jain" userId="830b26ebf093da50" providerId="LiveId" clId="{8DC1E187-E42A-4D57-BC2F-E1F33D2FFACD}" dt="2026-08-23T17:08:04.984" v="86" actId="1076"/>
        <pc:sldMkLst>
          <pc:docMk/>
          <pc:sldMk cId="0" sldId="290"/>
        </pc:sldMkLst>
        <pc:spChg chg="del mod">
          <ac:chgData name="Harish Jain" userId="830b26ebf093da50" providerId="LiveId" clId="{8DC1E187-E42A-4D57-BC2F-E1F33D2FFACD}" dt="2026-08-23T17:08:00.020" v="84" actId="478"/>
          <ac:spMkLst>
            <pc:docMk/>
            <pc:sldMk cId="0" sldId="290"/>
            <ac:spMk id="11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3:50.666" v="52" actId="122"/>
          <ac:spMkLst>
            <pc:docMk/>
            <pc:sldMk cId="0" sldId="290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04.984" v="86" actId="1076"/>
          <ac:picMkLst>
            <pc:docMk/>
            <pc:sldMk cId="0" sldId="290"/>
            <ac:picMk id="3" creationId="{2417F204-FCAE-2914-6720-08DB6B712A6F}"/>
          </ac:picMkLst>
        </pc:picChg>
      </pc:sldChg>
      <pc:sldChg chg="addSp delSp modSp mod">
        <pc:chgData name="Harish Jain" userId="830b26ebf093da50" providerId="LiveId" clId="{8DC1E187-E42A-4D57-BC2F-E1F33D2FFACD}" dt="2026-08-23T16:59:55.615" v="46" actId="478"/>
        <pc:sldMkLst>
          <pc:docMk/>
          <pc:sldMk cId="0" sldId="291"/>
        </pc:sldMkLst>
        <pc:spChg chg="mod">
          <ac:chgData name="Harish Jain" userId="830b26ebf093da50" providerId="LiveId" clId="{8DC1E187-E42A-4D57-BC2F-E1F33D2FFACD}" dt="2026-08-23T16:50:50.289" v="42" actId="122"/>
          <ac:spMkLst>
            <pc:docMk/>
            <pc:sldMk cId="0" sldId="291"/>
            <ac:spMk id="4" creationId="{00000000-0000-0000-0000-000000000000}"/>
          </ac:spMkLst>
        </pc:spChg>
        <pc:spChg chg="add del">
          <ac:chgData name="Harish Jain" userId="830b26ebf093da50" providerId="LiveId" clId="{8DC1E187-E42A-4D57-BC2F-E1F33D2FFACD}" dt="2026-08-23T16:48:24.733" v="3" actId="22"/>
          <ac:spMkLst>
            <pc:docMk/>
            <pc:sldMk cId="0" sldId="291"/>
            <ac:spMk id="6" creationId="{0909B4A3-2FB3-4D9E-6592-3E4C9BE09B94}"/>
          </ac:spMkLst>
        </pc:spChg>
        <pc:spChg chg="mod">
          <ac:chgData name="Harish Jain" userId="830b26ebf093da50" providerId="LiveId" clId="{8DC1E187-E42A-4D57-BC2F-E1F33D2FFACD}" dt="2026-08-23T16:50:55.976" v="43" actId="122"/>
          <ac:spMkLst>
            <pc:docMk/>
            <pc:sldMk cId="0" sldId="291"/>
            <ac:spMk id="8" creationId="{00000000-0000-0000-0000-000000000000}"/>
          </ac:spMkLst>
        </pc:spChg>
        <pc:spChg chg="add mod">
          <ac:chgData name="Harish Jain" userId="830b26ebf093da50" providerId="LiveId" clId="{8DC1E187-E42A-4D57-BC2F-E1F33D2FFACD}" dt="2026-08-23T16:50:40.976" v="41" actId="120"/>
          <ac:spMkLst>
            <pc:docMk/>
            <pc:sldMk cId="0" sldId="291"/>
            <ac:spMk id="9" creationId="{5F21806A-19BD-2C4C-A982-1686EC2BB4FD}"/>
          </ac:spMkLst>
        </pc:spChg>
        <pc:spChg chg="del mod">
          <ac:chgData name="Harish Jain" userId="830b26ebf093da50" providerId="LiveId" clId="{8DC1E187-E42A-4D57-BC2F-E1F33D2FFACD}" dt="2026-08-23T16:49:31.944" v="18"/>
          <ac:spMkLst>
            <pc:docMk/>
            <pc:sldMk cId="0" sldId="291"/>
            <ac:spMk id="10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6:49:31.945" v="20"/>
          <ac:spMkLst>
            <pc:docMk/>
            <pc:sldMk cId="0" sldId="291"/>
            <ac:spMk id="38" creationId="{00000000-0000-0000-0000-000000000000}"/>
          </ac:spMkLst>
        </pc:spChg>
        <pc:spChg chg="del">
          <ac:chgData name="Harish Jain" userId="830b26ebf093da50" providerId="LiveId" clId="{8DC1E187-E42A-4D57-BC2F-E1F33D2FFACD}" dt="2026-08-23T16:49:31.942" v="16" actId="478"/>
          <ac:spMkLst>
            <pc:docMk/>
            <pc:sldMk cId="0" sldId="291"/>
            <ac:spMk id="39" creationId="{00000000-0000-0000-0000-000000000000}"/>
          </ac:spMkLst>
        </pc:spChg>
        <pc:picChg chg="add del">
          <ac:chgData name="Harish Jain" userId="830b26ebf093da50" providerId="LiveId" clId="{8DC1E187-E42A-4D57-BC2F-E1F33D2FFACD}" dt="2026-08-23T16:59:55.615" v="46" actId="478"/>
          <ac:picMkLst>
            <pc:docMk/>
            <pc:sldMk cId="0" sldId="291"/>
            <ac:picMk id="12" creationId="{28C2370E-7706-CDC0-787A-5F5D9D9C5B8F}"/>
          </ac:picMkLst>
        </pc:picChg>
      </pc:sldChg>
      <pc:sldChg chg="addSp delSp modSp mod">
        <pc:chgData name="Harish Jain" userId="830b26ebf093da50" providerId="LiveId" clId="{8DC1E187-E42A-4D57-BC2F-E1F33D2FFACD}" dt="2026-08-23T17:07:49.165" v="82" actId="1076"/>
        <pc:sldMkLst>
          <pc:docMk/>
          <pc:sldMk cId="3753387913" sldId="293"/>
        </pc:sldMkLst>
        <pc:spChg chg="del mod">
          <ac:chgData name="Harish Jain" userId="830b26ebf093da50" providerId="LiveId" clId="{8DC1E187-E42A-4D57-BC2F-E1F33D2FFACD}" dt="2026-08-23T17:07:41.558" v="80" actId="478"/>
          <ac:spMkLst>
            <pc:docMk/>
            <pc:sldMk cId="3753387913" sldId="293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02.004" v="53" actId="122"/>
          <ac:spMkLst>
            <pc:docMk/>
            <pc:sldMk cId="3753387913" sldId="293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49.165" v="82" actId="1076"/>
          <ac:picMkLst>
            <pc:docMk/>
            <pc:sldMk cId="3753387913" sldId="293"/>
            <ac:picMk id="3" creationId="{8C7FF515-EEFC-ED54-8D37-64E4C455AB55}"/>
          </ac:picMkLst>
        </pc:picChg>
      </pc:sldChg>
      <pc:sldChg chg="addSp delSp modSp mod">
        <pc:chgData name="Harish Jain" userId="830b26ebf093da50" providerId="LiveId" clId="{8DC1E187-E42A-4D57-BC2F-E1F33D2FFACD}" dt="2026-08-23T17:07:34.848" v="78" actId="1076"/>
        <pc:sldMkLst>
          <pc:docMk/>
          <pc:sldMk cId="2997144140" sldId="294"/>
        </pc:sldMkLst>
        <pc:spChg chg="del mod">
          <ac:chgData name="Harish Jain" userId="830b26ebf093da50" providerId="LiveId" clId="{8DC1E187-E42A-4D57-BC2F-E1F33D2FFACD}" dt="2026-08-23T17:07:30.214" v="76" actId="478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10.422" v="54" actId="122"/>
          <ac:spMkLst>
            <pc:docMk/>
            <pc:sldMk cId="2997144140" sldId="294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34.848" v="78" actId="1076"/>
          <ac:picMkLst>
            <pc:docMk/>
            <pc:sldMk cId="2997144140" sldId="294"/>
            <ac:picMk id="3" creationId="{74105182-C08B-2BCE-9F73-58DDDB94ED6B}"/>
          </ac:picMkLst>
        </pc:picChg>
      </pc:sldChg>
      <pc:sldChg chg="addSp delSp modSp mod">
        <pc:chgData name="Harish Jain" userId="830b26ebf093da50" providerId="LiveId" clId="{8DC1E187-E42A-4D57-BC2F-E1F33D2FFACD}" dt="2026-08-23T17:07:15.755" v="74" actId="1076"/>
        <pc:sldMkLst>
          <pc:docMk/>
          <pc:sldMk cId="3916788613" sldId="296"/>
        </pc:sldMkLst>
        <pc:spChg chg="del mod">
          <ac:chgData name="Harish Jain" userId="830b26ebf093da50" providerId="LiveId" clId="{8DC1E187-E42A-4D57-BC2F-E1F33D2FFACD}" dt="2026-08-23T17:05:36.312" v="62" actId="478"/>
          <ac:spMkLst>
            <pc:docMk/>
            <pc:sldMk cId="3916788613" sldId="296"/>
            <ac:spMk id="9" creationId="{5DBCE864-823D-4A13-9607-5DA1F0ED5FB8}"/>
          </ac:spMkLst>
        </pc:spChg>
        <pc:spChg chg="add mod">
          <ac:chgData name="Harish Jain" userId="830b26ebf093da50" providerId="LiveId" clId="{8DC1E187-E42A-4D57-BC2F-E1F33D2FFACD}" dt="2026-08-23T17:07:15.755" v="74" actId="1076"/>
          <ac:spMkLst>
            <pc:docMk/>
            <pc:sldMk cId="3916788613" sldId="296"/>
            <ac:spMk id="11" creationId="{D8538602-2A8A-A587-D269-BEBA767EDB6D}"/>
          </ac:spMkLst>
        </pc:spChg>
        <pc:spChg chg="mod">
          <ac:chgData name="Harish Jain" userId="830b26ebf093da50" providerId="LiveId" clId="{8DC1E187-E42A-4D57-BC2F-E1F33D2FFACD}" dt="2026-08-23T17:04:16.995" v="55" actId="122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Harish Jain" userId="830b26ebf093da50" providerId="LiveId" clId="{8DC1E187-E42A-4D57-BC2F-E1F33D2FFACD}" dt="2026-08-23T17:05:41.080" v="65" actId="1076"/>
          <ac:spMkLst>
            <pc:docMk/>
            <pc:sldMk cId="3916788613" sldId="296"/>
            <ac:spMk id="17421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5:50.924" v="68" actId="1076"/>
          <ac:picMkLst>
            <pc:docMk/>
            <pc:sldMk cId="3916788613" sldId="296"/>
            <ac:picMk id="3" creationId="{1D8C57FC-BFDF-723F-FFAF-E9B8AF4969A0}"/>
          </ac:picMkLst>
        </pc:picChg>
        <pc:picChg chg="add mod">
          <ac:chgData name="Harish Jain" userId="830b26ebf093da50" providerId="LiveId" clId="{8DC1E187-E42A-4D57-BC2F-E1F33D2FFACD}" dt="2026-08-23T17:06:13.023" v="71" actId="1076"/>
          <ac:picMkLst>
            <pc:docMk/>
            <pc:sldMk cId="3916788613" sldId="296"/>
            <ac:picMk id="5" creationId="{092AFCCB-A892-E3FC-36BB-278AC7EC179D}"/>
          </ac:picMkLst>
        </pc:picChg>
      </pc:sldChg>
      <pc:sldChg chg="addSp modSp mod">
        <pc:chgData name="Harish Jain" userId="830b26ebf093da50" providerId="LiveId" clId="{8DC1E187-E42A-4D57-BC2F-E1F33D2FFACD}" dt="2026-08-23T17:08:53.496" v="96" actId="1076"/>
        <pc:sldMkLst>
          <pc:docMk/>
          <pc:sldMk cId="4027024697" sldId="298"/>
        </pc:sldMkLst>
        <pc:picChg chg="add mod">
          <ac:chgData name="Harish Jain" userId="830b26ebf093da50" providerId="LiveId" clId="{8DC1E187-E42A-4D57-BC2F-E1F33D2FFACD}" dt="2026-08-23T17:05:03.756" v="59" actId="14100"/>
          <ac:picMkLst>
            <pc:docMk/>
            <pc:sldMk cId="4027024697" sldId="298"/>
            <ac:picMk id="4" creationId="{904EE2D4-7CD6-2682-7994-4FF509287F5E}"/>
          </ac:picMkLst>
        </pc:picChg>
        <pc:picChg chg="add mod">
          <ac:chgData name="Harish Jain" userId="830b26ebf093da50" providerId="LiveId" clId="{8DC1E187-E42A-4D57-BC2F-E1F33D2FFACD}" dt="2026-08-23T17:08:53.496" v="96" actId="1076"/>
          <ac:picMkLst>
            <pc:docMk/>
            <pc:sldMk cId="4027024697" sldId="298"/>
            <ac:picMk id="8" creationId="{47999571-FD58-F7FF-69FD-9950C415F4E2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622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t"/>
          <a:lstStyle/>
          <a:p>
            <a:pPr>
              <a:defRPr sz="4000" b="1">
                <a:solidFill>
                  <a:srgbClr val="1C2C46"/>
                </a:solidFill>
                <a:latin typeface="Calibri"/>
              </a:defRPr>
            </a:pPr>
            <a:r>
              <a:t>VIGILANCE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74236" y="1500"/>
            <a:ext cx="10363200" cy="2076450"/>
          </a:xfrm>
        </p:spPr>
        <p:txBody>
          <a:bodyPr wrap="square" anchor="t"/>
          <a:lstStyle/>
          <a:p>
            <a:pPr>
              <a:defRPr sz="2200" b="1">
                <a:solidFill>
                  <a:srgbClr val="2563EB"/>
                </a:solidFill>
                <a:latin typeface="Calibri"/>
              </a:defRPr>
            </a:pPr>
            <a:r>
              <a:rPr sz="3400" b="1" dirty="0">
                <a:solidFill>
                  <a:srgbClr val="1C2C46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21806A-19BD-2C4C-A982-1686EC2BB4FD}"/>
              </a:ext>
            </a:extLst>
          </p:cNvPr>
          <p:cNvSpPr txBox="1"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200">
                <a:solidFill>
                  <a:srgbClr val="1C2C46"/>
                </a:solidFill>
                <a:latin typeface="Calibri"/>
              </a:rPr>
              <a:t>Problem Statement ID: </a:t>
            </a:r>
            <a:r>
              <a:rPr b="1" sz="1200">
                <a:solidFill>
                  <a:srgbClr val="2563EB"/>
                </a:solidFill>
                <a:latin typeface="Calibri"/>
              </a:rPr>
              <a:t>SIH26013</a:t>
            </a:r>
            <a:endParaRPr lang="en-US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200">
                <a:solidFill>
                  <a:srgbClr val="1C2C46"/>
                </a:solidFill>
                <a:latin typeface="Calibri"/>
              </a:rPr>
              <a:t>Problem Statement Title: </a:t>
            </a:r>
            <a:r>
              <a:rPr b="0" sz="1200">
                <a:solidFill>
                  <a:srgbClr val="5F6876"/>
                </a:solidFill>
                <a:latin typeface="Calibri"/>
              </a:rPr>
              <a:t>Automated Integration &amp; Intelligent Harmonization of Multi-source Geospatial Data for Urban Land Record &amp; Infrastructure Management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200">
                <a:solidFill>
                  <a:srgbClr val="1C2C46"/>
                </a:solidFill>
                <a:latin typeface="Calibri"/>
              </a:rPr>
              <a:t>Theme: </a:t>
            </a:r>
            <a:r>
              <a:rPr b="0" sz="1200">
                <a:solidFill>
                  <a:srgbClr val="5F6876"/>
                </a:solidFill>
                <a:latin typeface="Calibri"/>
              </a:rPr>
              <a:t>Smart Transportation &amp; Public Infrastructure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200">
                <a:solidFill>
                  <a:srgbClr val="1C2C46"/>
                </a:solidFill>
                <a:latin typeface="Calibri"/>
              </a:rPr>
              <a:t>PS Category: </a:t>
            </a:r>
            <a:r>
              <a:rPr b="1" sz="1200">
                <a:solidFill>
                  <a:srgbClr val="2563EB"/>
                </a:solidFill>
                <a:latin typeface="Calibri"/>
              </a:rPr>
              <a:t>Software Edition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200">
                <a:solidFill>
                  <a:srgbClr val="1C2C46"/>
                </a:solidFill>
                <a:latin typeface="Calibri"/>
              </a:rPr>
              <a:t>Team Name: </a:t>
            </a:r>
            <a:r>
              <a:rPr b="1" sz="1200">
                <a:solidFill>
                  <a:srgbClr val="2563EB"/>
                </a:solidFill>
                <a:latin typeface="Calibri"/>
              </a:rPr>
              <a:t>VIGILANCE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200">
                <a:solidFill>
                  <a:srgbClr val="1C2C46"/>
                </a:solidFill>
                <a:latin typeface="Calibri"/>
              </a:rPr>
              <a:t>Institute: </a:t>
            </a:r>
            <a:r>
              <a:rPr b="0" sz="1200">
                <a:solidFill>
                  <a:srgbClr val="5F6876"/>
                </a:solidFill>
                <a:latin typeface="Calibri"/>
              </a:rPr>
              <a:t>SRM Institute of Science and Technology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200">
                <a:solidFill>
                  <a:srgbClr val="1C2C46"/>
                </a:solidFill>
                <a:latin typeface="Calibri"/>
              </a:rPr>
              <a:t>Core Innovation: </a:t>
            </a:r>
            <a:r>
              <a:rPr b="0" sz="1200">
                <a:solidFill>
                  <a:srgbClr val="5F6876"/>
                </a:solidFill>
                <a:latin typeface="Calibri"/>
              </a:rPr>
              <a:t>Low-cost Edge AI Municipal Road Infrastructure Audit Grid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1371600"/>
            <a:ext cx="512064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ndian_road_potholes_178755760744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463040"/>
            <a:ext cx="4937760" cy="32918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0" y="48006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DC2626"/>
                </a:solidFill>
                <a:latin typeface="Calibri"/>
              </a:defRPr>
            </a:pPr>
            <a:r>
              <a:t>⚠️ 9,438 Indian pothole fatalities (2020–2024, Lok Sabha). VIGILANCE turns municipal fleets into live road safety audit nodes.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t"/>
          <a:lstStyle/>
          <a:p>
            <a:pPr>
              <a:defRPr sz="2400" b="1">
                <a:solidFill>
                  <a:srgbClr val="1C2C46"/>
                </a:solidFill>
                <a:latin typeface="Calibri"/>
              </a:defRPr>
            </a:pPr>
            <a:r>
              <a:t>IDEA TITLE — VIGILANCE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i="1">
                <a:solidFill>
                  <a:srgbClr val="232D3C"/>
                </a:solidFill>
                <a:latin typeface="Calibri"/>
              </a:defRPr>
            </a:pPr>
            <a:r>
              <a:t>Passive, Always-On Road Health Intelligence Grid Powered by Edge-AI &amp; Geospatial Harmonization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Oval 15365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PROPOSED SOLUTION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Low-cost cameras on buses, garbage trucks and police vehicles continuously capture road conditions.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Oval 15370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TextBox 1537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YOLOv8 detects defects; geospatial harmonization removes duplicates; RPI ranks repairs.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Oval 15375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TextBox 1537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6"/>
                </a:solidFill>
                <a:latin typeface="Arial"/>
              </a:rPr>
              <a:t>Uses routes that already exist to create a city-wide, continuously updated road-intelligence grid.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TextBox 15380"/>
          <p:cNvSpPr txBox="1"/>
          <p:nvPr/>
        </p:nvSpPr>
        <p:spPr>
          <a:xfrm>
            <a:off x="868680" y="4700016"/>
            <a:ext cx="104058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Existing fleet → Edge AI → Unified GIS incident → Repair priority → Municipal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8C2E20-784A-18AC-AB73-62A4E55D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84"/>
            <a:ext cx="1886213" cy="724001"/>
          </a:xfrm>
          <a:prstGeom prst="rect">
            <a:avLst/>
          </a:prstGeom>
        </p:spPr>
      </p:pic>
      <p:sp>
        <p:nvSpPr>
          <p:cNvPr id="15382" name="Rounded Rectangle 15381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Oval 15382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1188720" y="1444752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PROPOSED SOLUTION</a:t>
            </a:r>
          </a:p>
          <a:p>
            <a:pPr>
              <a:lnSpc>
                <a:spcPct val="115000"/>
              </a:lnSpc>
              <a:defRPr sz="950">
                <a:solidFill>
                  <a:srgbClr val="5F6876"/>
                </a:solidFill>
                <a:latin typeface="Calibri"/>
              </a:defRPr>
            </a:pPr>
            <a:r>
              <a:t>Sub-₹3,000 smart camera units mounted on existing municipal buses, garbage trucks &amp; patrol vehicles passively scan road networks at 15 FPS during normal daily routes.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Oval 15385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1188720" y="2496312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MECHANISM &amp; DEDUPLICATION</a:t>
            </a:r>
          </a:p>
          <a:p>
            <a:pPr>
              <a:lnSpc>
                <a:spcPct val="115000"/>
              </a:lnSpc>
              <a:defRPr sz="950">
                <a:solidFill>
                  <a:srgbClr val="5F6876"/>
                </a:solidFill>
                <a:latin typeface="Calibri"/>
              </a:defRPr>
            </a:pPr>
            <a:r>
              <a:t>Edge YOLOv8 INT8 model detects potholes/cracks at 30 FPS. 3m DBSCAN spatial clustering merges multi-vehicle passes into unified master incidents.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Oval 15388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1188720" y="3547872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INNOVATION &amp; ECONOMIC MOAT</a:t>
            </a:r>
          </a:p>
          <a:p>
            <a:pPr>
              <a:lnSpc>
                <a:spcPct val="115000"/>
              </a:lnSpc>
              <a:defRPr sz="950">
                <a:solidFill>
                  <a:srgbClr val="5F6876"/>
                </a:solidFill>
                <a:latin typeface="Calibri"/>
              </a:defRPr>
            </a:pPr>
            <a:r>
              <a:t>Zero dedicated survey fleet needed. Converts 63 lakh km of existing transit routes into a 24x7 automated road audit grid, replacing slow &amp; costly manual surveys.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7040880" y="1371600"/>
            <a:ext cx="448056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92" name="Picture 15391" descr="bus_camera_setup_178755763262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444752"/>
            <a:ext cx="4297680" cy="2468880"/>
          </a:xfrm>
          <a:prstGeom prst="rect">
            <a:avLst/>
          </a:prstGeom>
        </p:spPr>
      </p:pic>
      <p:sp>
        <p:nvSpPr>
          <p:cNvPr id="15393" name="TextBox 15392"/>
          <p:cNvSpPr txBox="1"/>
          <p:nvPr/>
        </p:nvSpPr>
        <p:spPr>
          <a:xfrm>
            <a:off x="7132320" y="393192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📷 Deployed Municipal Fleet Edge Camera Unit (Real-Time Road AI Vision)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658368" y="4617720"/>
            <a:ext cx="10881360" cy="54864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TextBox 15394"/>
          <p:cNvSpPr txBox="1"/>
          <p:nvPr/>
        </p:nvSpPr>
        <p:spPr>
          <a:xfrm>
            <a:off x="777240" y="4681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Calibri"/>
              </a:defRPr>
            </a:pPr>
            <a:r>
              <a:t>Existing Fleet (Buses/Trucks) ➔ Edge YOLOv8 ➔ 3m DBSCAN Spatial Dedup ➔ PostGIS RPI Index ➔ Municipal PWD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>
              <a:defRPr sz="2400" b="1">
                <a:solidFill>
                  <a:srgbClr val="1C2C46"/>
                </a:solidFill>
                <a:latin typeface="Calibri"/>
              </a:defRPr>
            </a:pPr>
            <a:r>
              <a:rPr sz="3400" b="1" dirty="0">
                <a:solidFill>
                  <a:srgbClr val="1C2C46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Oval 17412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Next.js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Leaflet.js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Mapbox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Oval 17424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TW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Tailwind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Oval 17428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FastAPI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WebSockets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Celery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Oval 17440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PG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PostgreSQL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Oval 17444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GIS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Oval 17448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Redis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Oval 17452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Oval 17456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ON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ONNX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Oval 17460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TextBox 1746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Flutter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Oval 17464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6" name="TextBox 17465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SQLite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METHODOLOGY / IMPLEMENTATION FLOW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0" name="TextBox 1746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Fleet Camera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GPS + IMU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2286000" y="4361688"/>
            <a:ext cx="402336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Rounded Rectangle 17472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TextBox 1747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Defect detection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4370832" y="4361688"/>
            <a:ext cx="402336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Rounded Rectangle 17476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D4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8" name="TextBox 1747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DBSCAN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3 m deduplication</a:t>
            </a:r>
          </a:p>
        </p:txBody>
      </p:sp>
      <p:cxnSp>
        <p:nvCxnSpPr>
          <p:cNvPr id="17480" name="Connector 17479"/>
          <p:cNvCxnSpPr/>
          <p:nvPr/>
        </p:nvCxnSpPr>
        <p:spPr>
          <a:xfrm>
            <a:off x="6455664" y="4361688"/>
            <a:ext cx="402336" cy="0"/>
          </a:xfrm>
          <a:prstGeom prst="line">
            <a:avLst/>
          </a:prstGeom>
          <a:ln w="25400">
            <a:solidFill>
              <a:srgbClr val="6D4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1" name="Rounded Rectangle 17480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2" name="TextBox 1748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Master incident</a:t>
            </a:r>
          </a:p>
        </p:txBody>
      </p:sp>
      <p:cxnSp>
        <p:nvCxnSpPr>
          <p:cNvPr id="17484" name="Connector 17483"/>
          <p:cNvCxnSpPr/>
          <p:nvPr/>
        </p:nvCxnSpPr>
        <p:spPr>
          <a:xfrm>
            <a:off x="8540496" y="4361688"/>
            <a:ext cx="402336" cy="0"/>
          </a:xfrm>
          <a:prstGeom prst="line">
            <a:avLst/>
          </a:prstGeom>
          <a:ln w="25400">
            <a:solidFill>
              <a:srgbClr val="E0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5" name="Rounded Rectangle 17484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6" name="TextBox 17485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RPI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Repair dispatch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30" b="1">
                <a:solidFill>
                  <a:srgbClr val="5F6876"/>
                </a:solidFill>
                <a:latin typeface="Arial"/>
              </a:rPr>
              <a:t>Real-time telemetry • asynchronous processing • offline SQLite buffer • live municipal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7F204-FCAE-2914-6720-08DB6B712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6" y="-1905"/>
            <a:ext cx="1886213" cy="724001"/>
          </a:xfrm>
          <a:prstGeom prst="rect">
            <a:avLst/>
          </a:prstGeom>
        </p:spPr>
      </p:pic>
      <p:sp>
        <p:nvSpPr>
          <p:cNvPr id="17489" name="Rounded Rectangle 17488"/>
          <p:cNvSpPr/>
          <p:nvPr/>
        </p:nvSpPr>
        <p:spPr>
          <a:xfrm>
            <a:off x="658368" y="1097280"/>
            <a:ext cx="612648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0" name="TextBox 17489"/>
          <p:cNvSpPr txBox="1"/>
          <p:nvPr/>
        </p:nvSpPr>
        <p:spPr>
          <a:xfrm>
            <a:off x="777240" y="1170432"/>
            <a:ext cx="5852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2563EB"/>
                </a:solidFill>
                <a:latin typeface="Calibri"/>
              </a:defRPr>
            </a:pPr>
            <a:r>
              <a:t>🛠️ CATEGORIZED TECHNOLOGY STACK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C2C46"/>
                </a:solidFill>
                <a:latin typeface="Calibri"/>
              </a:rPr>
              <a:t>• Edge Perception: </a:t>
            </a:r>
            <a:r>
              <a:rPr sz="950">
                <a:solidFill>
                  <a:srgbClr val="5F6876"/>
                </a:solidFill>
                <a:latin typeface="Calibri"/>
              </a:rPr>
              <a:t>YOLOv8 (INT8 Quantized) • ONNX Runtime • SQLite FIFO Buffer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C2C46"/>
                </a:solidFill>
                <a:latin typeface="Calibri"/>
              </a:rPr>
              <a:t>• Backend Compute: </a:t>
            </a:r>
            <a:r>
              <a:rPr sz="950">
                <a:solidFill>
                  <a:srgbClr val="5F6876"/>
                </a:solidFill>
                <a:latin typeface="Calibri"/>
              </a:rPr>
              <a:t>FastAPI • Redis Queue • Celery Asynchronous Workers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C2C46"/>
                </a:solidFill>
                <a:latin typeface="Calibri"/>
              </a:rPr>
              <a:t>• Spatial Database: </a:t>
            </a:r>
            <a:r>
              <a:rPr sz="950">
                <a:solidFill>
                  <a:srgbClr val="5F6876"/>
                </a:solidFill>
                <a:latin typeface="Calibri"/>
              </a:rPr>
              <a:t>PostgreSQL 15 • PostGIS (R-Tree Spatial Indexing)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C2C46"/>
                </a:solidFill>
                <a:latin typeface="Calibri"/>
              </a:rPr>
              <a:t>• WebGIS Dashboard: </a:t>
            </a:r>
            <a:r>
              <a:rPr sz="950">
                <a:solidFill>
                  <a:srgbClr val="5F6876"/>
                </a:solidFill>
                <a:latin typeface="Calibri"/>
              </a:rPr>
              <a:t>Next.js 14 • Mapbox GL • Leaflet.js • Tailwind CSS</a:t>
            </a:r>
          </a:p>
        </p:txBody>
      </p:sp>
      <p:sp>
        <p:nvSpPr>
          <p:cNvPr id="17491" name="Rounded Rectangle 17490"/>
          <p:cNvSpPr/>
          <p:nvPr/>
        </p:nvSpPr>
        <p:spPr>
          <a:xfrm>
            <a:off x="658368" y="2880360"/>
            <a:ext cx="61264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2" name="TextBox 17491"/>
          <p:cNvSpPr txBox="1"/>
          <p:nvPr/>
        </p:nvSpPr>
        <p:spPr>
          <a:xfrm>
            <a:off x="777240" y="2944368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2563EB"/>
                </a:solidFill>
                <a:latin typeface="Calibri"/>
              </a:defRPr>
            </a:pPr>
            <a:r>
              <a:t>🔄 5-STEP METHODOLOGY PIPELINE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1C2C46"/>
                </a:solidFill>
                <a:latin typeface="Calibri"/>
              </a:rPr>
              <a:t>1. Fleet Camera: </a:t>
            </a:r>
            <a:r>
              <a:rPr sz="900">
                <a:solidFill>
                  <a:srgbClr val="5F6876"/>
                </a:solidFill>
                <a:latin typeface="Calibri"/>
              </a:rPr>
              <a:t>1080p @ 15 FPS video stream + GPS/IMU timestamp telemetry.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1C2C46"/>
                </a:solidFill>
                <a:latin typeface="Calibri"/>
              </a:rPr>
              <a:t>2. Edge YOLOv8: </a:t>
            </a:r>
            <a:r>
              <a:rPr sz="900">
                <a:solidFill>
                  <a:srgbClr val="5F6876"/>
                </a:solidFill>
                <a:latin typeface="Calibri"/>
              </a:rPr>
              <a:t>INT8 model classifies potholes &amp; longitudinal cracks (&gt;0.60 conf).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1C2C46"/>
                </a:solidFill>
                <a:latin typeface="Calibri"/>
              </a:rPr>
              <a:t>3. 3m DBSCAN: </a:t>
            </a:r>
            <a:r>
              <a:rPr sz="900">
                <a:solidFill>
                  <a:srgbClr val="5F6876"/>
                </a:solidFill>
                <a:latin typeface="Calibri"/>
              </a:rPr>
              <a:t>Spatial clustering merges multi-vehicle passes into one master record.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1C2C46"/>
                </a:solidFill>
                <a:latin typeface="Calibri"/>
              </a:rPr>
              <a:t>4. PostGIS Store: </a:t>
            </a:r>
            <a:r>
              <a:rPr sz="900">
                <a:solidFill>
                  <a:srgbClr val="5F6876"/>
                </a:solidFill>
                <a:latin typeface="Calibri"/>
              </a:rPr>
              <a:t>Geospatial indexing matches municipal ward boundaries and road IDs.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1C2C46"/>
                </a:solidFill>
                <a:latin typeface="Calibri"/>
              </a:rPr>
              <a:t>5. RPI Dispatch: </a:t>
            </a:r>
            <a:r>
              <a:rPr sz="900">
                <a:solidFill>
                  <a:srgbClr val="5F6876"/>
                </a:solidFill>
                <a:latin typeface="Calibri"/>
              </a:rPr>
              <a:t>Road Priority Index auto-generates PWD work-orders based on severity.</a:t>
            </a:r>
          </a:p>
        </p:txBody>
      </p:sp>
      <p:sp>
        <p:nvSpPr>
          <p:cNvPr id="17493" name="Rounded Rectangle 17492"/>
          <p:cNvSpPr/>
          <p:nvPr/>
        </p:nvSpPr>
        <p:spPr>
          <a:xfrm>
            <a:off x="6949440" y="1097280"/>
            <a:ext cx="457200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94" name="Picture 17493" descr="gis_dashboard_heatmap_17875577463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170432"/>
            <a:ext cx="4389120" cy="2880360"/>
          </a:xfrm>
          <a:prstGeom prst="rect">
            <a:avLst/>
          </a:prstGeom>
        </p:spPr>
      </p:pic>
      <p:sp>
        <p:nvSpPr>
          <p:cNvPr id="17495" name="TextBox 17494"/>
          <p:cNvSpPr txBox="1"/>
          <p:nvPr/>
        </p:nvSpPr>
        <p:spPr>
          <a:xfrm>
            <a:off x="7040880" y="40690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Calibri"/>
              </a:defRPr>
            </a:pPr>
            <a:r>
              <a:t>🖥️ Live Municipal GIS Web Dashboard (Heatmaps &amp; Auto-Dispatch)</a:t>
            </a:r>
          </a:p>
        </p:txBody>
      </p:sp>
      <p:sp>
        <p:nvSpPr>
          <p:cNvPr id="17496" name="Rounded Rectangle 17495"/>
          <p:cNvSpPr/>
          <p:nvPr/>
        </p:nvSpPr>
        <p:spPr>
          <a:xfrm>
            <a:off x="658368" y="4617720"/>
            <a:ext cx="10881360" cy="54864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7" name="TextBox 17496"/>
          <p:cNvSpPr txBox="1"/>
          <p:nvPr/>
        </p:nvSpPr>
        <p:spPr>
          <a:xfrm>
            <a:off x="777240" y="4681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D700"/>
                </a:solidFill>
                <a:latin typeface="Calibri"/>
              </a:defRPr>
            </a:pPr>
            <a:r>
              <a:t>⚡ Real-time Telemetry (&lt;1KB JSON) • Asynchronous Celery + Redis • Offline SQLite Buffer • Aligns with NHAI 40,000 km AI Dashcam Initiative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>
              <a:defRPr sz="2400" b="1">
                <a:solidFill>
                  <a:srgbClr val="1C2C46"/>
                </a:solidFill>
                <a:latin typeface="Calibri"/>
              </a:defRPr>
            </a:pPr>
            <a:r>
              <a:rPr sz="3400" b="1" dirty="0">
                <a:solidFill>
                  <a:srgbClr val="1C2C46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FEASIBILITY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INT8-quantized YOLOv8 is designed for edge execution under 250 MB RAM at 30 FPS on mobile ARM CPUs.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CHALLENGE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Connectivity gaps, vibration blur, false positives and high-volume geospatial telemetry.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MITIGATION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SQLite offline buffering, IMU frame filtering, confidence threshold ≥0.60 and PostGIS spatial indexing.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VIABILITY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876"/>
                </a:solidFill>
                <a:latin typeface="Arial"/>
              </a:rPr>
              <a:t>Setup target under ₹3,000 per municipal vehicle with lightweight &lt;1 KB JSON detections.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Core viability: add intelligence to existing routes — not a new transport fleet.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FF515-EEFC-ED54-8D37-64E4C455A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5"/>
            <a:ext cx="1886213" cy="724001"/>
          </a:xfrm>
          <a:prstGeom prst="rect">
            <a:avLst/>
          </a:prstGeom>
        </p:spPr>
      </p:pic>
      <p:sp>
        <p:nvSpPr>
          <p:cNvPr id="17433" name="Rounded Rectangle 17432"/>
          <p:cNvSpPr/>
          <p:nvPr/>
        </p:nvSpPr>
        <p:spPr>
          <a:xfrm>
            <a:off x="658368" y="1234440"/>
            <a:ext cx="53035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Oval 17433"/>
          <p:cNvSpPr/>
          <p:nvPr/>
        </p:nvSpPr>
        <p:spPr>
          <a:xfrm>
            <a:off x="795528" y="137160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252728" y="1344168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TECHNICAL FEASIBILITY</a:t>
            </a:r>
          </a:p>
          <a:p>
            <a:pPr>
              <a:lnSpc>
                <a:spcPct val="115000"/>
              </a:lnSpc>
              <a:defRPr sz="950">
                <a:solidFill>
                  <a:srgbClr val="5F6876"/>
                </a:solidFill>
                <a:latin typeface="Calibri"/>
              </a:defRPr>
            </a:pPr>
            <a:r>
              <a:t>INT8-quantized YOLOv8 executes under 250 MB RAM at 30 FPS on standard mobile ARM CPUs (Snapdragon / Cortex-A76 / Raspberry Pi 4). Zero heavy in-vehicle GPU hardware needed.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217920" y="1234440"/>
            <a:ext cx="53035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Oval 17436"/>
          <p:cNvSpPr/>
          <p:nvPr/>
        </p:nvSpPr>
        <p:spPr>
          <a:xfrm>
            <a:off x="6355080" y="137160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812280" y="1344168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POTENTIAL CHALLENGES</a:t>
            </a:r>
          </a:p>
          <a:p>
            <a:pPr>
              <a:lnSpc>
                <a:spcPct val="115000"/>
              </a:lnSpc>
              <a:defRPr sz="950">
                <a:solidFill>
                  <a:srgbClr val="5F6876"/>
                </a:solidFill>
                <a:latin typeface="Calibri"/>
              </a:defRPr>
            </a:pPr>
            <a:r>
              <a:t>Vehicle vibration blur, intermittent 4G/5G cellular connectivity in dense/rural wards, monsoon lighting shifts, and multi-vehicle duplicate telemetry.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58368" y="2926080"/>
            <a:ext cx="53035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Oval 17439"/>
          <p:cNvSpPr/>
          <p:nvPr/>
        </p:nvSpPr>
        <p:spPr>
          <a:xfrm>
            <a:off x="795528" y="30632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1252728" y="3035808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MITIGATION STRATEGIES</a:t>
            </a:r>
          </a:p>
          <a:p>
            <a:pPr>
              <a:lnSpc>
                <a:spcPct val="115000"/>
              </a:lnSpc>
              <a:defRPr sz="950">
                <a:solidFill>
                  <a:srgbClr val="5F6876"/>
                </a:solidFill>
                <a:latin typeface="Calibri"/>
              </a:defRPr>
            </a:pPr>
            <a:r>
              <a:t>IMU accelerometer frame-filtering, offline SQLite FIFO sync buffer, confidence thresholding (≥0.60), and PostGIS R-tree spatial indexing for sub-second deduplication.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6217920" y="2926080"/>
            <a:ext cx="53035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Oval 17442"/>
          <p:cNvSpPr/>
          <p:nvPr/>
        </p:nvSpPr>
        <p:spPr>
          <a:xfrm>
            <a:off x="6355080" y="30632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812280" y="3035808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COMMERCIAL VIABILITY &amp; CAPEX</a:t>
            </a:r>
          </a:p>
          <a:p>
            <a:pPr>
              <a:lnSpc>
                <a:spcPct val="115000"/>
              </a:lnSpc>
              <a:defRPr sz="950">
                <a:solidFill>
                  <a:srgbClr val="5F6876"/>
                </a:solidFill>
                <a:latin typeface="Calibri"/>
              </a:defRPr>
            </a:pPr>
            <a:r>
              <a:t>Hardware target under ₹3,000 per municipal vehicle. Micro-payloads (&lt;1 KB JSON) minimize cellular data bandwidth. Replaces ₹50–80 Lakh dedicated LiDAR survey vehicles.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58368" y="4617720"/>
            <a:ext cx="10881360" cy="54864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777240" y="4681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D700"/>
                </a:solidFill>
                <a:latin typeface="Calibri"/>
              </a:defRPr>
            </a:pPr>
            <a:r>
              <a:t>💡 Economic Moat: ₹3,000 Edge unit converts existing transit routes into 24x7 audit infrastructure — 0 dedicated inspection cars needed.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>
              <a:defRPr sz="2400" b="1">
                <a:solidFill>
                  <a:srgbClr val="1C2C46"/>
                </a:solidFill>
                <a:latin typeface="Calibri"/>
              </a:defRPr>
            </a:pPr>
            <a:r>
              <a:rPr sz="3400" b="1" dirty="0">
                <a:solidFill>
                  <a:srgbClr val="1C2C46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SOCIAL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5F6876"/>
                </a:solidFill>
                <a:latin typeface="Arial"/>
              </a:rPr>
              <a:t>Targets a 65% reduction in two-wheeler skidding accidents through earlier hazard detection.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Oval 17418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ECONOMIC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5F6876"/>
                </a:solidFill>
                <a:latin typeface="Arial"/>
              </a:rPr>
              <a:t>Proactive micro-patching can reduce road-maintenance expenditure by up to 10×.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Oval 17425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ENVIRONMENTAL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5F6876"/>
                </a:solidFill>
                <a:latin typeface="Arial"/>
              </a:rPr>
              <a:t>Less bitumen/asphalt consumption and less stop-and-go idling caused by road hazards.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ACCOUNTABILITY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5F6876"/>
                </a:solidFill>
                <a:latin typeface="Arial"/>
              </a:rPr>
              <a:t>Before/after geotagged audit logs provide automated contractor proof-of-work.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Detection → evidence → prioritization → repair accountability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05182-C08B-2BCE-9F73-58DDDB94E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41" y="16599"/>
            <a:ext cx="1886213" cy="724001"/>
          </a:xfrm>
          <a:prstGeom prst="rect">
            <a:avLst/>
          </a:prstGeom>
        </p:spPr>
      </p:pic>
      <p:sp>
        <p:nvSpPr>
          <p:cNvPr id="17441" name="Rounded Rectangle 17440"/>
          <p:cNvSpPr/>
          <p:nvPr/>
        </p:nvSpPr>
        <p:spPr>
          <a:xfrm>
            <a:off x="658368" y="1234440"/>
            <a:ext cx="29718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Oval 17441"/>
          <p:cNvSpPr/>
          <p:nvPr/>
        </p:nvSpPr>
        <p:spPr>
          <a:xfrm>
            <a:off x="768096" y="134416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161288" y="13258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C2C46"/>
                </a:solidFill>
                <a:latin typeface="Calibri"/>
              </a:defRPr>
            </a:pPr>
            <a:r>
              <a:t>SOCIAL IMPACT</a:t>
            </a:r>
          </a:p>
          <a:p>
            <a:pPr>
              <a:lnSpc>
                <a:spcPct val="115000"/>
              </a:lnSpc>
              <a:defRPr sz="850">
                <a:solidFill>
                  <a:srgbClr val="5F6876"/>
                </a:solidFill>
                <a:latin typeface="Calibri"/>
              </a:defRPr>
            </a:pPr>
            <a:r>
              <a:t>Targets 65% reduction in two-wheeler skidding crashes through early hazard detection (IRC:82 safety guidelines).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3794760" y="1234440"/>
            <a:ext cx="29718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Oval 17444"/>
          <p:cNvSpPr/>
          <p:nvPr/>
        </p:nvSpPr>
        <p:spPr>
          <a:xfrm>
            <a:off x="3904488" y="134416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297680" y="13258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C2C46"/>
                </a:solidFill>
                <a:latin typeface="Calibri"/>
              </a:defRPr>
            </a:pPr>
            <a:r>
              <a:t>ECONOMIC VALUE</a:t>
            </a:r>
          </a:p>
          <a:p>
            <a:pPr>
              <a:lnSpc>
                <a:spcPct val="115000"/>
              </a:lnSpc>
              <a:defRPr sz="850">
                <a:solidFill>
                  <a:srgbClr val="5F6876"/>
                </a:solidFill>
                <a:latin typeface="Calibri"/>
              </a:defRPr>
            </a:pPr>
            <a:r>
              <a:t>Proactive micro-patching of early surface cracks saves up to 10× vs full asphalt reconstruction (MoRTH pavement lifecycle data).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58368" y="2926080"/>
            <a:ext cx="29718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Oval 17447"/>
          <p:cNvSpPr/>
          <p:nvPr/>
        </p:nvSpPr>
        <p:spPr>
          <a:xfrm>
            <a:off x="768096" y="303580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1161288" y="30175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C2C46"/>
                </a:solidFill>
                <a:latin typeface="Calibri"/>
              </a:defRPr>
            </a:pPr>
            <a:r>
              <a:t>ENVIRONMENTAL</a:t>
            </a:r>
          </a:p>
          <a:p>
            <a:pPr>
              <a:lnSpc>
                <a:spcPct val="115000"/>
              </a:lnSpc>
              <a:defRPr sz="850">
                <a:solidFill>
                  <a:srgbClr val="5F6876"/>
                </a:solidFill>
                <a:latin typeface="Calibri"/>
              </a:defRPr>
            </a:pPr>
            <a:r>
              <a:t>40% lower asphalt carbon footprint; eliminates stop-and-go idling emissions caused by road damage bottlenecks.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3794760" y="2926080"/>
            <a:ext cx="29718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Oval 17450"/>
          <p:cNvSpPr/>
          <p:nvPr/>
        </p:nvSpPr>
        <p:spPr>
          <a:xfrm>
            <a:off x="3904488" y="303580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297680" y="30175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C2C46"/>
                </a:solidFill>
                <a:latin typeface="Calibri"/>
              </a:defRPr>
            </a:pPr>
            <a:r>
              <a:t>ACCOUNTABILITY</a:t>
            </a:r>
          </a:p>
          <a:p>
            <a:pPr>
              <a:lnSpc>
                <a:spcPct val="115000"/>
              </a:lnSpc>
              <a:defRPr sz="850">
                <a:solidFill>
                  <a:srgbClr val="5F6876"/>
                </a:solidFill>
                <a:latin typeface="Calibri"/>
              </a:defRPr>
            </a:pPr>
            <a:r>
              <a:t>Immutable PostGIS before/after geotagged audit logs provide automated contractor proof-of-work, eliminating false billing.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6949440" y="1234440"/>
            <a:ext cx="457200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4" name="Picture 17453" descr="road_before_after_178755776036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298448"/>
            <a:ext cx="4389120" cy="2743200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7040880" y="40690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🔄 Automated Repair Validation: Before &amp; After AI Proof-of-Work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658368" y="4617720"/>
            <a:ext cx="10881360" cy="54864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777240" y="4681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D700"/>
                </a:solidFill>
                <a:latin typeface="Calibri"/>
              </a:defRPr>
            </a:pPr>
            <a:r>
              <a:t>🚀 Scalability Roadmap: Phase 1: City Pilot (50 Buses) ➔ Phase 2: 10 Smart Cities &amp; PWD Fleets ➔ Phase 3: NHAI Data Lake &amp; PM GatiShakti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>
              <a:defRPr sz="2400" b="1">
                <a:solidFill>
                  <a:srgbClr val="1C2C46"/>
                </a:solidFill>
                <a:latin typeface="Calibri"/>
              </a:defRPr>
            </a:pPr>
            <a:r>
              <a:rPr sz="3400" b="1" dirty="0">
                <a:solidFill>
                  <a:srgbClr val="1C2C46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IRC:82-2015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Indian Roads Congress standard used for pavement distress classification.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Ultralytics YOLOv8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Edge computer-vision architecture and real-time detection reference.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ONNX Runtime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INT8 quantization / edge inference reference.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DBSCAN — Ester et al.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Density-based spatial clustering methodology.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Oval 17431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PostGIS Documentation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Spatial indexing and geographic query capabilities.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NRDMS / Urban GIS Guidelines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Multi-source geospatial data integration context.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5F6876"/>
                </a:solidFill>
                <a:latin typeface="Arial"/>
              </a:rPr>
              <a:t>Reference set retained from the submitted proposal; no new technical claims added.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C57FC-BFDF-723F-FFAF-E9B8AF496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97" y="124752"/>
            <a:ext cx="1784222" cy="588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2AFCCB-A892-E3FC-36BB-278AC7EC1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58" y="327452"/>
            <a:ext cx="857900" cy="2070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538602-2A8A-A587-D269-BEBA767EDB6D}"/>
              </a:ext>
            </a:extLst>
          </p:cNvPr>
          <p:cNvSpPr txBox="1"/>
          <p:nvPr/>
        </p:nvSpPr>
        <p:spPr>
          <a:xfrm>
            <a:off x="502919" y="2617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"/>
              </a:rPr>
              <a:t>VIGILANCE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17442" name="Rounded Rectangle 17441"/>
          <p:cNvSpPr/>
          <p:nvPr/>
        </p:nvSpPr>
        <p:spPr>
          <a:xfrm>
            <a:off x="658368" y="1188720"/>
            <a:ext cx="53035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Oval 17442"/>
          <p:cNvSpPr/>
          <p:nvPr/>
        </p:nvSpPr>
        <p:spPr>
          <a:xfrm>
            <a:off x="768096" y="129844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1161288" y="1261872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IRC:82-2015</a:t>
            </a:r>
          </a:p>
          <a:p>
            <a:pPr>
              <a:defRPr sz="900">
                <a:solidFill>
                  <a:srgbClr val="5F6876"/>
                </a:solidFill>
                <a:latin typeface="Calibri"/>
              </a:defRPr>
            </a:pPr>
            <a:r>
              <a:t>Indian Roads Congress standard used for pavement distress classification, severity index &amp; maintenance intervention.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217920" y="1188720"/>
            <a:ext cx="53035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Oval 17445"/>
          <p:cNvSpPr/>
          <p:nvPr/>
        </p:nvSpPr>
        <p:spPr>
          <a:xfrm>
            <a:off x="6327648" y="129844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720840" y="1261872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Ultralytics YOLOv8</a:t>
            </a:r>
          </a:p>
          <a:p>
            <a:pPr>
              <a:defRPr sz="900">
                <a:solidFill>
                  <a:srgbClr val="5F6876"/>
                </a:solidFill>
                <a:latin typeface="Calibri"/>
              </a:defRPr>
            </a:pPr>
            <a:r>
              <a:t>Edge computer-vision architecture and real-time object detection benchmarks for roadway anomalies.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658368" y="2331720"/>
            <a:ext cx="53035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Oval 17448"/>
          <p:cNvSpPr/>
          <p:nvPr/>
        </p:nvSpPr>
        <p:spPr>
          <a:xfrm>
            <a:off x="768096" y="244144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1161288" y="2404872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ONNX Runtime</a:t>
            </a:r>
          </a:p>
          <a:p>
            <a:pPr>
              <a:defRPr sz="900">
                <a:solidFill>
                  <a:srgbClr val="5F6876"/>
                </a:solidFill>
                <a:latin typeface="Calibri"/>
              </a:defRPr>
            </a:pPr>
            <a:r>
              <a:t>INT8 quantization framework for high-efficiency edge CPU execution without dedicated GPUs.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6217920" y="2331720"/>
            <a:ext cx="53035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Oval 17451"/>
          <p:cNvSpPr/>
          <p:nvPr/>
        </p:nvSpPr>
        <p:spPr>
          <a:xfrm>
            <a:off x="6327648" y="244144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720840" y="2404872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DBSCAN (Ester et al.)</a:t>
            </a:r>
          </a:p>
          <a:p>
            <a:pPr>
              <a:defRPr sz="900">
                <a:solidFill>
                  <a:srgbClr val="5F6876"/>
                </a:solidFill>
                <a:latin typeface="Calibri"/>
              </a:defRPr>
            </a:pPr>
            <a:r>
              <a:t>Density-based spatial clustering methodology for merging multi-pass GPS coordinate drift into unified incidents.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658368" y="3474720"/>
            <a:ext cx="53035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Oval 17454"/>
          <p:cNvSpPr/>
          <p:nvPr/>
        </p:nvSpPr>
        <p:spPr>
          <a:xfrm>
            <a:off x="768096" y="358444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1161288" y="3547872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PostGIS Documentation</a:t>
            </a:r>
          </a:p>
          <a:p>
            <a:pPr>
              <a:defRPr sz="900">
                <a:solidFill>
                  <a:srgbClr val="5F6876"/>
                </a:solidFill>
                <a:latin typeface="Calibri"/>
              </a:defRPr>
            </a:pPr>
            <a:r>
              <a:t>Spatial indexing, R-Tree bounding queries, and multi-layer geographic query harmonization.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6217920" y="3474720"/>
            <a:ext cx="53035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Oval 17457"/>
          <p:cNvSpPr/>
          <p:nvPr/>
        </p:nvSpPr>
        <p:spPr>
          <a:xfrm>
            <a:off x="6327648" y="358444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6720840" y="3547872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C2C46"/>
                </a:solidFill>
                <a:latin typeface="Calibri"/>
              </a:defRPr>
            </a:pPr>
            <a:r>
              <a:t>NRDMS / Urban GIS</a:t>
            </a:r>
          </a:p>
          <a:p>
            <a:pPr>
              <a:defRPr sz="900">
                <a:solidFill>
                  <a:srgbClr val="5F6876"/>
                </a:solidFill>
                <a:latin typeface="Calibri"/>
              </a:defRPr>
            </a:pPr>
            <a:r>
              <a:t>National natural resources &amp; urban geospatial data infrastructure guidelines for civic management.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658368" y="4617720"/>
            <a:ext cx="10881360" cy="54864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77240" y="468172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D700"/>
                </a:solidFill>
                <a:latin typeface="Calibri"/>
              </a:defRPr>
            </a:pPr>
            <a:r>
              <a:t>🇮🇳 National Alignment: Aligns directly with NHAI AI Dashcam Program (40,000 km), Smart Cities Mission, &amp; PM GatiShakti Spatial Framework.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TEAM MEMBERS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7122456D-0AB0-4DA2-9020-387E166693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3" y="120208"/>
            <a:ext cx="25921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VIGILANCE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9343" y="1389365"/>
          <a:ext cx="9427464" cy="4645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562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Reg.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Dept.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Sem.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Gender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Email id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Mobile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91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Sanjeev Aryan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RA2511047010030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sa8129@srmist.edu.in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8102285766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Parth Jaina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RA2511047010069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pj2752@srmist.edu.in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9828285223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Dhiti Mahajan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RA2511056010060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DSBS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dm5223@srmist.edu.in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7339851899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Shubh Garg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sg8735@srmist.edu.in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8130763641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Prakhar Sharma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RA2511003010764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ps1158@srmist.edu.in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9235878237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Navdeep Rathe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RA2511003010177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nr8188@srmist.edu.in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9967580941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Faculty Mentor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Pavithra 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pavithrl3@srmist.edu.in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9150551899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Industry Mentor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Kishore Anthuvan Sahayaraj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kishorea1@srmist.edu.in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9043103219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804" y="33038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4EE2D4-7CD6-2682-7994-4FF509287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37"/>
            <a:ext cx="12192000" cy="6357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99571-FD58-F7FF-69FD-9950C415F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97" y="60573"/>
            <a:ext cx="2624192" cy="10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2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7513</TotalTime>
  <Words>665</Words>
  <Application>Microsoft Office PowerPoint</Application>
  <PresentationFormat>Widescreen</PresentationFormat>
  <Paragraphs>214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  <vt:lpstr>TEAM MEMBERS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Harish Jain</cp:lastModifiedBy>
  <cp:revision>149</cp:revision>
  <dcterms:created xsi:type="dcterms:W3CDTF">2013-12-12T18:46:50Z</dcterms:created>
  <dcterms:modified xsi:type="dcterms:W3CDTF">2026-08-23T17:08:58Z</dcterms:modified>
  <cp:category/>
</cp:coreProperties>
</file>