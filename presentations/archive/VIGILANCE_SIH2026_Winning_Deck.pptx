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8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7F3939-67AC-4C2B-8C34-D685E5D68B0C}" v="3" dt="2026-08-23T16:49:55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sh Jain" userId="830b26ebf093da50" providerId="LiveId" clId="{8DC1E187-E42A-4D57-BC2F-E1F33D2FFACD}"/>
    <pc:docChg chg="undo custSel modSld">
      <pc:chgData name="Harish Jain" userId="830b26ebf093da50" providerId="LiveId" clId="{8DC1E187-E42A-4D57-BC2F-E1F33D2FFACD}" dt="2026-08-23T17:08:53.496" v="96" actId="1076"/>
      <pc:docMkLst>
        <pc:docMk/>
      </pc:docMkLst>
      <pc:sldChg chg="addSp delSp modSp mod">
        <pc:chgData name="Harish Jain" userId="830b26ebf093da50" providerId="LiveId" clId="{8DC1E187-E42A-4D57-BC2F-E1F33D2FFACD}" dt="2026-08-23T17:08:17.776" v="92" actId="1076"/>
        <pc:sldMkLst>
          <pc:docMk/>
          <pc:sldMk cId="0" sldId="281"/>
        </pc:sldMkLst>
        <pc:spChg chg="del mod">
          <ac:chgData name="Harish Jain" userId="830b26ebf093da50" providerId="LiveId" clId="{8DC1E187-E42A-4D57-BC2F-E1F33D2FFACD}" dt="2026-08-23T17:08:09.481" v="87" actId="478"/>
          <ac:spMkLst>
            <pc:docMk/>
            <pc:sldMk cId="0" sldId="281"/>
            <ac:spMk id="10" creationId="{5DBCE864-823D-4A13-9607-5DA1F0ED5FB8}"/>
          </ac:spMkLst>
        </pc:spChg>
        <pc:spChg chg="mod">
          <ac:chgData name="Harish Jain" userId="830b26ebf093da50" providerId="LiveId" clId="{8DC1E187-E42A-4D57-BC2F-E1F33D2FFACD}" dt="2026-08-23T16:51:07.104" v="44" actId="122"/>
          <ac:spMkLst>
            <pc:docMk/>
            <pc:sldMk cId="0" sldId="281"/>
            <ac:spMk id="15361" creationId="{00000000-0000-0000-0000-000000000000}"/>
          </ac:spMkLst>
        </pc:spChg>
        <pc:spChg chg="del mod">
          <ac:chgData name="Harish Jain" userId="830b26ebf093da50" providerId="LiveId" clId="{8DC1E187-E42A-4D57-BC2F-E1F33D2FFACD}" dt="2026-08-23T17:08:12.202" v="90"/>
          <ac:spMkLst>
            <pc:docMk/>
            <pc:sldMk cId="0" sldId="281"/>
            <ac:spMk id="15363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8:17.776" v="92" actId="1076"/>
          <ac:picMkLst>
            <pc:docMk/>
            <pc:sldMk cId="0" sldId="281"/>
            <ac:picMk id="3" creationId="{8E8C2E20-784A-18AC-AB73-62A4E55D2326}"/>
          </ac:picMkLst>
        </pc:picChg>
      </pc:sldChg>
      <pc:sldChg chg="addSp delSp modSp mod">
        <pc:chgData name="Harish Jain" userId="830b26ebf093da50" providerId="LiveId" clId="{8DC1E187-E42A-4D57-BC2F-E1F33D2FFACD}" dt="2026-08-23T17:08:04.984" v="86" actId="1076"/>
        <pc:sldMkLst>
          <pc:docMk/>
          <pc:sldMk cId="0" sldId="290"/>
        </pc:sldMkLst>
        <pc:spChg chg="del mod">
          <ac:chgData name="Harish Jain" userId="830b26ebf093da50" providerId="LiveId" clId="{8DC1E187-E42A-4D57-BC2F-E1F33D2FFACD}" dt="2026-08-23T17:08:00.020" v="84" actId="478"/>
          <ac:spMkLst>
            <pc:docMk/>
            <pc:sldMk cId="0" sldId="290"/>
            <ac:spMk id="11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3:50.666" v="52" actId="122"/>
          <ac:spMkLst>
            <pc:docMk/>
            <pc:sldMk cId="0" sldId="290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8:04.984" v="86" actId="1076"/>
          <ac:picMkLst>
            <pc:docMk/>
            <pc:sldMk cId="0" sldId="290"/>
            <ac:picMk id="3" creationId="{2417F204-FCAE-2914-6720-08DB6B712A6F}"/>
          </ac:picMkLst>
        </pc:picChg>
      </pc:sldChg>
      <pc:sldChg chg="addSp delSp modSp mod">
        <pc:chgData name="Harish Jain" userId="830b26ebf093da50" providerId="LiveId" clId="{8DC1E187-E42A-4D57-BC2F-E1F33D2FFACD}" dt="2026-08-23T16:59:55.615" v="46" actId="478"/>
        <pc:sldMkLst>
          <pc:docMk/>
          <pc:sldMk cId="0" sldId="291"/>
        </pc:sldMkLst>
        <pc:spChg chg="mod">
          <ac:chgData name="Harish Jain" userId="830b26ebf093da50" providerId="LiveId" clId="{8DC1E187-E42A-4D57-BC2F-E1F33D2FFACD}" dt="2026-08-23T16:50:50.289" v="42" actId="122"/>
          <ac:spMkLst>
            <pc:docMk/>
            <pc:sldMk cId="0" sldId="291"/>
            <ac:spMk id="4" creationId="{00000000-0000-0000-0000-000000000000}"/>
          </ac:spMkLst>
        </pc:spChg>
        <pc:spChg chg="add del">
          <ac:chgData name="Harish Jain" userId="830b26ebf093da50" providerId="LiveId" clId="{8DC1E187-E42A-4D57-BC2F-E1F33D2FFACD}" dt="2026-08-23T16:48:24.733" v="3" actId="22"/>
          <ac:spMkLst>
            <pc:docMk/>
            <pc:sldMk cId="0" sldId="291"/>
            <ac:spMk id="6" creationId="{0909B4A3-2FB3-4D9E-6592-3E4C9BE09B94}"/>
          </ac:spMkLst>
        </pc:spChg>
        <pc:spChg chg="mod">
          <ac:chgData name="Harish Jain" userId="830b26ebf093da50" providerId="LiveId" clId="{8DC1E187-E42A-4D57-BC2F-E1F33D2FFACD}" dt="2026-08-23T16:50:55.976" v="43" actId="122"/>
          <ac:spMkLst>
            <pc:docMk/>
            <pc:sldMk cId="0" sldId="291"/>
            <ac:spMk id="8" creationId="{00000000-0000-0000-0000-000000000000}"/>
          </ac:spMkLst>
        </pc:spChg>
        <pc:spChg chg="add mod">
          <ac:chgData name="Harish Jain" userId="830b26ebf093da50" providerId="LiveId" clId="{8DC1E187-E42A-4D57-BC2F-E1F33D2FFACD}" dt="2026-08-23T16:50:40.976" v="41" actId="120"/>
          <ac:spMkLst>
            <pc:docMk/>
            <pc:sldMk cId="0" sldId="291"/>
            <ac:spMk id="9" creationId="{5F21806A-19BD-2C4C-A982-1686EC2BB4FD}"/>
          </ac:spMkLst>
        </pc:spChg>
        <pc:spChg chg="del mod">
          <ac:chgData name="Harish Jain" userId="830b26ebf093da50" providerId="LiveId" clId="{8DC1E187-E42A-4D57-BC2F-E1F33D2FFACD}" dt="2026-08-23T16:49:31.944" v="18"/>
          <ac:spMkLst>
            <pc:docMk/>
            <pc:sldMk cId="0" sldId="291"/>
            <ac:spMk id="10" creationId="{00000000-0000-0000-0000-000000000000}"/>
          </ac:spMkLst>
        </pc:spChg>
        <pc:spChg chg="del mod">
          <ac:chgData name="Harish Jain" userId="830b26ebf093da50" providerId="LiveId" clId="{8DC1E187-E42A-4D57-BC2F-E1F33D2FFACD}" dt="2026-08-23T16:49:31.945" v="20"/>
          <ac:spMkLst>
            <pc:docMk/>
            <pc:sldMk cId="0" sldId="291"/>
            <ac:spMk id="38" creationId="{00000000-0000-0000-0000-000000000000}"/>
          </ac:spMkLst>
        </pc:spChg>
        <pc:spChg chg="del">
          <ac:chgData name="Harish Jain" userId="830b26ebf093da50" providerId="LiveId" clId="{8DC1E187-E42A-4D57-BC2F-E1F33D2FFACD}" dt="2026-08-23T16:49:31.942" v="16" actId="478"/>
          <ac:spMkLst>
            <pc:docMk/>
            <pc:sldMk cId="0" sldId="291"/>
            <ac:spMk id="39" creationId="{00000000-0000-0000-0000-000000000000}"/>
          </ac:spMkLst>
        </pc:spChg>
        <pc:picChg chg="add del">
          <ac:chgData name="Harish Jain" userId="830b26ebf093da50" providerId="LiveId" clId="{8DC1E187-E42A-4D57-BC2F-E1F33D2FFACD}" dt="2026-08-23T16:59:55.615" v="46" actId="478"/>
          <ac:picMkLst>
            <pc:docMk/>
            <pc:sldMk cId="0" sldId="291"/>
            <ac:picMk id="12" creationId="{28C2370E-7706-CDC0-787A-5F5D9D9C5B8F}"/>
          </ac:picMkLst>
        </pc:picChg>
      </pc:sldChg>
      <pc:sldChg chg="addSp delSp modSp mod">
        <pc:chgData name="Harish Jain" userId="830b26ebf093da50" providerId="LiveId" clId="{8DC1E187-E42A-4D57-BC2F-E1F33D2FFACD}" dt="2026-08-23T17:07:49.165" v="82" actId="1076"/>
        <pc:sldMkLst>
          <pc:docMk/>
          <pc:sldMk cId="3753387913" sldId="293"/>
        </pc:sldMkLst>
        <pc:spChg chg="del mod">
          <ac:chgData name="Harish Jain" userId="830b26ebf093da50" providerId="LiveId" clId="{8DC1E187-E42A-4D57-BC2F-E1F33D2FFACD}" dt="2026-08-23T17:07:41.558" v="80" actId="478"/>
          <ac:spMkLst>
            <pc:docMk/>
            <pc:sldMk cId="3753387913" sldId="293"/>
            <ac:spMk id="12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4:02.004" v="53" actId="122"/>
          <ac:spMkLst>
            <pc:docMk/>
            <pc:sldMk cId="3753387913" sldId="293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7:49.165" v="82" actId="1076"/>
          <ac:picMkLst>
            <pc:docMk/>
            <pc:sldMk cId="3753387913" sldId="293"/>
            <ac:picMk id="3" creationId="{8C7FF515-EEFC-ED54-8D37-64E4C455AB55}"/>
          </ac:picMkLst>
        </pc:picChg>
      </pc:sldChg>
      <pc:sldChg chg="addSp delSp modSp mod">
        <pc:chgData name="Harish Jain" userId="830b26ebf093da50" providerId="LiveId" clId="{8DC1E187-E42A-4D57-BC2F-E1F33D2FFACD}" dt="2026-08-23T17:07:34.848" v="78" actId="1076"/>
        <pc:sldMkLst>
          <pc:docMk/>
          <pc:sldMk cId="2997144140" sldId="294"/>
        </pc:sldMkLst>
        <pc:spChg chg="del mod">
          <ac:chgData name="Harish Jain" userId="830b26ebf093da50" providerId="LiveId" clId="{8DC1E187-E42A-4D57-BC2F-E1F33D2FFACD}" dt="2026-08-23T17:07:30.214" v="76" actId="478"/>
          <ac:spMkLst>
            <pc:docMk/>
            <pc:sldMk cId="2997144140" sldId="294"/>
            <ac:spMk id="12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4:10.422" v="54" actId="122"/>
          <ac:spMkLst>
            <pc:docMk/>
            <pc:sldMk cId="2997144140" sldId="294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7:34.848" v="78" actId="1076"/>
          <ac:picMkLst>
            <pc:docMk/>
            <pc:sldMk cId="2997144140" sldId="294"/>
            <ac:picMk id="3" creationId="{74105182-C08B-2BCE-9F73-58DDDB94ED6B}"/>
          </ac:picMkLst>
        </pc:picChg>
      </pc:sldChg>
      <pc:sldChg chg="addSp delSp modSp mod">
        <pc:chgData name="Harish Jain" userId="830b26ebf093da50" providerId="LiveId" clId="{8DC1E187-E42A-4D57-BC2F-E1F33D2FFACD}" dt="2026-08-23T17:07:15.755" v="74" actId="1076"/>
        <pc:sldMkLst>
          <pc:docMk/>
          <pc:sldMk cId="3916788613" sldId="296"/>
        </pc:sldMkLst>
        <pc:spChg chg="del mod">
          <ac:chgData name="Harish Jain" userId="830b26ebf093da50" providerId="LiveId" clId="{8DC1E187-E42A-4D57-BC2F-E1F33D2FFACD}" dt="2026-08-23T17:05:36.312" v="62" actId="478"/>
          <ac:spMkLst>
            <pc:docMk/>
            <pc:sldMk cId="3916788613" sldId="296"/>
            <ac:spMk id="9" creationId="{5DBCE864-823D-4A13-9607-5DA1F0ED5FB8}"/>
          </ac:spMkLst>
        </pc:spChg>
        <pc:spChg chg="add mod">
          <ac:chgData name="Harish Jain" userId="830b26ebf093da50" providerId="LiveId" clId="{8DC1E187-E42A-4D57-BC2F-E1F33D2FFACD}" dt="2026-08-23T17:07:15.755" v="74" actId="1076"/>
          <ac:spMkLst>
            <pc:docMk/>
            <pc:sldMk cId="3916788613" sldId="296"/>
            <ac:spMk id="11" creationId="{D8538602-2A8A-A587-D269-BEBA767EDB6D}"/>
          </ac:spMkLst>
        </pc:spChg>
        <pc:spChg chg="mod">
          <ac:chgData name="Harish Jain" userId="830b26ebf093da50" providerId="LiveId" clId="{8DC1E187-E42A-4D57-BC2F-E1F33D2FFACD}" dt="2026-08-23T17:04:16.995" v="55" actId="122"/>
          <ac:spMkLst>
            <pc:docMk/>
            <pc:sldMk cId="3916788613" sldId="296"/>
            <ac:spMk id="17409" creationId="{00000000-0000-0000-0000-000000000000}"/>
          </ac:spMkLst>
        </pc:spChg>
        <pc:spChg chg="mod">
          <ac:chgData name="Harish Jain" userId="830b26ebf093da50" providerId="LiveId" clId="{8DC1E187-E42A-4D57-BC2F-E1F33D2FFACD}" dt="2026-08-23T17:05:41.080" v="65" actId="1076"/>
          <ac:spMkLst>
            <pc:docMk/>
            <pc:sldMk cId="3916788613" sldId="296"/>
            <ac:spMk id="17421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5:50.924" v="68" actId="1076"/>
          <ac:picMkLst>
            <pc:docMk/>
            <pc:sldMk cId="3916788613" sldId="296"/>
            <ac:picMk id="3" creationId="{1D8C57FC-BFDF-723F-FFAF-E9B8AF4969A0}"/>
          </ac:picMkLst>
        </pc:picChg>
        <pc:picChg chg="add mod">
          <ac:chgData name="Harish Jain" userId="830b26ebf093da50" providerId="LiveId" clId="{8DC1E187-E42A-4D57-BC2F-E1F33D2FFACD}" dt="2026-08-23T17:06:13.023" v="71" actId="1076"/>
          <ac:picMkLst>
            <pc:docMk/>
            <pc:sldMk cId="3916788613" sldId="296"/>
            <ac:picMk id="5" creationId="{092AFCCB-A892-E3FC-36BB-278AC7EC179D}"/>
          </ac:picMkLst>
        </pc:picChg>
      </pc:sldChg>
      <pc:sldChg chg="addSp modSp mod">
        <pc:chgData name="Harish Jain" userId="830b26ebf093da50" providerId="LiveId" clId="{8DC1E187-E42A-4D57-BC2F-E1F33D2FFACD}" dt="2026-08-23T17:08:53.496" v="96" actId="1076"/>
        <pc:sldMkLst>
          <pc:docMk/>
          <pc:sldMk cId="4027024697" sldId="298"/>
        </pc:sldMkLst>
        <pc:picChg chg="add mod">
          <ac:chgData name="Harish Jain" userId="830b26ebf093da50" providerId="LiveId" clId="{8DC1E187-E42A-4D57-BC2F-E1F33D2FFACD}" dt="2026-08-23T17:05:03.756" v="59" actId="14100"/>
          <ac:picMkLst>
            <pc:docMk/>
            <pc:sldMk cId="4027024697" sldId="298"/>
            <ac:picMk id="4" creationId="{904EE2D4-7CD6-2682-7994-4FF509287F5E}"/>
          </ac:picMkLst>
        </pc:picChg>
        <pc:picChg chg="add mod">
          <ac:chgData name="Harish Jain" userId="830b26ebf093da50" providerId="LiveId" clId="{8DC1E187-E42A-4D57-BC2F-E1F33D2FFACD}" dt="2026-08-23T17:08:53.496" v="96" actId="1076"/>
          <ac:picMkLst>
            <pc:docMk/>
            <pc:sldMk cId="4027024697" sldId="298"/>
            <ac:picMk id="8" creationId="{47999571-FD58-F7FF-69FD-9950C415F4E2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622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t"/>
          <a:lstStyle/>
          <a:p>
            <a:pPr>
              <a:defRPr b="1" sz="3600">
                <a:solidFill>
                  <a:srgbClr val="FFFFFF"/>
                </a:solidFill>
                <a:latin typeface="Calibri"/>
              </a:defRPr>
            </a:pPr>
            <a:r>
              <a:t>VIGILANCE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074236" y="1500"/>
            <a:ext cx="10363200" cy="2076450"/>
          </a:xfrm>
        </p:spPr>
        <p:txBody>
          <a:bodyPr wrap="square" anchor="t"/>
          <a:lstStyle/>
          <a:p>
            <a:r>
              <a:rPr sz="3400" b="1" dirty="0">
                <a:solidFill>
                  <a:srgbClr val="1C2C46"/>
                </a:solidFill>
                <a:latin typeface="Garamond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21806A-19BD-2C4C-A982-1686EC2BB4FD}"/>
              </a:ext>
            </a:extLst>
          </p:cNvPr>
          <p:cNvSpPr txBox="1"/>
          <p:nvPr/>
        </p:nvSpPr>
        <p:spPr>
          <a:xfrm>
            <a:off x="574877" y="1334399"/>
            <a:ext cx="5392100" cy="4715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FFFFFF"/>
                </a:solidFill>
              </a:rPr>
              <a:t>Problem Statement ID – </a:t>
            </a:r>
            <a:r>
              <a:rPr b="1" sz="1300">
                <a:solidFill>
                  <a:srgbClr val="FFD700"/>
                </a:solidFill>
              </a:rPr>
              <a:t>SIH26013</a:t>
            </a:r>
            <a:endParaRPr lang="en-US" dirty="0"/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FFFFFF"/>
                </a:solidFill>
              </a:rPr>
              <a:t>Problem Statement Title – </a:t>
            </a:r>
            <a:r>
              <a:rPr b="0" sz="1300">
                <a:solidFill>
                  <a:srgbClr val="E6E6E6"/>
                </a:solidFill>
              </a:rPr>
              <a:t>Automated Integration &amp; Intelligent Harmonization of Multi-source Geospatial Data for Urban Land Record &amp; Infrastructure Management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FFFFFF"/>
                </a:solidFill>
              </a:rPr>
              <a:t>Theme – </a:t>
            </a:r>
            <a:r>
              <a:rPr b="0" sz="1300">
                <a:solidFill>
                  <a:srgbClr val="E6E6E6"/>
                </a:solidFill>
              </a:rPr>
              <a:t>Smart Transportation &amp; Public Infrastructure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FFFFFF"/>
                </a:solidFill>
              </a:rPr>
              <a:t>PS Category – </a:t>
            </a:r>
            <a:r>
              <a:rPr b="1" sz="1300">
                <a:solidFill>
                  <a:srgbClr val="FFD700"/>
                </a:solidFill>
              </a:rPr>
              <a:t>Software Edition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FFFFFF"/>
                </a:solidFill>
              </a:rPr>
              <a:t>National Impact Focus – </a:t>
            </a:r>
            <a:r>
              <a:rPr b="0" sz="1300">
                <a:solidFill>
                  <a:srgbClr val="E6E6E6"/>
                </a:solidFill>
              </a:rPr>
              <a:t>Preventive Road Safety &amp; Municipal Infrastructure 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303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FC8C8"/>
                </a:solidFill>
              </a:defRPr>
            </a:pPr>
            <a:r>
              <a:t>🚨 Reality Hook: Over 9,438 lives were lost to pothole accidents in India (2020–2024, Lok Sabha). VIGILANCE turns every municipal vehicle into a live safety audit node.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713232" y="16002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i="1">
                <a:solidFill>
                  <a:srgbClr val="F0F0F0"/>
                </a:solidFill>
              </a:defRPr>
            </a:pPr>
            <a:r>
              <a:t>Passive, Always-On Road Health Intelligence Grid Powered by Edge-AI &amp; Geospatial Harmonization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58368" y="2331720"/>
            <a:ext cx="3456432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Oval 15365"/>
          <p:cNvSpPr/>
          <p:nvPr/>
        </p:nvSpPr>
        <p:spPr>
          <a:xfrm>
            <a:off x="841247" y="2523744"/>
            <a:ext cx="393192" cy="3931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7" name="TextBox 15366"/>
          <p:cNvSpPr txBox="1"/>
          <p:nvPr/>
        </p:nvSpPr>
        <p:spPr>
          <a:xfrm>
            <a:off x="859536" y="2532887"/>
            <a:ext cx="3566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1353312" y="2496312"/>
            <a:ext cx="2487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PROPOSED SOLUTION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886968" y="2999232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6"/>
                </a:solidFill>
                <a:latin typeface="Arial"/>
              </a:rPr>
              <a:t>Low-cost cameras on buses, garbage trucks and police vehicles continuously capture road conditions.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425696" y="2331720"/>
            <a:ext cx="3456432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1" name="Oval 15370"/>
          <p:cNvSpPr/>
          <p:nvPr/>
        </p:nvSpPr>
        <p:spPr>
          <a:xfrm>
            <a:off x="4608576" y="2523744"/>
            <a:ext cx="393192" cy="3931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TextBox 15371"/>
          <p:cNvSpPr txBox="1"/>
          <p:nvPr/>
        </p:nvSpPr>
        <p:spPr>
          <a:xfrm>
            <a:off x="4626864" y="2532887"/>
            <a:ext cx="3566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5120640" y="2496312"/>
            <a:ext cx="2487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4654296" y="2999232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6"/>
                </a:solidFill>
                <a:latin typeface="Arial"/>
              </a:rPr>
              <a:t>YOLOv8 detects defects; geospatial harmonization removes duplicates; RPI ranks repairs.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8193024" y="2331720"/>
            <a:ext cx="3456432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6" name="Oval 15375"/>
          <p:cNvSpPr/>
          <p:nvPr/>
        </p:nvSpPr>
        <p:spPr>
          <a:xfrm>
            <a:off x="8375904" y="2523744"/>
            <a:ext cx="393192" cy="393192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7" name="TextBox 15376"/>
          <p:cNvSpPr txBox="1"/>
          <p:nvPr/>
        </p:nvSpPr>
        <p:spPr>
          <a:xfrm>
            <a:off x="8394192" y="2532887"/>
            <a:ext cx="3566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8887968" y="2496312"/>
            <a:ext cx="2487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8421624" y="2999232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6"/>
                </a:solidFill>
                <a:latin typeface="Arial"/>
              </a:rPr>
              <a:t>Uses routes that already exist to create a city-wide, continuously updated road-intelligence grid.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58368" y="4526280"/>
            <a:ext cx="10835640" cy="658368"/>
          </a:xfrm>
          <a:prstGeom prst="round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1" name="TextBox 15380"/>
          <p:cNvSpPr txBox="1"/>
          <p:nvPr/>
        </p:nvSpPr>
        <p:spPr>
          <a:xfrm>
            <a:off x="868680" y="4700016"/>
            <a:ext cx="104058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FFD700"/>
                </a:solidFill>
              </a:defRPr>
            </a:pPr>
            <a:r>
              <a:t>Existing Fleet (Buses/Trucks) ➔ Lightweight Edge AI (YOLOv8) ➔ 3m DBSCAN Spatial Deduplication ➔ RPI Repair Index ➔ Municipal PWD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8C2E20-784A-18AC-AB73-62A4E55D2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184"/>
            <a:ext cx="1886213" cy="724001"/>
          </a:xfrm>
          <a:prstGeom prst="rect">
            <a:avLst/>
          </a:prstGeom>
        </p:spPr>
      </p:pic>
      <p:pic>
        <p:nvPicPr>
          <p:cNvPr id="15382" name="Picture 15381" descr="indian_road_potholes_178755760744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188720"/>
            <a:ext cx="3017520" cy="1920240"/>
          </a:xfrm>
          <a:prstGeom prst="rect">
            <a:avLst/>
          </a:prstGeom>
        </p:spPr>
      </p:pic>
      <p:sp>
        <p:nvSpPr>
          <p:cNvPr id="15383" name="TextBox 15382"/>
          <p:cNvSpPr txBox="1"/>
          <p:nvPr/>
        </p:nvSpPr>
        <p:spPr>
          <a:xfrm>
            <a:off x="7589520" y="31546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7878"/>
                </a:solidFill>
              </a:defRPr>
            </a:pPr>
            <a:r>
              <a:t>⚠️ 2,385 Deaths in 2024 (Lok Sabha)</a:t>
            </a:r>
            <a:br/>
            <a:r>
              <a:t>Manual surveys miss 80%+ of early cracks.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" y="100584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TECHNOLOGIES TO BE USED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58368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Oval 17412"/>
          <p:cNvSpPr/>
          <p:nvPr/>
        </p:nvSpPr>
        <p:spPr>
          <a:xfrm>
            <a:off x="749808" y="1472184"/>
            <a:ext cx="411480" cy="41148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768096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225295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Next.js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231136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2322576" y="1472184"/>
            <a:ext cx="411480" cy="411480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2340864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L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798064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Leaflet.js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803904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Oval 17420"/>
          <p:cNvSpPr/>
          <p:nvPr/>
        </p:nvSpPr>
        <p:spPr>
          <a:xfrm>
            <a:off x="3895344" y="1472184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3913631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370832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Mapbox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376672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Oval 17424"/>
          <p:cNvSpPr/>
          <p:nvPr/>
        </p:nvSpPr>
        <p:spPr>
          <a:xfrm>
            <a:off x="5468112" y="1472184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5486399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TW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943600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Tailwind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949440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Oval 17428"/>
          <p:cNvSpPr/>
          <p:nvPr/>
        </p:nvSpPr>
        <p:spPr>
          <a:xfrm>
            <a:off x="7040879" y="1472184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7059167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516367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FastAPI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522208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Oval 17432"/>
          <p:cNvSpPr/>
          <p:nvPr/>
        </p:nvSpPr>
        <p:spPr>
          <a:xfrm>
            <a:off x="8613648" y="1472184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8631936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WS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089136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WebSockets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10094976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Oval 17436"/>
          <p:cNvSpPr/>
          <p:nvPr/>
        </p:nvSpPr>
        <p:spPr>
          <a:xfrm>
            <a:off x="10186416" y="1472184"/>
            <a:ext cx="411480" cy="411480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10204704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0661904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Celery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58368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Oval 17440"/>
          <p:cNvSpPr/>
          <p:nvPr/>
        </p:nvSpPr>
        <p:spPr>
          <a:xfrm>
            <a:off x="749808" y="2185415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768096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PG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225295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PostgreSQL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2231136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Oval 17444"/>
          <p:cNvSpPr/>
          <p:nvPr/>
        </p:nvSpPr>
        <p:spPr>
          <a:xfrm>
            <a:off x="2322576" y="2185415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2340864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GIS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2798064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PostGIS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3803904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Oval 17448"/>
          <p:cNvSpPr/>
          <p:nvPr/>
        </p:nvSpPr>
        <p:spPr>
          <a:xfrm>
            <a:off x="3895344" y="2185415"/>
            <a:ext cx="411480" cy="411480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0" name="TextBox 17449"/>
          <p:cNvSpPr txBox="1"/>
          <p:nvPr/>
        </p:nvSpPr>
        <p:spPr>
          <a:xfrm>
            <a:off x="3913631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4370832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Redis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5376672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3" name="Oval 17452"/>
          <p:cNvSpPr/>
          <p:nvPr/>
        </p:nvSpPr>
        <p:spPr>
          <a:xfrm>
            <a:off x="5468112" y="2185415"/>
            <a:ext cx="411480" cy="411480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TextBox 17453"/>
          <p:cNvSpPr txBox="1"/>
          <p:nvPr/>
        </p:nvSpPr>
        <p:spPr>
          <a:xfrm>
            <a:off x="5486399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Y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943600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YOLOv8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6949440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7" name="Oval 17456"/>
          <p:cNvSpPr/>
          <p:nvPr/>
        </p:nvSpPr>
        <p:spPr>
          <a:xfrm>
            <a:off x="7040879" y="2185415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8" name="TextBox 17457"/>
          <p:cNvSpPr txBox="1"/>
          <p:nvPr/>
        </p:nvSpPr>
        <p:spPr>
          <a:xfrm>
            <a:off x="7059167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ON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7516367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ONNX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8522208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1" name="Oval 17460"/>
          <p:cNvSpPr/>
          <p:nvPr/>
        </p:nvSpPr>
        <p:spPr>
          <a:xfrm>
            <a:off x="8613648" y="2185415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2" name="TextBox 17461"/>
          <p:cNvSpPr txBox="1"/>
          <p:nvPr/>
        </p:nvSpPr>
        <p:spPr>
          <a:xfrm>
            <a:off x="8631936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9089136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Flutter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10094976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5" name="Oval 17464"/>
          <p:cNvSpPr/>
          <p:nvPr/>
        </p:nvSpPr>
        <p:spPr>
          <a:xfrm>
            <a:off x="10186416" y="2185415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6" name="TextBox 17465"/>
          <p:cNvSpPr txBox="1"/>
          <p:nvPr/>
        </p:nvSpPr>
        <p:spPr>
          <a:xfrm>
            <a:off x="10204704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SQL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10661904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SQLite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640080" y="3584448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METHODOLOGY / IMPLEMENTATION FLOW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658368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0" name="TextBox 17469"/>
          <p:cNvSpPr txBox="1"/>
          <p:nvPr/>
        </p:nvSpPr>
        <p:spPr>
          <a:xfrm>
            <a:off x="731519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Fleet Camera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731519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GPS + IMU</a:t>
            </a:r>
          </a:p>
        </p:txBody>
      </p:sp>
      <p:cxnSp>
        <p:nvCxnSpPr>
          <p:cNvPr id="17472" name="Connector 17471"/>
          <p:cNvCxnSpPr/>
          <p:nvPr/>
        </p:nvCxnSpPr>
        <p:spPr>
          <a:xfrm>
            <a:off x="2286000" y="4361688"/>
            <a:ext cx="402336" cy="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Rounded Rectangle 17472"/>
          <p:cNvSpPr/>
          <p:nvPr/>
        </p:nvSpPr>
        <p:spPr>
          <a:xfrm>
            <a:off x="2743200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4" name="TextBox 17473"/>
          <p:cNvSpPr txBox="1"/>
          <p:nvPr/>
        </p:nvSpPr>
        <p:spPr>
          <a:xfrm>
            <a:off x="2816352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YOLOv8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2816352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Defect detection</a:t>
            </a:r>
          </a:p>
        </p:txBody>
      </p:sp>
      <p:cxnSp>
        <p:nvCxnSpPr>
          <p:cNvPr id="17476" name="Connector 17475"/>
          <p:cNvCxnSpPr/>
          <p:nvPr/>
        </p:nvCxnSpPr>
        <p:spPr>
          <a:xfrm>
            <a:off x="4370832" y="4361688"/>
            <a:ext cx="402336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7" name="Rounded Rectangle 17476"/>
          <p:cNvSpPr/>
          <p:nvPr/>
        </p:nvSpPr>
        <p:spPr>
          <a:xfrm>
            <a:off x="4828032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D4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8" name="TextBox 17477"/>
          <p:cNvSpPr txBox="1"/>
          <p:nvPr/>
        </p:nvSpPr>
        <p:spPr>
          <a:xfrm>
            <a:off x="4901184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DBSCAN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4901184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3 m deduplication</a:t>
            </a:r>
          </a:p>
        </p:txBody>
      </p:sp>
      <p:cxnSp>
        <p:nvCxnSpPr>
          <p:cNvPr id="17480" name="Connector 17479"/>
          <p:cNvCxnSpPr/>
          <p:nvPr/>
        </p:nvCxnSpPr>
        <p:spPr>
          <a:xfrm>
            <a:off x="6455664" y="4361688"/>
            <a:ext cx="402336" cy="0"/>
          </a:xfrm>
          <a:prstGeom prst="line">
            <a:avLst/>
          </a:prstGeom>
          <a:ln w="25400">
            <a:solidFill>
              <a:srgbClr val="6D4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1" name="Rounded Rectangle 17480"/>
          <p:cNvSpPr/>
          <p:nvPr/>
        </p:nvSpPr>
        <p:spPr>
          <a:xfrm>
            <a:off x="6912864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2" name="TextBox 17481"/>
          <p:cNvSpPr txBox="1"/>
          <p:nvPr/>
        </p:nvSpPr>
        <p:spPr>
          <a:xfrm>
            <a:off x="6986016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PostGIS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6986016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Master incident</a:t>
            </a:r>
          </a:p>
        </p:txBody>
      </p:sp>
      <p:cxnSp>
        <p:nvCxnSpPr>
          <p:cNvPr id="17484" name="Connector 17483"/>
          <p:cNvCxnSpPr/>
          <p:nvPr/>
        </p:nvCxnSpPr>
        <p:spPr>
          <a:xfrm>
            <a:off x="8540496" y="4361688"/>
            <a:ext cx="402336" cy="0"/>
          </a:xfrm>
          <a:prstGeom prst="line">
            <a:avLst/>
          </a:prstGeom>
          <a:ln w="25400">
            <a:solidFill>
              <a:srgbClr val="E08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5" name="Rounded Rectangle 17484"/>
          <p:cNvSpPr/>
          <p:nvPr/>
        </p:nvSpPr>
        <p:spPr>
          <a:xfrm>
            <a:off x="8997696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6" name="TextBox 17485"/>
          <p:cNvSpPr txBox="1"/>
          <p:nvPr/>
        </p:nvSpPr>
        <p:spPr>
          <a:xfrm>
            <a:off x="9070848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RPI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9070848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Repair dispatch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713232" y="5074920"/>
            <a:ext cx="10561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FFD700"/>
                </a:solidFill>
              </a:defRPr>
            </a:pPr>
            <a:r>
              <a:t>⚡ Real-time Telemetry (&lt;1KB JSON) • Asynchronous Celery + Redis • Offline SQLite Buffer • Aligns with NHAI 40,000 km AI Dashcam Initiative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7F204-FCAE-2914-6720-08DB6B712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6" y="-1905"/>
            <a:ext cx="1886213" cy="724001"/>
          </a:xfrm>
          <a:prstGeom prst="rect">
            <a:avLst/>
          </a:prstGeom>
        </p:spPr>
      </p:pic>
      <p:pic>
        <p:nvPicPr>
          <p:cNvPr id="17489" name="Picture 17488" descr="gis_dashboard_heatmap_17875577463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051560"/>
            <a:ext cx="3566160" cy="1965960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6949440" y="303580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64DCFF"/>
                </a:solidFill>
              </a:defRPr>
            </a:pPr>
            <a:r>
              <a:t>🖥️ Live Municipal GIS Web Dashboard (Heatmaps &amp; RPI Dispatch)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58368" y="117043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859536" y="13716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877824" y="138074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408176" y="133502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FEASIBILITY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408176" y="170078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F6876"/>
                </a:solidFill>
                <a:latin typeface="Arial"/>
              </a:rPr>
              <a:t>INT8-quantized YOLOv8 is designed for edge execution under 250 MB RAM at 30 FPS on mobile ARM CPUs.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90488" y="117043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6391655" y="1371600"/>
            <a:ext cx="411480" cy="411480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409943" y="138074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940296" y="133502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CHALLENGE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940296" y="170078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F6876"/>
                </a:solidFill>
                <a:latin typeface="Arial"/>
              </a:rPr>
              <a:t>Connectivity gaps, vibration blur, false positives and high-volume geospatial telemetry.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58368" y="295351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859536" y="315468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77824" y="316382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408176" y="311810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MITIGATION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408176" y="348386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F6876"/>
                </a:solidFill>
                <a:latin typeface="Arial"/>
              </a:rPr>
              <a:t>SQLite offline buffering, IMU frame filtering, confidence threshold ≥0.60 and PostGIS spatial indexing.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90488" y="295351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6391655" y="3154680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409943" y="316382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940296" y="311810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VIABILITY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940296" y="348386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F6876"/>
                </a:solidFill>
                <a:latin typeface="Arial"/>
              </a:rPr>
              <a:t>Setup target under ₹3,000 per municipal vehicle with lightweight &lt;1 KB JSON detections.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58368" y="4983480"/>
            <a:ext cx="10698480" cy="658368"/>
          </a:xfrm>
          <a:prstGeom prst="round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896112" y="5157216"/>
            <a:ext cx="102229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FFD700"/>
                </a:solidFill>
              </a:defRPr>
            </a:pPr>
            <a:r>
              <a:t>💡 Economic Moat: ₹3,000 Edge unit converts existing transit routes into 24x7 audit infrastructure — 0 dedicated inspection cars needed.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7FF515-EEFC-ED54-8D37-64E4C455A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95"/>
            <a:ext cx="1886213" cy="724001"/>
          </a:xfrm>
          <a:prstGeom prst="rect">
            <a:avLst/>
          </a:prstGeom>
        </p:spPr>
      </p:pic>
      <p:graphicFrame>
        <p:nvGraphicFramePr>
          <p:cNvPr id="17433" name="Table 17432"/>
          <p:cNvGraphicFramePr>
            <a:graphicFrameLocks noGrp="1"/>
          </p:cNvGraphicFramePr>
          <p:nvPr/>
        </p:nvGraphicFramePr>
        <p:xfrm>
          <a:off x="594360" y="3931920"/>
          <a:ext cx="98755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560320"/>
                <a:gridCol w="2286000"/>
              </a:tblGrid>
              <a:tr h="23774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Setup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Audit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Scalability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DCDC"/>
                          </a:solidFill>
                        </a:defRPr>
                      </a:pPr>
                      <a:r>
                        <a:t>Dedicated 3D LiDAR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DCDC"/>
                          </a:solidFill>
                        </a:defRPr>
                      </a:pPr>
                      <a:r>
                        <a:t>₹50–80 Lakh / 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DCDC"/>
                          </a:solidFill>
                        </a:defRPr>
                      </a:pPr>
                      <a:r>
                        <a:t>Once per 6–12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DCDC"/>
                          </a:solidFill>
                        </a:defRPr>
                      </a:pPr>
                      <a:r>
                        <a:t>Low (High CapEx)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DCDC"/>
                          </a:solidFill>
                        </a:defRPr>
                      </a:pPr>
                      <a:r>
                        <a:t>Manual PWD Walking Audits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DCDC"/>
                          </a:solidFill>
                        </a:defRPr>
                      </a:pPr>
                      <a:r>
                        <a:t>₹2–5 Lakh / 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DCDC"/>
                          </a:solidFill>
                        </a:defRPr>
                      </a:pPr>
                      <a:r>
                        <a:t>Sporadic / Post-Complaint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DCDC"/>
                          </a:solidFill>
                        </a:defRPr>
                      </a:pPr>
                      <a:r>
                        <a:t>Very Low (Human Error)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DCDC"/>
                          </a:solidFill>
                        </a:defRPr>
                      </a:pPr>
                      <a:r>
                        <a:t>Citizen Crowdsourcing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DCDC"/>
                          </a:solidFill>
                        </a:defRPr>
                      </a:pPr>
                      <a:r>
                        <a:t>₹0 hardware (Public)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DCDC"/>
                          </a:solidFill>
                        </a:defRPr>
                      </a:pPr>
                      <a:r>
                        <a:t>Irregular &amp; biased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DCDC"/>
                          </a:solidFill>
                        </a:defRPr>
                      </a:pPr>
                      <a:r>
                        <a:t>Moderate (Low uptake)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D700"/>
                          </a:solidFill>
                        </a:defRPr>
                      </a:pPr>
                      <a:r>
                        <a:t>VIGILANCE Edge AI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D700"/>
                          </a:solidFill>
                        </a:defRPr>
                      </a:pPr>
                      <a:r>
                        <a:t>₹3,000 / transit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D700"/>
                          </a:solidFill>
                        </a:defRPr>
                      </a:pPr>
                      <a:r>
                        <a:t>Continuous Daily Passes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D700"/>
                          </a:solidFill>
                        </a:defRPr>
                      </a:pPr>
                      <a:r>
                        <a:t>Massive (Zero New Fleet)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58368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1645920" y="1481328"/>
            <a:ext cx="512064" cy="512064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1664208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86968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SOCIAL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914400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/>
            </a:pPr>
            <a:r>
              <a:t>Reduces two-wheeler skids &amp; sudden swerve crashes by up to 65% (IRC:82 safety guidelines).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069848" y="4005072"/>
            <a:ext cx="1664208" cy="329184"/>
          </a:xfrm>
          <a:prstGeom prst="roundRect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1115568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419856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Oval 17418"/>
          <p:cNvSpPr/>
          <p:nvPr/>
        </p:nvSpPr>
        <p:spPr>
          <a:xfrm>
            <a:off x="4407408" y="1481328"/>
            <a:ext cx="512064" cy="512064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4425696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648456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ECONOMIC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675888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/>
            </a:pPr>
            <a:r>
              <a:t>Micro-patching early cracks saves 10× vs full asphalt reconstruction (MoRTH maintenance study).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831336" y="4005072"/>
            <a:ext cx="1664208" cy="329184"/>
          </a:xfrm>
          <a:prstGeom prst="roundRect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3877056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181344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Oval 17425"/>
          <p:cNvSpPr/>
          <p:nvPr/>
        </p:nvSpPr>
        <p:spPr>
          <a:xfrm>
            <a:off x="7168896" y="1481328"/>
            <a:ext cx="512064" cy="512064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7187183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409944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ENVIRONMENTAL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437376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/>
            </a:pPr>
            <a:r>
              <a:t>40% reduction in asphalt carbon footprint; eliminates stop-and-go fuel emissions at bottlenecks.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592824" y="4005072"/>
            <a:ext cx="1664208" cy="329184"/>
          </a:xfrm>
          <a:prstGeom prst="roundRect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6638544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942832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Oval 17432"/>
          <p:cNvSpPr/>
          <p:nvPr/>
        </p:nvSpPr>
        <p:spPr>
          <a:xfrm>
            <a:off x="9930384" y="1481328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9948672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171432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ACCOUNTABILITY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9198864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/>
            </a:pPr>
            <a:r>
              <a:t>Immutable PostGIS before/after proof-of-work audit trail prevents false municipal contractor billing.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9354312" y="4005072"/>
            <a:ext cx="166420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9400032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58368" y="4983480"/>
            <a:ext cx="10789920" cy="64008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896112" y="5157216"/>
            <a:ext cx="102870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FFD700"/>
                </a:solidFill>
              </a:defRPr>
            </a:pPr>
            <a:r>
              <a:t>🚀 Scalability Roadmap: Phase 1: City Pilot (50 Buses) ➔ Phase 2: Municipal Fleets (10 Cities) ➔ Phase 3: NHAI Data Lake Integration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105182-C08B-2BCE-9F73-58DDDB94E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41" y="16599"/>
            <a:ext cx="1886213" cy="724001"/>
          </a:xfrm>
          <a:prstGeom prst="rect">
            <a:avLst/>
          </a:prstGeom>
        </p:spPr>
      </p:pic>
      <p:pic>
        <p:nvPicPr>
          <p:cNvPr id="17441" name="Picture 17440" descr="road_before_after_178755776036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234440"/>
            <a:ext cx="2834640" cy="1645920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7772400" y="29260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78FF78"/>
                </a:solidFill>
              </a:defRPr>
            </a:pPr>
            <a:r>
              <a:t>🔄 Automated Repair Validation: Before &amp; After AI Proof-of-Work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58368" y="117043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841247" y="138988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859536" y="139903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371600" y="131673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IRC:82-2015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371600" y="160934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Indian Roads Congress standard used for pavement distress classification.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90488" y="117043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6373368" y="1389888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391655" y="139903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903720" y="131673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Ultralytics YOLOv8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903720" y="160934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Edge computer-vision architecture and real-time detection reference.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58368" y="240487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841247" y="2624328"/>
            <a:ext cx="384048" cy="384048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59536" y="263347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371600" y="255117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ONNX Runtime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371600" y="284378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INT8 quantization / edge inference reference.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90488" y="240487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6373368" y="2624328"/>
            <a:ext cx="384048" cy="384048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391655" y="263347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903720" y="255117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DBSCAN — Ester et al.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903720" y="284378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Density-based spatial clustering methodology.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58368" y="363931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Oval 17431"/>
          <p:cNvSpPr/>
          <p:nvPr/>
        </p:nvSpPr>
        <p:spPr>
          <a:xfrm>
            <a:off x="841247" y="3858768"/>
            <a:ext cx="384048" cy="384048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859536" y="386791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371600" y="378561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PostGIS Documentation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1371600" y="407822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Spatial indexing and geographic query capabilities.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190488" y="363931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Oval 17436"/>
          <p:cNvSpPr/>
          <p:nvPr/>
        </p:nvSpPr>
        <p:spPr>
          <a:xfrm>
            <a:off x="6373368" y="3858768"/>
            <a:ext cx="384048" cy="384048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6391655" y="386791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903720" y="378561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NRDMS / Urban GIS Guidelines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903720" y="407822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Multi-source geospatial data integration context.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13232" y="50292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FFD700"/>
                </a:solidFill>
              </a:defRPr>
            </a:pPr>
            <a:r>
              <a:t>🇮🇳 National Alignment: Aligns directly with NHAI AI Dashcam Program (40,000 km), Smart Cities Mission, and PM GatiShakti Spatial Framework.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8C57FC-BFDF-723F-FFAF-E9B8AF496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97" y="124752"/>
            <a:ext cx="1784222" cy="588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2AFCCB-A892-E3FC-36BB-278AC7EC1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58" y="327452"/>
            <a:ext cx="857900" cy="2070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538602-2A8A-A587-D269-BEBA767EDB6D}"/>
              </a:ext>
            </a:extLst>
          </p:cNvPr>
          <p:cNvSpPr txBox="1"/>
          <p:nvPr/>
        </p:nvSpPr>
        <p:spPr>
          <a:xfrm>
            <a:off x="502919" y="26171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  <a:latin typeface="Arial"/>
              </a:rPr>
              <a:t>VIGILANCE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TEAM MEMBERS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7122456D-0AB0-4DA2-9020-387E166693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3" y="120208"/>
            <a:ext cx="259216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VIGILANCE</a:t>
            </a:r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99343" y="1389365"/>
          <a:ext cx="9427464" cy="46457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5623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Reg. No.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Dept.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Sem.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Gender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Email id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Mobile no.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91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Leader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Sanjeev Aryan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RA2511047010030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sa8129@srmist.edu.in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8102285766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Parth Jaina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RA2511047010069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pj2752@srmist.edu.in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9828285223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Dhiti Mahajan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RA2511056010060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DSBS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Female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dm5223@srmist.edu.in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7339851899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Shubh Garg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RA2511047010023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sg8735@srmist.edu.in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8130763641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Prakhar Sharma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RA2511003010764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ps1158@srmist.edu.in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9235878237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Navdeep Rathe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RA2511003010177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nr8188@srmist.edu.in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9967580941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6876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Faculty Mentor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Dr. Pavithra 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Female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pavithrl3@srmist.edu.in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9150551899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6876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Industry Mentor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Dr. Kishore Anthuvan Sahayaraj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kishorea1@srmist.edu.in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9043103219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804" y="33038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4EE2D4-7CD6-2682-7994-4FF509287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037"/>
            <a:ext cx="12192000" cy="6357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999571-FD58-F7FF-69FD-9950C415F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97" y="60573"/>
            <a:ext cx="2624192" cy="100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24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7513</TotalTime>
  <Words>665</Words>
  <Application>Microsoft Office PowerPoint</Application>
  <PresentationFormat>Widescreen</PresentationFormat>
  <Paragraphs>214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AND REFERENCES</vt:lpstr>
      <vt:lpstr>TEAM MEMBERS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Harish Jain</cp:lastModifiedBy>
  <cp:revision>149</cp:revision>
  <dcterms:created xsi:type="dcterms:W3CDTF">2013-12-12T18:46:50Z</dcterms:created>
  <dcterms:modified xsi:type="dcterms:W3CDTF">2026-08-23T17:08:58Z</dcterms:modified>
  <cp:category/>
</cp:coreProperties>
</file>